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66" r:id="rId16"/>
  </p:sldIdLst>
  <p:sldSz cy="6858000" cx="12192000"/>
  <p:notesSz cx="6858000" cy="9144000"/>
  <p:embeddedFontLst>
    <p:embeddedFont>
      <p:font typeface="Archivo Narrow"/>
      <p:regular r:id="rId17"/>
      <p:bold r:id="rId18"/>
      <p:italic r:id="rId19"/>
      <p:boldItalic r:id="rId20"/>
    </p:embeddedFont>
    <p:embeddedFont>
      <p:font typeface="Yellowtail"/>
      <p:regular r:id="rId21"/>
    </p:embeddedFont>
    <p:embeddedFont>
      <p:font typeface="Urbanist"/>
      <p:regular r:id="rId22"/>
      <p:bold r:id="rId23"/>
      <p:italic r:id="rId24"/>
      <p:boldItalic r:id="rId25"/>
    </p:embeddedFont>
    <p:embeddedFont>
      <p:font typeface="Archivo Narrow Medium"/>
      <p:regular r:id="rId26"/>
      <p:bold r:id="rId27"/>
      <p:italic r:id="rId28"/>
      <p:boldItalic r:id="rId29"/>
    </p:embeddedFont>
    <p:embeddedFont>
      <p:font typeface="IBM Plex Sans Condense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450A8-7816-4568-9575-8C4FB02F0241}">
  <a:tblStyle styleId="{367450A8-7816-4568-9575-8C4FB02F024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6" Type="http://schemas.openxmlformats.org/officeDocument/2006/relationships/slide" Target="slides/slide11.xml"/><Relationship Id="rId17" Type="http://schemas.openxmlformats.org/officeDocument/2006/relationships/font" Target="fonts/ArchivoNarrow-regular.fntdata"/><Relationship Id="rId18" Type="http://schemas.openxmlformats.org/officeDocument/2006/relationships/font" Target="fonts/ArchivoNarrow-bold.fntdata"/><Relationship Id="rId19" Type="http://schemas.openxmlformats.org/officeDocument/2006/relationships/font" Target="fonts/ArchivoNarrow-italic.fntdata"/><Relationship Id="rId20" Type="http://schemas.openxmlformats.org/officeDocument/2006/relationships/font" Target="fonts/ArchivoNarrow-boldItalic.fntdata"/><Relationship Id="rId21" Type="http://schemas.openxmlformats.org/officeDocument/2006/relationships/font" Target="fonts/Yellowtail-regular.fntdata"/><Relationship Id="rId22" Type="http://schemas.openxmlformats.org/officeDocument/2006/relationships/font" Target="fonts/Urbanist-regular.fntdata"/><Relationship Id="rId23" Type="http://schemas.openxmlformats.org/officeDocument/2006/relationships/font" Target="fonts/Urbanist-bold.fntdata"/><Relationship Id="rId24" Type="http://schemas.openxmlformats.org/officeDocument/2006/relationships/font" Target="fonts/Urbanist-italic.fntdata"/><Relationship Id="rId25" Type="http://schemas.openxmlformats.org/officeDocument/2006/relationships/font" Target="fonts/Urbanist-boldItalic.fntdata"/><Relationship Id="rId26" Type="http://schemas.openxmlformats.org/officeDocument/2006/relationships/font" Target="fonts/ArchivoNarrowMedium-regular.fntdata"/><Relationship Id="rId27" Type="http://schemas.openxmlformats.org/officeDocument/2006/relationships/font" Target="fonts/ArchivoNarrowMedium-bold.fntdata"/><Relationship Id="rId28" Type="http://schemas.openxmlformats.org/officeDocument/2006/relationships/font" Target="fonts/ArchivoNarrowMedium-italic.fntdata"/><Relationship Id="rId29" Type="http://schemas.openxmlformats.org/officeDocument/2006/relationships/font" Target="fonts/ArchivoNarrowMedium-boldItalic.fntdata"/><Relationship Id="rId30" Type="http://schemas.openxmlformats.org/officeDocument/2006/relationships/font" Target="fonts/IBMPlexSansCondensed-regular.fntdata"/><Relationship Id="rId31" Type="http://schemas.openxmlformats.org/officeDocument/2006/relationships/font" Target="fonts/IBMPlexSansCondensed-bold.fntdata"/><Relationship Id="rId32" Type="http://schemas.openxmlformats.org/officeDocument/2006/relationships/font" Target="fonts/IBMPlexSansCondensed-italic.fntdata"/><Relationship Id="rId33" Type="http://schemas.openxmlformats.org/officeDocument/2006/relationships/font" Target="fonts/IBMPlexSansCondensed-boldItalic.fntdata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084ef3861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084ef3861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084ef3861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09100" cy="7371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16600" cy="12825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fmla="val 57856" name="adj"/>
            </a:avLst>
          </a:prstGeom>
          <a:solidFill>
            <a:srgbClr val="D2AE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fmla="val 33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32" name="Google Shape;32;p2" title="CU logo GBT_25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4061" y="329612"/>
            <a:ext cx="3118595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indent="-31432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b="0" i="0" sz="28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b="0" i="0" sz="26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224" y="6371287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600" u="none" cap="none" strike="noStrik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858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400" u="none" cap="none" strike="noStrik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 title="CU logo crest Gold.png"/>
          <p:cNvPicPr preferRelativeResize="0"/>
          <p:nvPr/>
        </p:nvPicPr>
        <p:blipFill rotWithShape="1">
          <a:blip r:embed="rId1">
            <a:alphaModFix amt="3000"/>
          </a:blip>
          <a:srcRect b="0" l="0" r="0" t="0"/>
          <a:stretch/>
        </p:blipFill>
        <p:spPr>
          <a:xfrm>
            <a:off x="8140250" y="2136400"/>
            <a:ext cx="3984660" cy="39688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331500" y="1513658"/>
            <a:ext cx="11529000" cy="4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2AE6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D2AE6C"/>
                </a:solidFill>
                <a:latin typeface="Urbanist"/>
                <a:ea typeface="Urbanist"/>
                <a:cs typeface="Urbanist"/>
                <a:sym typeface="Urbanist"/>
              </a:rPr>
              <a:t>SYNTHETIC SILENCE</a:t>
            </a:r>
            <a:endParaRPr b="1" sz="4800">
              <a:solidFill>
                <a:srgbClr val="D2AE6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60000"/>
              </a:lnSpc>
              <a:spcBef>
                <a:spcPts val="2100"/>
              </a:spcBef>
              <a:spcAft>
                <a:spcPts val="4500"/>
              </a:spcAft>
              <a:buNone/>
            </a:pPr>
            <a: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  <a:t>Mapping Information Voids in Generative AI</a:t>
            </a:r>
            <a:b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  <a:t>Piush Kole (2548421)</a:t>
            </a:r>
            <a:b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  <a:t>Thrilok M(2548430)</a:t>
            </a:r>
            <a:b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-GB" sz="2100">
                <a:solidFill>
                  <a:srgbClr val="0C5394"/>
                </a:solidFill>
                <a:latin typeface="Urbanist"/>
                <a:ea typeface="Urbanist"/>
                <a:cs typeface="Urbanist"/>
                <a:sym typeface="Urbanist"/>
              </a:rPr>
              <a:t>Guided By- Dr. Deepa BG. </a:t>
            </a:r>
            <a:endParaRPr b="1" sz="2100">
              <a:solidFill>
                <a:srgbClr val="0C5394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1989600" y="1895975"/>
            <a:ext cx="82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D2AE6C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 b="1" sz="2400">
              <a:solidFill>
                <a:srgbClr val="D2AE6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Google Shape;87;p15"/>
          <p:cNvSpPr txBox="1"/>
          <p:nvPr/>
        </p:nvSpPr>
        <p:spPr>
          <a:xfrm>
            <a:off x="190500" y="451550"/>
            <a:ext cx="5989320" cy="59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0C5394"/>
                </a:solidFill>
                <a:latin typeface="Urbanist"/>
              </a:rPr>
              <a:t>WHY THIS MATTERS</a:t>
            </a:r>
            <a:endParaRPr b="1" sz="3300">
              <a:solidFill>
                <a:srgbClr val="0C5394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D2AE6C"/>
                </a:solidFill>
                <a:latin typeface="Urbanist"/>
              </a:rPr>
              <a:t>THE TRUST PROBLEM</a:t>
            </a:r>
          </a:p>
          <a:p>
            <a:r>
              <a:rPr sz="1400" b="0">
                <a:solidFill>
                  <a:srgbClr val="0C5394"/>
                </a:solidFill>
                <a:latin typeface="Urbanist"/>
              </a:rPr>
              <a:t>LLMs are now used for research, writing, and decision support -- but they answer every question with the same confident tone, whether the underlying knowledge is solid or nearly absent.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D2AE6C"/>
                </a:solidFill>
                <a:latin typeface="Urbanist"/>
              </a:rPr>
              <a:t>SILENT FAILURE</a:t>
            </a:r>
          </a:p>
          <a:p>
            <a:r>
              <a:rPr sz="1400" b="0">
                <a:solidFill>
                  <a:srgbClr val="0C5394"/>
                </a:solidFill>
                <a:latin typeface="Urbanist"/>
              </a:rPr>
              <a:t>Users cannot tell, from tone alone, when a claim is well-evidenced versus fabricated. A hallucinated statistic reads identically to a verified one.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D2AE6C"/>
                </a:solidFill>
                <a:latin typeface="Urbanist"/>
              </a:rPr>
              <a:t>THE GAP THIS PROJECT TARGETS</a:t>
            </a:r>
          </a:p>
          <a:p>
            <a:r>
              <a:rPr sz="1400" b="0">
                <a:solidFill>
                  <a:srgbClr val="0C5394"/>
                </a:solidFill>
                <a:latin typeface="Urbanist"/>
              </a:rPr>
              <a:t>Synthetic Silence looks for the evidence gap directly: for each claim a model makes, how much real, retrievable support actually exists?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92240" y="1737360"/>
            <a:ext cx="4206240" cy="77724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Urbanist"/>
              </a:rPr>
              <a:t>Model confidence stays HIGH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92240" y="2788920"/>
            <a:ext cx="42062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492240" y="2788920"/>
            <a:ext cx="1472184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Urbanist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2788920"/>
            <a:ext cx="4023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A2332"/>
                </a:solidFill>
                <a:latin typeface="Urbanist"/>
              </a:rPr>
              <a:t>Evidence coverage often DROPS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92240" y="41605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Urbanist"/>
              </a:rPr>
              <a:t>That gap between stated confidence and actual retrievable evidence is the “information void” this system measures per claim.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93" name="Google Shape;93;p16"/>
          <p:cNvGraphicFramePr/>
          <p:nvPr/>
        </p:nvGraphicFramePr>
        <p:xfrm>
          <a:off x="381425" y="1160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{367450A8-7816-4568-9575-8C4FB02F0241}</a:tableStyleId>
              </a:tblPr>
              <a:tblGrid>
                <a:gridCol w="2101600"/>
                <a:gridCol w="2840350"/>
                <a:gridCol w="3391975"/>
                <a:gridCol w="2696025"/>
              </a:tblGrid>
              <a:tr h="66215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332"/>
                          </a:solidFill>
                          <a:latin typeface="Urbanist"/>
                        </a:rPr>
                        <a:t>Approach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332"/>
                          </a:solidFill>
                          <a:latin typeface="Urbanist"/>
                        </a:rPr>
                        <a:t>Signal used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332"/>
                          </a:solidFill>
                          <a:latin typeface="Urbanist"/>
                        </a:rPr>
                        <a:t>Per-claim?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332"/>
                          </a:solidFill>
                          <a:latin typeface="Urbanist"/>
                        </a:rPr>
                        <a:t>Needs labels?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SelfCheckGPT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(Manakul et al. 2023)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Sample consistency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across resamples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No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No</a:t>
                      </a: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Semantic Entropy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(Farquhar et al. 2024)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Entropy over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meaning clusters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No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No</a:t>
                      </a: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GraphRAG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(Edge et al. 2024)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Retrieval grounding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for generation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Partial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No</a:t>
                      </a: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Synthetic Silence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(this project)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Evidence density +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specificity + hedging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Yes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Urbanist"/>
                        </a:rPr>
                        <a:t>No</a:t>
                      </a: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16"/>
          <p:cNvSpPr txBox="1"/>
          <p:nvPr/>
        </p:nvSpPr>
        <p:spPr>
          <a:xfrm>
            <a:off x="441325" y="454950"/>
            <a:ext cx="880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300" u="none" cap="none" strike="noStrike">
                <a:solidFill>
                  <a:srgbClr val="D2AE6C"/>
                </a:solidFill>
                <a:latin typeface="Urbanist"/>
                <a:ea typeface="Urbanist"/>
                <a:cs typeface="Urbanist"/>
                <a:sym typeface="Urbanist"/>
              </a:rPr>
              <a:t>PROBLEM STATEMENT &amp; RESEARCH GAP</a:t>
            </a:r>
            <a:endParaRPr>
              <a:solidFill>
                <a:srgbClr val="D2AE6C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67100" y="5118100"/>
            <a:ext cx="1045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C5394"/>
                </a:solidFill>
                <a:latin typeface="Urbanist"/>
              </a:rPr>
              <a:t>Problem: </a:t>
            </a:r>
            <a:r>
              <a:rPr sz="1500" b="0">
                <a:solidFill>
                  <a:srgbClr val="0C5394"/>
                </a:solidFill>
                <a:latin typeface="Urbanist"/>
              </a:rPr>
              <a:t>existing hallucination-detection work scores whole responses or requires labeled ground truth; it rarely asks, per claim, whether retrievable evidence exists at all.</a:t>
            </a:r>
            <a:endParaRPr b="1" sz="1700">
              <a:solidFill>
                <a:srgbClr val="0C5394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667100" y="5630325"/>
            <a:ext cx="1061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D2AE6C"/>
                </a:solidFill>
                <a:latin typeface="Urbanist"/>
              </a:rPr>
              <a:t>Gap addressed: </a:t>
            </a:r>
            <a:r>
              <a:rPr sz="1500" b="0">
                <a:solidFill>
                  <a:srgbClr val="D2AE6C"/>
                </a:solidFill>
                <a:latin typeface="Urbanist"/>
              </a:rPr>
              <a:t>a per-claim, evidence-grounded information-void score with explainable reasons -- not a black-box binary label.</a:t>
            </a:r>
            <a:endParaRPr b="1" sz="2100">
              <a:solidFill>
                <a:srgbClr val="D2AE6C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Google Shape;113;p18"/>
          <p:cNvSpPr txBox="1"/>
          <p:nvPr/>
        </p:nvSpPr>
        <p:spPr>
          <a:xfrm>
            <a:off x="852200" y="1507270"/>
            <a:ext cx="86502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A2332"/>
                </a:solidFill>
                <a:latin typeface="Urbanist"/>
              </a:rPr>
              <a:t>1. Detect information voids </a:t>
            </a:r>
            <a:r>
              <a:rPr sz="1900" b="0">
                <a:solidFill>
                  <a:srgbClr val="1A2332"/>
                </a:solidFill>
                <a:latin typeface="Urbanist"/>
              </a:rPr>
              <a:t>Build a per-claim scoring pipeline that measures how much real, retrievable evidence backs a generated statement.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929900" y="2927220"/>
            <a:ext cx="7298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A2332"/>
                </a:solidFill>
                <a:latin typeface="Urbanist"/>
              </a:rPr>
              <a:t>2. Flag risk signals beyond truth/false </a:t>
            </a:r>
            <a:r>
              <a:rPr sz="1900" b="0">
                <a:solidFill>
                  <a:srgbClr val="1A2332"/>
                </a:solidFill>
                <a:latin typeface="Urbanist"/>
              </a:rPr>
              <a:t>Combine evidence coverage with linguistic specificity and hedging/overconfidence language into one explainable risk score.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941150" y="4377820"/>
            <a:ext cx="84723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A2332"/>
                </a:solidFill>
                <a:latin typeface="Urbanist"/>
              </a:rPr>
              <a:t>3. Make it usable in the wild </a:t>
            </a:r>
            <a:r>
              <a:rPr sz="1900" b="0">
                <a:solidFill>
                  <a:srgbClr val="1A2332"/>
                </a:solidFill>
                <a:latin typeface="Urbanist"/>
              </a:rPr>
              <a:t>Deliver the engine through both a research dashboard and a Chrome extension that can analyze live AI conversations.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RESEARCH OBJECTIVES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" name="Google Shape;87;p15"/>
          <p:cNvSpPr txBox="1"/>
          <p:nvPr/>
        </p:nvSpPr>
        <p:spPr>
          <a:xfrm>
            <a:off x="190500" y="1417320"/>
            <a:ext cx="1088136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905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D2AE6C"/>
                </a:solidFill>
                <a:latin typeface="Urbanist"/>
              </a:rPr>
              <a:t>HALLUCINATION (errors of commission)</a:t>
            </a:r>
            <a:endParaRPr b="1" sz="3300">
              <a:solidFill>
                <a:srgbClr val="0C5394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C5394"/>
                </a:solidFill>
                <a:latin typeface="Urbanist"/>
              </a:rPr>
              <a:t>The model states something false with full confidence -- e.g. an invented statistic or event.</a:t>
            </a:r>
          </a:p>
          <a:p>
            <a:pPr>
              <a:spcBef>
                <a:spcPts val="2600"/>
              </a:spcBef>
            </a:pPr>
            <a:r>
              <a:rPr sz="1900" b="1">
                <a:solidFill>
                  <a:srgbClr val="D2AE6C"/>
                </a:solidFill>
                <a:latin typeface="Urbanist"/>
              </a:rPr>
              <a:t>SILENCE / VOID (errors of omission)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C5394"/>
                </a:solidFill>
                <a:latin typeface="Urbanist"/>
              </a:rPr>
              <a:t>The model has thin or no real evidence for a claim, but nothing in its tone signals that gap to the user.</a:t>
            </a:r>
          </a:p>
          <a:p>
            <a:pPr>
              <a:spcBef>
                <a:spcPts val="2600"/>
              </a:spcBef>
            </a:pPr>
            <a:r>
              <a:rPr sz="1900" b="1">
                <a:solidFill>
                  <a:srgbClr val="D2AE6C"/>
                </a:solidFill>
                <a:latin typeface="Urbanist"/>
              </a:rPr>
              <a:t>WHAT SYNTHETIC SILENCE ADDS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C5394"/>
                </a:solidFill>
                <a:latin typeface="Urbanist"/>
              </a:rPr>
              <a:t>A continuous, per-claim Information Void Score (0-100) built from evidence coverage, specificity, and hedging language -- so the void becomes measurable and explainable, not just described.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C5394"/>
                </a:solidFill>
                <a:latin typeface="Urbanist"/>
              </a:rPr>
              <a:t>CORE CONCEPT: THE INFORMATION VOID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PROPOSED 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571750" cy="109728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Urbanist"/>
              </a:rPr>
              <a:t>Chrome Extension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capture live AI chats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28950" y="2103120"/>
            <a:ext cx="320040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48990" y="1554480"/>
            <a:ext cx="2571750" cy="109728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Urbanist"/>
              </a:rPr>
              <a:t>Web Dashboard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manual paste + history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2103120"/>
            <a:ext cx="320039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40780" y="1554480"/>
            <a:ext cx="2571750" cy="109728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Urbanist"/>
              </a:rPr>
              <a:t>FastAPI Backend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shared analysis 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12530" y="2103120"/>
            <a:ext cx="320039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32570" y="1554480"/>
            <a:ext cx="2571750" cy="109728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Urbanist"/>
              </a:rPr>
              <a:t>Risk-Scoring Engine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claims -&gt; evidence -&gt;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00" b="0">
                <a:solidFill>
                  <a:srgbClr val="0C5394"/>
                </a:solidFill>
                <a:latin typeface="Urbanist"/>
              </a:rPr>
              <a:t>Both entry points -- the extension and the dashboard -- call the same </a:t>
            </a:r>
            <a:r>
              <a:rPr sz="1500" b="1">
                <a:solidFill>
                  <a:srgbClr val="1A2332"/>
                </a:solidFill>
                <a:latin typeface="Urbanist"/>
              </a:rPr>
              <a:t>POST /api/v1/analyze</a:t>
            </a:r>
            <a:r>
              <a:rPr sz="1500" b="0">
                <a:solidFill>
                  <a:srgbClr val="0C5394"/>
                </a:solidFill>
                <a:latin typeface="Urbanist"/>
              </a:rPr>
              <a:t> endpoint, so a claim analyzed from either surface is scored identically and lands in the same account history.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>
                <a:solidFill>
                  <a:srgbClr val="94A3B8"/>
                </a:solidFill>
                <a:latin typeface="Urbanist"/>
              </a:rPr>
              <a:t>Auth (JWT + bcrypt) scopes history/analytics per user; analysis itself can still run anonymously, matching the project's original zero-friction usage.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1">
                <a:solidFill>
                  <a:srgbClr val="94A3B8"/>
                </a:solidFill>
                <a:latin typeface="Urbanist"/>
              </a:rPr>
              <a:t>Everything below this slide is verified against the code in </a:t>
            </a:r>
            <a:r>
              <a:rPr sz="1300" b="1" i="1">
                <a:solidFill>
                  <a:srgbClr val="94A3B8"/>
                </a:solidFill>
                <a:latin typeface="Urbanist"/>
              </a:rPr>
              <a:t>api/main.py, engines/, dashboard/, extension/</a:t>
            </a:r>
            <a:r>
              <a:rPr sz="1300" b="0" i="1">
                <a:solidFill>
                  <a:srgbClr val="94A3B8"/>
                </a:solidFill>
                <a:latin typeface="Urbanist"/>
              </a:rPr>
              <a:t> -- nothing here is aspirational.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COMPLETE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417320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Input: Extension capture or Dashboard paste  -&gt;  POST /api/v1/analyze (JWT optional)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59" y="2039112"/>
            <a:ext cx="0" cy="164592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88720" y="2203704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Claim Extraction -- Gemini decomposes the response into atomic factual claims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59" y="2825496"/>
            <a:ext cx="0" cy="164592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2990088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Evidence Retrieval -- OpenAlex search per claim (title/abstract text)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59" y="3611880"/>
            <a:ext cx="0" cy="164592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88720" y="3776472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Signal Computation -- support score, kNN/Mahalanobis density, SAE error, specificity, hedging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59" y="4398264"/>
            <a:ext cx="0" cy="164592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4562856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Scoring -- Information Void Score (0-100) -&gt; Risk Score + LOW/MODERATE/HIGH/CRITICAL + reasons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59" y="5184648"/>
            <a:ext cx="0" cy="164592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88720" y="5349240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Persistence -- ClaimRiskProfile saved  -&gt;  History / Analytics / Void Map / Extension overlay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CHROME EXTENSION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417320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Manifest V3 -- per-site content scripts (ChatGPT, Claude, Gemini adapters)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59" y="2039112"/>
            <a:ext cx="0" cy="18288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88720" y="2221992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Manual flow (default) -- "Extract from this page" reads visible text only on click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59" y="2843784"/>
            <a:ext cx="0" cy="18288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3026664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Opt-in auto-monitoring (OFF by default) -- MutationObserver + 1.5-3s debounce until stable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59" y="3648456"/>
            <a:ext cx="0" cy="18288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88720" y="3831336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SHA-256 hash dedup  -&gt;  Background Service Worker attaches stored JWT  -&gt;  POST /analyze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59" y="4453128"/>
            <a:ext cx="0" cy="18288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4636008"/>
            <a:ext cx="9784080" cy="621792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Results render in the popup and a Shadow-DOM overlay; best-effort inline claim highlighting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REAL-TIME RESPONSE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993392" cy="105156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Detect DOM change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Urbanist"/>
              </a:rPr>
              <a:t>MutationObserver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50592" y="2171700"/>
            <a:ext cx="320040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70632" y="1645920"/>
            <a:ext cx="1993392" cy="105156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Debounce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Urbanist"/>
              </a:rPr>
              <a:t>wait 1.5-3s for stable text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64024" y="2171700"/>
            <a:ext cx="320040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84064" y="1645920"/>
            <a:ext cx="1993392" cy="105156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Hash + dedup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Urbanist"/>
              </a:rPr>
              <a:t>SHA-256, skip repeats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77456" y="2171700"/>
            <a:ext cx="320040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97496" y="1645920"/>
            <a:ext cx="1993392" cy="105156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Send to backend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Urbanist"/>
              </a:rPr>
              <a:t>service worker + JWT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90888" y="2171700"/>
            <a:ext cx="320040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10928" y="1645920"/>
            <a:ext cx="1993392" cy="105156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Render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Urbanist"/>
              </a:rPr>
              <a:t>overlay + highlight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C5394"/>
                </a:solidFill>
                <a:latin typeface="Urbanist"/>
              </a:rPr>
              <a:t>Auto-monitoring is opt-in and defaults to OFF</a:t>
            </a:r>
            <a:r>
              <a:rPr sz="1600" b="0">
                <a:solidFill>
                  <a:srgbClr val="0C5394"/>
                </a:solidFill>
                <a:latin typeface="Urbanist"/>
              </a:rPr>
              <a:t> -- this is a deliberate privacy choice carried over from the project's original manual, click-to-extract design, not an oversight.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D2AE6C"/>
                </a:solidFill>
                <a:latin typeface="Urbanist"/>
              </a:rPr>
              <a:t>Verified: </a:t>
            </a:r>
            <a:r>
              <a:rPr sz="1400" b="0">
                <a:solidFill>
                  <a:srgbClr val="94A3B8"/>
                </a:solidFill>
                <a:latin typeface="Urbanist"/>
              </a:rPr>
              <a:t>15/15 extension unit tests pass (node:test + jsdom) covering hashing, debounce timing, and adapter detect()/extract() against saved fixture HTML per platform.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C45C0A"/>
                </a:solidFill>
                <a:latin typeface="Urbanist"/>
              </a:rPr>
              <a:t>Not yet verified: </a:t>
            </a:r>
            <a:r>
              <a:rPr sz="1400" b="0">
                <a:solidFill>
                  <a:srgbClr val="94A3B8"/>
                </a:solidFill>
                <a:latin typeface="Urbanist"/>
              </a:rPr>
              <a:t>live behavior inside a real loaded Chrome extension instance (background worker, on-page overlay) -- stated as a limitation, not claimed as tested.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CLAIM-LEVEL ANALYSIS -- REAL OUTPUT</a:t>
            </a:r>
          </a:p>
        </p:txBody>
      </p:sp>
      <p:pic>
        <p:nvPicPr>
          <p:cNvPr id="3" name="Picture 2" descr="shot_history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91" y="1234440"/>
            <a:ext cx="9731969" cy="4617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618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100" b="0">
                <a:solidFill>
                  <a:srgbClr val="94A3B8"/>
                </a:solidFill>
                <a:latin typeface="Urbanist"/>
              </a:rPr>
              <a:t>Live screenshot: Analysis History page, an actual analyzed claim about sparse autoencoders (this session's TC3 test case).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ANALYSIS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417320"/>
            <a:ext cx="9784080" cy="603504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1. Normalize input text (prompt + response)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59" y="2020824"/>
            <a:ext cx="0" cy="146304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188720" y="2167128"/>
            <a:ext cx="9784080" cy="603504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2. Claim Extraction -- Gemini decomposes into atomic, checkable claims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59" y="2770632"/>
            <a:ext cx="0" cy="146304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2916936"/>
            <a:ext cx="9784080" cy="603504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3. Evidence Retrieval -- OpenAlex search per claim, embeddings compared for support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59" y="3520440"/>
            <a:ext cx="0" cy="146304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88720" y="3666744"/>
            <a:ext cx="9784080" cy="603504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4. Density Scoring -- kNN / Mahalanobis distance over the retrieved evidence set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59" y="4270248"/>
            <a:ext cx="0" cy="146304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88720" y="4416552"/>
            <a:ext cx="9784080" cy="603504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5. Specificity + Uncertainty/Overconfidence Detectors run on claim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59" y="5020056"/>
            <a:ext cx="0" cy="146304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88720" y="5166360"/>
            <a:ext cx="9784080" cy="603504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Urbanist"/>
              </a:rPr>
              <a:t>6. Information Void Score (0-100)  -&gt;  Risk Score (0-100) + explanation reasons[]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102" name="Google Shape;102;p17"/>
          <p:cNvSpPr txBox="1"/>
          <p:nvPr/>
        </p:nvSpPr>
        <p:spPr>
          <a:xfrm>
            <a:off x="338675" y="423350"/>
            <a:ext cx="1092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2AE6C"/>
                </a:solidFill>
                <a:latin typeface="Urbanist"/>
              </a:rPr>
              <a:t>INFORMATION VOID DETECTION</a:t>
            </a:r>
            <a:endParaRPr b="1">
              <a:solidFill>
                <a:srgbClr val="D2AE6C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36225" y="1518410"/>
            <a:ext cx="554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C5394"/>
                </a:solidFill>
                <a:latin typeface="Urbanist"/>
              </a:rPr>
              <a:t>THE FORMULA (engines/risk_scoring/information_void_score.py)</a:t>
            </a:r>
            <a:endParaRPr b="1" sz="2100">
              <a:solidFill>
                <a:srgbClr val="0C5394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36225" y="1958650"/>
            <a:ext cx="1088136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0C5394"/>
                </a:solidFill>
                <a:latin typeface="Urbanist"/>
              </a:rPr>
              <a:t>Each claim's evidence is turned into an alignment score in [0,1] from up to three signals, renormalized over whichever are available: </a:t>
            </a:r>
            <a:r>
              <a:rPr sz="1400" b="1">
                <a:solidFill>
                  <a:srgbClr val="0C5394"/>
                </a:solidFill>
                <a:latin typeface="Urbanist"/>
              </a:rPr>
              <a:t>mean evidence-support score (weight 0.5), kNN/Mahalanobis density (weight 0.3), SAE reconstruction error (weight 0.2, needs ≥5 evidence samples).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536225" y="5488950"/>
            <a:ext cx="1088136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D2AE6C"/>
                </a:solidFill>
                <a:latin typeface="Urbanist"/>
              </a:rPr>
              <a:t>Zero evidence retrieved </a:t>
            </a:r>
            <a:r>
              <a:rPr sz="1400" b="0">
                <a:solidFill>
                  <a:srgbClr val="D2AE6C"/>
                </a:solidFill>
                <a:latin typeface="Urbanist"/>
              </a:rPr>
              <a:t>always returns void_score = 100 (absolute void) by construction. Every claim's score is now computed and persisted, replacing the earlier design where sub-threshold scores were silently discarded.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45025" y="3241400"/>
            <a:ext cx="9922986" cy="1375758"/>
          </a:xfrm>
          <a:prstGeom prst="flowChartTerminator">
            <a:avLst/>
          </a:prstGeom>
          <a:solidFill>
            <a:srgbClr val="0C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FFFFFF"/>
                </a:solidFill>
                <a:latin typeface="Consolas"/>
              </a:rPr>
              <a:t>void_score = (1 - weighted_alignment) x 100   |   flagged if void_score ≥ 55</a:t>
            </a: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31025" y="1288925"/>
            <a:ext cx="11819100" cy="53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sz="1500" b="1">
                <a:solidFill>
                  <a:srgbClr val="0C5394"/>
                </a:solidFill>
                <a:latin typeface="Urbanist"/>
              </a:rPr>
              <a:t>Specificity detector (regex, weighted): </a:t>
            </a:r>
            <a:r>
              <a:rPr sz="1500" b="0">
                <a:solidFill>
                  <a:srgbClr val="1A2332"/>
                </a:solidFill>
                <a:latin typeface="Urbanist"/>
              </a:rPr>
              <a:t>exact dates (0.35), exact times (0.30), percentages (0.30), currency amounts (0.30), precise multi-digit statistics (0.20-0.25), bare years (0.15) -- summed and capped at 1.0.</a:t>
            </a:r>
            <a:endParaRPr sz="1500">
              <a:solidFill>
                <a:schemeClr val="dk1"/>
              </a:solidFill>
            </a:endParaRPr>
          </a:p>
          <a:p>
            <a:pPr>
              <a:spcAft>
                <a:spcPts val="2000"/>
              </a:spcAft>
            </a:pPr>
            <a:r>
              <a:rPr sz="1500" b="1">
                <a:solidFill>
                  <a:srgbClr val="0C5394"/>
                </a:solidFill>
                <a:latin typeface="Urbanist"/>
              </a:rPr>
              <a:t>Design rule (not "specific = false"): </a:t>
            </a:r>
            <a:r>
              <a:rPr sz="1500" b="0">
                <a:solidFill>
                  <a:srgbClr val="1A2332"/>
                </a:solidFill>
                <a:latin typeface="Urbanist"/>
              </a:rPr>
              <a:t>a highly specific claim is only risky when it is ALSO poorly evidenced -- risk_scorer.py gates the specificity contribution by (1 - evidence_support).</a:t>
            </a:r>
          </a:p>
          <a:p>
            <a:pPr>
              <a:spcAft>
                <a:spcPts val="2000"/>
              </a:spcAft>
            </a:pPr>
            <a:r>
              <a:rPr sz="1500" b="1">
                <a:solidFill>
                  <a:srgbClr val="0C5394"/>
                </a:solidFill>
                <a:latin typeface="Urbanist"/>
              </a:rPr>
              <a:t>Real example, TC2 (Transformer architecture test): </a:t>
            </a:r>
            <a:r>
              <a:rPr sz="1500" b="0">
                <a:solidFill>
                  <a:srgbClr val="1A2332"/>
                </a:solidFill>
                <a:latin typeface="Urbanist"/>
              </a:rPr>
              <a:t>the fabricated “exactly 340 million parameters” claim scored the HIGHEST risk of all 8 claims in that response (31/100, void 69/100) precisely because high specificity met weak evidence.</a:t>
            </a:r>
          </a:p>
          <a:p>
            <a:pPr>
              <a:spcAft>
                <a:spcPts val="2000"/>
              </a:spcAft>
            </a:pPr>
            <a:r>
              <a:rPr sz="1500" b="1">
                <a:solidFill>
                  <a:srgbClr val="0C5394"/>
                </a:solidFill>
                <a:latin typeface="Urbanist"/>
              </a:rPr>
              <a:t>Overconfidence detector -- a genuine live finding: </a:t>
            </a:r>
            <a:r>
              <a:rPr sz="1500" b="0">
                <a:solidFill>
                  <a:srgbClr val="1A2332"/>
                </a:solidFill>
                <a:latin typeface="Urbanist"/>
              </a:rPr>
              <a:t>phrases like “definitely certain” scored overconfidence 0.0 across TC1/TC2/TC5 live tests, because Gemini's claim-decomposition step strips rhetorical framing, leaving only the bare factual assertion. Documented as a real architectural limitation, not hidden.</a:t>
            </a:r>
          </a:p>
        </p:txBody>
      </p:sp>
      <p:sp>
        <p:nvSpPr>
          <p:cNvPr id="156" name="Google Shape;156;p22"/>
          <p:cNvSpPr txBox="1"/>
          <p:nvPr/>
        </p:nvSpPr>
        <p:spPr>
          <a:xfrm>
            <a:off x="194550" y="304000"/>
            <a:ext cx="118191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2AE6C"/>
                </a:solidFill>
                <a:latin typeface="Urbanist"/>
              </a:rPr>
              <a:t>FABRICATED SPECIFICITY &amp; OVERCONFIDENCE</a:t>
            </a:r>
            <a:endParaRPr b="1" sz="3300">
              <a:solidFill>
                <a:srgbClr val="D2AE6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102" name="Google Shape;102;p17"/>
          <p:cNvSpPr txBox="1"/>
          <p:nvPr/>
        </p:nvSpPr>
        <p:spPr>
          <a:xfrm>
            <a:off x="338675" y="423350"/>
            <a:ext cx="1092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2AE6C"/>
                </a:solidFill>
                <a:latin typeface="Urbanist"/>
              </a:rPr>
              <a:t>RISK SCORING &amp; EXPLAINABILITY</a:t>
            </a:r>
            <a:endParaRPr b="1">
              <a:solidFill>
                <a:srgbClr val="D2AE6C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36225" y="1518410"/>
            <a:ext cx="5540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C5394"/>
                </a:solidFill>
                <a:latin typeface="Urbanist"/>
              </a:rPr>
              <a:t>THE FORMULA (engines/risk_scoring/risk_scorer.py)</a:t>
            </a:r>
            <a:endParaRPr b="1" sz="2100">
              <a:solidFill>
                <a:srgbClr val="0C5394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36225" y="1958650"/>
            <a:ext cx="1088136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0C5394"/>
                </a:solidFill>
                <a:latin typeface="Urbanist"/>
              </a:rPr>
              <a:t>unsupported = void_score/100. Specificity and overconfidence only count against a claim when it is ALSO unsupported; linguistic hedging is a small </a:t>
            </a:r>
            <a:r>
              <a:rPr sz="1350" b="1">
                <a:solidFill>
                  <a:srgbClr val="0C5394"/>
                </a:solidFill>
                <a:latin typeface="Urbanist"/>
              </a:rPr>
              <a:t>dampener</a:t>
            </a:r>
            <a:r>
              <a:rPr sz="1350" b="0">
                <a:solidFill>
                  <a:srgbClr val="0C5394"/>
                </a:solidFill>
                <a:latin typeface="Urbanist"/>
              </a:rPr>
              <a:t>, not a penalty -- an honest hedge should not itself raise risk.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536225" y="5488950"/>
            <a:ext cx="1088136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D2AE6C"/>
                </a:solidFill>
                <a:latin typeface="Urbanist"/>
              </a:rPr>
              <a:t>Bands: </a:t>
            </a:r>
            <a:r>
              <a:rPr sz="1400" b="0">
                <a:solidFill>
                  <a:srgbClr val="D2AE6C"/>
                </a:solidFill>
                <a:latin typeface="Urbanist"/>
              </a:rPr>
              <a:t>LOW &lt; 25   |   MODERATE &lt; 50   |   HIGH &lt; 75   |   CRITICAL ≥ 75. An interaction's overall score is the mean of its claims' risk scores, not the single worst claim.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45025" y="3241400"/>
            <a:ext cx="9922986" cy="1375758"/>
          </a:xfrm>
          <a:prstGeom prst="flowChartTerminator">
            <a:avLst/>
          </a:prstGeom>
          <a:solidFill>
            <a:srgbClr val="0C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FFFFFF"/>
                </a:solidFill>
                <a:latin typeface="Consolas"/>
              </a:rPr>
              <a:t>risk = 0.45(unsupported) + 0.30(specificity x unsupported) + 0.15(overconf. x unsupported) - 0.10(uncertainty dampener)</a:t>
            </a:r>
            <a:endParaRPr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WEBSITE PLATFORM -- LIVE, REAL DATA</a:t>
            </a:r>
          </a:p>
        </p:txBody>
      </p:sp>
      <p:pic>
        <p:nvPicPr>
          <p:cNvPr id="3" name="Picture 2" descr="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914163" cy="2331720"/>
          </a:xfrm>
          <a:prstGeom prst="rect">
            <a:avLst/>
          </a:prstGeom>
        </p:spPr>
      </p:pic>
      <p:pic>
        <p:nvPicPr>
          <p:cNvPr id="4" name="Picture 3" descr="shot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86200"/>
            <a:ext cx="4914163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91402" y="1371600"/>
            <a:ext cx="669871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Live Analysis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94A3B8"/>
                </a:solidFill>
                <a:latin typeface="Urbanist"/>
              </a:rPr>
              <a:t>home page, with the System Status panel wired to a real GET /api/v1/health call (API, database, LLM mode, calibration status).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Research Analytics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250" b="0">
                <a:solidFill>
                  <a:srgbClr val="94A3B8"/>
                </a:solidFill>
                <a:latin typeface="Urbanist"/>
              </a:rPr>
              <a:t>real aggregate SQL over this account's own stored interactions -- explicitly labeled "nothing here is hardcoded" in the UI itself.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A2332"/>
                </a:solidFill>
                <a:latin typeface="Urbanist"/>
              </a:rPr>
              <a:t>Also implemented: </a:t>
            </a:r>
            <a:r>
              <a:rPr sz="1250" b="0">
                <a:solidFill>
                  <a:srgbClr val="1A2332"/>
                </a:solidFill>
                <a:latin typeface="Urbanist"/>
              </a:rPr>
              <a:t>History, Void Map, Model Compare, and Settings pages, plus JWT login/register.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CHROME EXTENSION INTERFACE</a:t>
            </a:r>
          </a:p>
        </p:txBody>
      </p:sp>
      <p:pic>
        <p:nvPicPr>
          <p:cNvPr id="3" name="Picture 2" descr="extension_popu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07587" cy="4206240"/>
          </a:xfrm>
          <a:prstGeom prst="rect">
            <a:avLst/>
          </a:prstGeom>
        </p:spPr>
      </p:pic>
      <p:pic>
        <p:nvPicPr>
          <p:cNvPr id="4" name="Picture 3" descr="shot_ext_o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866" y="1371600"/>
            <a:ext cx="5760720" cy="2215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04866" y="3815861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94A3B8"/>
                </a:solidFill>
                <a:latin typeface="Urbanist"/>
              </a:rPr>
              <a:t>Popup (left) and Settings/consent page (right), rendered directly from the extension's own HTML/CSS.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C45C0A"/>
                </a:solidFill>
                <a:latin typeface="Urbanist"/>
              </a:rPr>
              <a:t>Honest limitation: </a:t>
            </a:r>
            <a:r>
              <a:rPr sz="1250" b="0">
                <a:solidFill>
                  <a:srgbClr val="94A3B8"/>
                </a:solidFill>
                <a:latin typeface="Urbanist"/>
              </a:rPr>
              <a:t>these are local renders of the real extension UI code, not a screenshot of it loaded as a live Chrome extension -- that runtime path was not reachable through browser automation in this environment.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TESTING METHODOLOGY -- 6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5486400" cy="14173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FFFFFF"/>
                </a:solidFill>
                <a:latin typeface="Urbanist"/>
              </a:rPr>
              <a:t>1. Reliable, well-known facts</a:t>
            </a:r>
          </a:p>
          <a:p>
            <a:r>
              <a:rPr sz="1150" b="0">
                <a:solidFill>
                  <a:srgbClr val="D2AE6C"/>
                </a:solidFill>
                <a:latin typeface="Urbanist"/>
              </a:rPr>
              <a:t>TC5 -- WWW / iPhone release 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17320"/>
            <a:ext cx="5486400" cy="14173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FFFFFF"/>
                </a:solidFill>
                <a:latin typeface="Urbanist"/>
              </a:rPr>
              <a:t>2. Obscure / poorly-documented events</a:t>
            </a:r>
          </a:p>
          <a:p>
            <a:r>
              <a:rPr sz="1150" b="0">
                <a:solidFill>
                  <a:srgbClr val="D2AE6C"/>
                </a:solidFill>
                <a:latin typeface="Urbanist"/>
              </a:rPr>
              <a:t>TC4 -- fictitious research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90672"/>
            <a:ext cx="5486400" cy="14173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FFFFFF"/>
                </a:solidFill>
                <a:latin typeface="Urbanist"/>
              </a:rPr>
              <a:t>3. Fabricated specificity</a:t>
            </a:r>
          </a:p>
          <a:p>
            <a:r>
              <a:rPr sz="1150" b="0">
                <a:solidFill>
                  <a:srgbClr val="D2AE6C"/>
                </a:solidFill>
                <a:latin typeface="Urbanist"/>
              </a:rPr>
              <a:t>TC1/TC2/TC3 -- exact dates, %, 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90672"/>
            <a:ext cx="5486400" cy="14173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FFFFFF"/>
                </a:solidFill>
                <a:latin typeface="Urbanist"/>
              </a:rPr>
              <a:t>4. Explicit uncertainty language</a:t>
            </a:r>
          </a:p>
          <a:p>
            <a:r>
              <a:rPr sz="1150" b="0">
                <a:solidFill>
                  <a:srgbClr val="D2AE6C"/>
                </a:solidFill>
                <a:latin typeface="Urbanist"/>
              </a:rPr>
              <a:t>TC4 -- "cannot be confirmed"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64024"/>
            <a:ext cx="5486400" cy="14173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FFFFFF"/>
                </a:solidFill>
                <a:latin typeface="Urbanist"/>
              </a:rPr>
              <a:t>5. Overconfident language</a:t>
            </a:r>
          </a:p>
          <a:p>
            <a:r>
              <a:rPr sz="1150" b="0">
                <a:solidFill>
                  <a:srgbClr val="D2AE6C"/>
                </a:solidFill>
                <a:latin typeface="Urbanist"/>
              </a:rPr>
              <a:t>TC1/TC2/TC5 -- "definitely certain"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764024"/>
            <a:ext cx="5486400" cy="14173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450" b="1">
                <a:solidFill>
                  <a:srgbClr val="FFFFFF"/>
                </a:solidFill>
                <a:latin typeface="Urbanist"/>
              </a:rPr>
              <a:t>6. Mixed supported+unsupported claims</a:t>
            </a:r>
          </a:p>
          <a:p>
            <a:r>
              <a:rPr sz="1150" b="0">
                <a:solidFill>
                  <a:srgbClr val="D2AE6C"/>
                </a:solidFill>
                <a:latin typeface="Urbanist"/>
              </a:rPr>
              <a:t>TC1/TC2/TC3 -- combined responses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TEST RESULTS -- REAL NUMBERS ONLY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123444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2AE6C"/>
                </a:solidFill>
                <a:latin typeface="Urbanist"/>
              </a:rPr>
              <a:t>115 / 115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Automated tests passing
(100 pytest + 15 npm)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2651760" cy="123444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2AE6C"/>
                </a:solidFill>
                <a:latin typeface="Urbanist"/>
              </a:rPr>
              <a:t>5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Live end-to-end test
cases (all 6 categories)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651760" cy="123444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2AE6C"/>
                </a:solidFill>
                <a:latin typeface="Urbanist"/>
              </a:rPr>
              <a:t>33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Individual claims
analyzed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1371600"/>
            <a:ext cx="2651760" cy="123444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D2AE6C"/>
                </a:solidFill>
                <a:latin typeface="Urbanist"/>
              </a:rPr>
              <a:t>8 / 10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Urbanist"/>
              </a:rPr>
              <a:t>TC3: true claims correctly
scored LOW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0C5394"/>
                </a:solidFill>
                <a:latin typeface="Urbanist"/>
              </a:rPr>
              <a:t>From the 33-claim, 5-case sample: </a:t>
            </a:r>
            <a:r>
              <a:rPr sz="1300" b="0">
                <a:solidFill>
                  <a:srgbClr val="0C5394"/>
                </a:solidFill>
                <a:latin typeface="Urbanist"/>
              </a:rPr>
              <a:t>8 true-but-under-evidenced sub-claims (exact dates/trivia in TC1/TC2/TC5) were false positives; TC3's 2 fabricated claims were false negatives. Not disjoint counts -- see TEST_RESULTS.md.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24712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5943600"/>
                <a:gridCol w="2194560"/>
                <a:gridCol w="219456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332"/>
                          </a:solidFill>
                          <a:latin typeface="Urbanist"/>
                        </a:rPr>
                        <a:t>Case</a:t>
                      </a:r>
                    </a:p>
                  </a:txBody>
                  <a:tcPr anchor="ctr" marL="91440" marR="91440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2332"/>
                          </a:solidFill>
                          <a:latin typeface="Urbanist"/>
                        </a:rPr>
                        <a:t>Scenario</a:t>
                      </a:r>
                    </a:p>
                  </a:txBody>
                  <a:tcPr anchor="ctr" marL="91440" marR="91440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2332"/>
                          </a:solidFill>
                          <a:latin typeface="Urbanist"/>
                        </a:rPr>
                        <a:t>Result</a:t>
                      </a:r>
                    </a:p>
                  </a:txBody>
                  <a:tcPr anchor="ctr" marL="91440" marR="91440">
                    <a:solidFill>
                      <a:srgbClr val="FBEE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2332"/>
                          </a:solidFill>
                          <a:latin typeface="Urbanist"/>
                        </a:rPr>
                        <a:t>Outcome</a:t>
                      </a:r>
                    </a:p>
                  </a:txBody>
                  <a:tcPr anchor="ctr" marL="91440" marR="91440">
                    <a:solidFill>
                      <a:srgbClr val="FBEEC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TC1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Eiffel Tower -- mixed true + fabricated details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MODERATE 29.1/100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Fabrications flagged; 2 true dates false-positive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TC2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Transformer architecture -- mixed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MODERATE 29/100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Fabricated "340M params" = highest risk of 8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TC3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Sparse autoencoders -- strong-evidence domain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LOW 23/100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8/10 true claims correct; 2 fabricated = false negative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TC4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Fictitious research trust + genuine hedging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MODERATE 32.1/100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All 4 flagged; only case uncertainty score fired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TC5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WWW / iPhone -- well-known facts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MODERATE 26.6/100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Urbanist"/>
                        </a:rPr>
                        <a:t>Core claim correct LOW; date sub-claims false-positive</a:t>
                      </a:r>
                    </a:p>
                  </a:txBody>
                  <a:tcPr anchor="ctr" marL="91440" marR="91440"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CASE STUDY -- SPARSE AUTOENCODER RESPONSE (TC3)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571750" cy="9601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Urbanist"/>
              </a:rPr>
              <a:t>Prompt + Response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Urbanist"/>
              </a:rPr>
              <a:t>SAE explanation, 2 fabrications planted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28950" y="1943100"/>
            <a:ext cx="320040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48990" y="1463040"/>
            <a:ext cx="2571750" cy="9601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Urbanist"/>
              </a:rPr>
              <a:t>Claim Extraction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Urbanist"/>
              </a:rPr>
              <a:t>10 atomic claims (Gemini)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20740" y="1943100"/>
            <a:ext cx="320039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40780" y="1463040"/>
            <a:ext cx="2571750" cy="9601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Urbanist"/>
              </a:rPr>
              <a:t>Evidence Retrieval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Urbanist"/>
              </a:rPr>
              <a:t>OpenAlex, per claim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12530" y="1943100"/>
            <a:ext cx="320039" cy="0"/>
          </a:xfrm>
          <a:prstGeom prst="line">
            <a:avLst/>
          </a:prstGeom>
          <a:ln w="28575">
            <a:solidFill>
              <a:srgbClr val="D2AE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32570" y="1463040"/>
            <a:ext cx="2571750" cy="960120"/>
          </a:xfrm>
          <a:prstGeom prst="roundRect">
            <a:avLst/>
          </a:prstGeom>
          <a:solidFill>
            <a:srgbClr val="0C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Urbanist"/>
              </a:rPr>
              <a:t>Scoring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Urbanist"/>
              </a:rPr>
              <a:t>void + specificity +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11155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50" b="1">
                <a:solidFill>
                  <a:srgbClr val="0C5394"/>
                </a:solidFill>
                <a:latin typeface="Urbanist"/>
              </a:rPr>
              <a:t>Result: overall LOW, 23/100 -- 8 of 10 claims correct.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D2AE6C"/>
                </a:solidFill>
                <a:latin typeface="Urbanist"/>
              </a:rPr>
              <a:t>What worked: </a:t>
            </a:r>
            <a:r>
              <a:rPr sz="1350" b="0">
                <a:solidFill>
                  <a:srgbClr val="0C5394"/>
                </a:solidFill>
                <a:latin typeface="Urbanist"/>
              </a:rPr>
              <a:t>true attribution claims ("TopK SAEs introduced by Gao et al., 2024", "JumpReLU assigns each feature its own threshold") retrieved real, on-topic evidence -- support scores 0.36-0.66 -- and were correctly scored LOW risk, 20-25/100.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C45C0A"/>
                </a:solidFill>
                <a:latin typeface="Urbanist"/>
              </a:rPr>
              <a:t>What failed (real, disclosed limitation): </a:t>
            </a:r>
            <a:r>
              <a:rPr sz="1350" b="0">
                <a:solidFill>
                  <a:srgbClr val="0C5394"/>
                </a:solidFill>
                <a:latin typeface="Urbanist"/>
              </a:rPr>
              <a:t>both planted fabrications -- "200 million active features" and "originally developed for protein folding" -- retrieved loosely-related genuine papers (support 0.42-0.55) and were NOT flagged (void score 22/100, LOW).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1" i="1">
                <a:solidFill>
                  <a:srgbClr val="94A3B8"/>
                </a:solidFill>
                <a:latin typeface="Urbanist"/>
              </a:rPr>
              <a:t>Why this matters: </a:t>
            </a:r>
            <a:r>
              <a:rPr sz="1350" b="0" i="1">
                <a:solidFill>
                  <a:srgbClr val="94A3B8"/>
                </a:solidFill>
                <a:latin typeface="Urbanist"/>
              </a:rPr>
              <a:t>it reproduces, live, the exact known limitation already documented in results/failure_analysis.md -- void-flagging thresholds are uncalibrated heuristics, not a solved classifier.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INFORMATION VOID MAP</a:t>
            </a:r>
          </a:p>
        </p:txBody>
      </p:sp>
      <p:pic>
        <p:nvPicPr>
          <p:cNvPr id="3" name="Picture 2" descr="shot_voi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35" y="1188720"/>
            <a:ext cx="9924681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Urbanist"/>
              </a:rPr>
              <a:t>Live screenshot: every analyzed claim plotted by evidence availability (x) vs. specificity (y). Explicitly labeled in the UI as an exploratory research visualization, not a validated diagnostic.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31025" y="1288925"/>
            <a:ext cx="11819100" cy="53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sz="1400" b="1">
                <a:solidFill>
                  <a:srgbClr val="0C5394"/>
                </a:solidFill>
                <a:latin typeface="Urbanist"/>
              </a:rPr>
              <a:t>Uncalibrated thresholds: </a:t>
            </a:r>
            <a:r>
              <a:rPr sz="1400" b="0">
                <a:solidFill>
                  <a:srgbClr val="1A2332"/>
                </a:solidFill>
                <a:latin typeface="Urbanist"/>
              </a:rPr>
              <a:t>void/risk bands are documented engineering heuristics -- no labeled dataset exists to fit the conformal calibrator on.</a:t>
            </a:r>
            <a:endParaRPr sz="1500">
              <a:solidFill>
                <a:schemeClr val="dk1"/>
              </a:solidFill>
            </a:endParaRP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Corpus coverage gap: </a:t>
            </a:r>
            <a:r>
              <a:rPr sz="1400" b="0">
                <a:solidFill>
                  <a:srgbClr val="1A2332"/>
                </a:solidFill>
                <a:latin typeface="Urbanist"/>
              </a:rPr>
              <a:t>OpenAlex favors academic-paper phrasing; general historical/consumer-tech facts (dates, product releases) are frequently under-evidenced even when true, producing false positives.</a:t>
            </a: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Overconfidence detection is decomposition-dependent: </a:t>
            </a:r>
            <a:r>
              <a:rPr sz="1400" b="0">
                <a:solidFill>
                  <a:srgbClr val="1A2332"/>
                </a:solidFill>
                <a:latin typeface="Urbanist"/>
              </a:rPr>
              <a:t>it only affects scoring when Gemini's claim extraction happens to preserve the hedge/confidence phrase verbatim -- inconsistent across this session's live tests.</a:t>
            </a: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Extension runtime unverified live: </a:t>
            </a:r>
            <a:r>
              <a:rPr sz="1400" b="0">
                <a:solidFill>
                  <a:srgbClr val="1A2332"/>
                </a:solidFill>
                <a:latin typeface="Urbanist"/>
              </a:rPr>
              <a:t>background worker, MutationObserver and on-page overlay are unit-tested (15/15) but not exercised inside a real loaded Chrome instance in this environment.</a:t>
            </a: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Small sample size: </a:t>
            </a:r>
            <a:r>
              <a:rPr sz="1400" b="0">
                <a:solidFill>
                  <a:srgbClr val="1A2332"/>
                </a:solidFill>
                <a:latin typeface="Urbanist"/>
              </a:rPr>
              <a:t>5 live end-to-end cases / 33 claims by necessity (real API quota + ~30-90s per call) -- an exploratory prototype evaluation, not a statistically powered benchmark.</a:t>
            </a:r>
          </a:p>
        </p:txBody>
      </p:sp>
      <p:sp>
        <p:nvSpPr>
          <p:cNvPr id="156" name="Google Shape;156;p22"/>
          <p:cNvSpPr txBox="1"/>
          <p:nvPr/>
        </p:nvSpPr>
        <p:spPr>
          <a:xfrm>
            <a:off x="194550" y="304000"/>
            <a:ext cx="118191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2AE6C"/>
                </a:solidFill>
                <a:latin typeface="Urbanist"/>
              </a:rPr>
              <a:t>LIMITATIONS</a:t>
            </a:r>
            <a:endParaRPr b="1" sz="3300">
              <a:solidFill>
                <a:srgbClr val="D2AE6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231025" y="1288925"/>
            <a:ext cx="11819100" cy="53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rPr sz="1400" b="1">
                <a:solidFill>
                  <a:srgbClr val="0C5394"/>
                </a:solidFill>
                <a:latin typeface="Urbanist"/>
              </a:rPr>
              <a:t>Build a labeled evaluation set: </a:t>
            </a:r>
            <a:r>
              <a:rPr sz="1400" b="0">
                <a:solidFill>
                  <a:srgbClr val="1A2332"/>
                </a:solidFill>
                <a:latin typeface="Urbanist"/>
              </a:rPr>
              <a:t>collect human-verified true/fabricated claim pairs to actually fit ConformalVoidCalibrator instead of relying on fixed heuristic thresholds.</a:t>
            </a:r>
            <a:endParaRPr sz="1500">
              <a:solidFill>
                <a:schemeClr val="dk1"/>
              </a:solidFill>
            </a:endParaRP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Score full responses, not just decomposed claims: </a:t>
            </a:r>
            <a:r>
              <a:rPr sz="1400" b="0">
                <a:solidFill>
                  <a:srgbClr val="1A2332"/>
                </a:solidFill>
                <a:latin typeface="Urbanist"/>
              </a:rPr>
              <a:t>analyzing the original response text alongside atomic claims would likely catch overconfidence language that claim-decomposition currently strips out.</a:t>
            </a: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Broaden evidence sources beyond OpenAlex: </a:t>
            </a:r>
            <a:r>
              <a:rPr sz="1400" b="0">
                <a:solidFill>
                  <a:srgbClr val="1A2332"/>
                </a:solidFill>
                <a:latin typeface="Urbanist"/>
              </a:rPr>
              <a:t>add general web/encyclopedic retrieval to reduce false positives on non-academic, consumer-fact claims.</a:t>
            </a: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Complete live extension verification: </a:t>
            </a:r>
            <a:r>
              <a:rPr sz="1400" b="0">
                <a:solidFill>
                  <a:srgbClr val="1A2332"/>
                </a:solidFill>
                <a:latin typeface="Urbanist"/>
              </a:rPr>
              <a:t>load the unpacked extension in a real Chrome profile and verify the background worker, overlay, and highlighting end-to-end.</a:t>
            </a:r>
          </a:p>
          <a:p>
            <a:pPr>
              <a:spcAft>
                <a:spcPts val="2000"/>
              </a:spcAft>
            </a:pPr>
            <a:r>
              <a:rPr sz="1400" b="1">
                <a:solidFill>
                  <a:srgbClr val="0C5394"/>
                </a:solidFill>
                <a:latin typeface="Urbanist"/>
              </a:rPr>
              <a:t>Scale live testing: </a:t>
            </a:r>
            <a:r>
              <a:rPr sz="1400" b="0">
                <a:solidFill>
                  <a:srgbClr val="1A2332"/>
                </a:solidFill>
                <a:latin typeface="Urbanist"/>
              </a:rPr>
              <a:t>grow beyond this session's 5-case exploratory sample toward a larger, still-honestly-labeled evaluation set.</a:t>
            </a:r>
          </a:p>
        </p:txBody>
      </p:sp>
      <p:sp>
        <p:nvSpPr>
          <p:cNvPr id="156" name="Google Shape;156;p22"/>
          <p:cNvSpPr txBox="1"/>
          <p:nvPr/>
        </p:nvSpPr>
        <p:spPr>
          <a:xfrm>
            <a:off x="194550" y="304000"/>
            <a:ext cx="118191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D2AE6C"/>
                </a:solidFill>
                <a:latin typeface="Urbanist"/>
              </a:rPr>
              <a:t>FUTURE WORK</a:t>
            </a:r>
            <a:endParaRPr b="1" sz="3300">
              <a:solidFill>
                <a:srgbClr val="D2AE6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840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2AE6C"/>
                </a:solidFill>
                <a:latin typeface="Urbanist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900" b="1">
                <a:solidFill>
                  <a:srgbClr val="0C5394"/>
                </a:solidFill>
                <a:latin typeface="Urbanist"/>
              </a:rPr>
              <a:t>Synthetic Silence turns "is this AI response trustworthy" from a tone judgment into a measurable, per-claim signal</a:t>
            </a:r>
            <a:r>
              <a:rPr sz="1900" b="0">
                <a:solidFill>
                  <a:srgbClr val="0C5394"/>
                </a:solidFill>
                <a:latin typeface="Urbanist"/>
              </a:rPr>
              <a:t> -- an information void score built from real evidence retrieval, not from the model's own confidence.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500" b="1">
                <a:solidFill>
                  <a:srgbClr val="D2AE6C"/>
                </a:solidFill>
                <a:latin typeface="Urbanist"/>
              </a:rPr>
              <a:t>It is shipped as a working system</a:t>
            </a:r>
            <a:r>
              <a:rPr sz="1500" b="0">
                <a:solidFill>
                  <a:srgbClr val="0C5394"/>
                </a:solidFill>
                <a:latin typeface="Urbanist"/>
              </a:rPr>
              <a:t>: a FastAPI backend with auth, a 5-signal risk-scoring engine, a research dashboard (Live Analysis, History, Analytics, Void Map, Compare, Settings), and a Chrome extension -- all backed by 115 passing automated tests.</a:t>
            </a:r>
          </a:p>
          <a:p>
            <a:pPr algn="l">
              <a:lnSpc>
                <a:spcPct val="115000"/>
              </a:lnSpc>
              <a:spcAft>
                <a:spcPts val="2000"/>
              </a:spcAft>
            </a:pPr>
            <a:r>
              <a:rPr sz="1500" b="1">
                <a:solidFill>
                  <a:srgbClr val="D2AE6C"/>
                </a:solidFill>
                <a:latin typeface="Urbanist"/>
              </a:rPr>
              <a:t>It is honestly evaluated</a:t>
            </a:r>
            <a:r>
              <a:rPr sz="1500" b="0">
                <a:solidFill>
                  <a:srgbClr val="0C5394"/>
                </a:solidFill>
                <a:latin typeface="Urbanist"/>
              </a:rPr>
              <a:t>: five real live test cases surfaced both what works (evidence-rich domains correctly clear true claims) and what does not yet (sparse or non-academic evidence produces false positives and false negatives) -- disclosed, not hidden.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 i="1">
                <a:solidFill>
                  <a:srgbClr val="94A3B8"/>
                </a:solidFill>
                <a:latin typeface="Urbanist"/>
              </a:rPr>
              <a:t>The original TT-WGAN-GP research direction was retired on its own mathematical merits</a:t>
            </a:r>
            <a:r>
              <a:rPr sz="1350" b="0" i="1">
                <a:solidFill>
                  <a:srgbClr val="94A3B8"/>
                </a:solidFill>
                <a:latin typeface="Urbanist"/>
              </a:rPr>
              <a:t> (see paper.tex); this system is what replaced it -- a retrieval-and-heuristics pipeline that is smaller in ambition but actually runs, is actually tested, and says exactly what it does and does not know.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722025" y="1143000"/>
            <a:ext cx="10092600" cy="5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lvl="0" rtl="0" algn="l">
              <a:lnSpc>
                <a:spcPct val="115000"/>
              </a:lnSpc>
              <a:spcBef>
                <a:spcPts val="1200"/>
              </a:spcBef>
              <a:spcAft>
                <a:spcPts val="900"/>
              </a:spcAft>
              <a:buClr>
                <a:schemeClr val="dk1"/>
              </a:buClr>
              <a:buSzPts val="1500"/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Manakul, Liusie &amp; Gales (2023). </a:t>
            </a:r>
            <a:r>
              <a:rPr sz="1350" b="0">
                <a:solidFill>
                  <a:srgbClr val="1A2332"/>
                </a:solidFill>
                <a:latin typeface="Urbanist"/>
              </a:rPr>
              <a:t>SelfCheckGPT: Zero-Resource Black-Box Hallucination Detection. EMNLP 2023.</a:t>
            </a:r>
            <a:endParaRPr sz="1500">
              <a:solidFill>
                <a:schemeClr val="dk1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Farquhar et al. (2024). </a:t>
            </a:r>
            <a:r>
              <a:rPr sz="1350" b="0">
                <a:solidFill>
                  <a:srgbClr val="1A2332"/>
                </a:solidFill>
                <a:latin typeface="Urbanist"/>
              </a:rPr>
              <a:t>Detecting Hallucinations Using Semantic Entropy. Nature.</a:t>
            </a: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Kadavath et al. (2022). </a:t>
            </a:r>
            <a:r>
              <a:rPr sz="1350" b="0">
                <a:solidFill>
                  <a:srgbClr val="1A2332"/>
                </a:solidFill>
                <a:latin typeface="Urbanist"/>
              </a:rPr>
              <a:t>Language Models (Mostly) Know What They Know. arXiv:2207.05221.</a:t>
            </a: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Edge et al. (2024). </a:t>
            </a:r>
            <a:r>
              <a:rPr sz="1350" b="0">
                <a:solidFill>
                  <a:srgbClr val="1A2332"/>
                </a:solidFill>
                <a:latin typeface="Urbanist"/>
              </a:rPr>
              <a:t>From Local to Global: A GraphRAG Approach. arXiv:2404.16130.</a:t>
            </a: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Bricken et al. (2023). </a:t>
            </a:r>
            <a:r>
              <a:rPr sz="1350" b="0">
                <a:solidFill>
                  <a:srgbClr val="1A2332"/>
                </a:solidFill>
                <a:latin typeface="Urbanist"/>
              </a:rPr>
              <a:t>Towards Monosemanticity. Anthropic.</a:t>
            </a: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Gao et al. (2024). </a:t>
            </a:r>
            <a:r>
              <a:rPr sz="1350" b="0">
                <a:solidFill>
                  <a:srgbClr val="1A2332"/>
                </a:solidFill>
                <a:latin typeface="Urbanist"/>
              </a:rPr>
              <a:t>Scaling and Evaluating Sparse Autoencoders. arXiv:2406.04093.</a:t>
            </a: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Priem, Piwowar &amp; Orr (2022). </a:t>
            </a:r>
            <a:r>
              <a:rPr sz="1350" b="0">
                <a:solidFill>
                  <a:srgbClr val="1A2332"/>
                </a:solidFill>
                <a:latin typeface="Urbanist"/>
              </a:rPr>
              <a:t>OpenAlex: A Fully-Open Index of Scholarly Works. arXiv:2205.01833.</a:t>
            </a:r>
          </a:p>
          <a:p>
            <a:pPr>
              <a:spcAft>
                <a:spcPts val="900"/>
              </a:spcAft>
              <a:buNone/>
            </a:pPr>
            <a:r>
              <a:rPr sz="1350" b="1">
                <a:solidFill>
                  <a:srgbClr val="1A2332"/>
                </a:solidFill>
                <a:latin typeface="Urbanist"/>
              </a:rPr>
              <a:t>Reimers &amp; Gurevych (2019). </a:t>
            </a:r>
            <a:r>
              <a:rPr sz="1350" b="0">
                <a:solidFill>
                  <a:srgbClr val="1A2332"/>
                </a:solidFill>
                <a:latin typeface="Urbanist"/>
              </a:rPr>
              <a:t>Sentence-BERT: Sentence Embeddings using Siamese BERT-Networks. EMNLP 2019.</a:t>
            </a:r>
          </a:p>
          <a:p>
            <a:pPr>
              <a:spcBef>
                <a:spcPts val="1000"/>
              </a:spcBef>
              <a:buNone/>
            </a:pPr>
            <a:r>
              <a:rPr sz="1150" b="0" i="1">
                <a:solidFill>
                  <a:srgbClr val="94A3B8"/>
                </a:solidFill>
                <a:latin typeface="Urbanist"/>
              </a:rPr>
              <a:t>Full 18-entry bibliography in Publication/paper.tex.</a:t>
            </a:r>
          </a:p>
        </p:txBody>
      </p:sp>
      <p:sp>
        <p:nvSpPr>
          <p:cNvPr id="164" name="Google Shape;164;p23"/>
          <p:cNvSpPr txBox="1"/>
          <p:nvPr/>
        </p:nvSpPr>
        <p:spPr>
          <a:xfrm>
            <a:off x="170225" y="389100"/>
            <a:ext cx="114543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D2AE6C"/>
                </a:solidFill>
                <a:latin typeface="Urbanist"/>
              </a:rPr>
              <a:t>REFERENCES</a:t>
            </a: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