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6ba9b8b-852d-3d2e-ea39-ef6d079e2946}">
          <p14:sldIdLst>
            <p14:sldId id="256"/>
          </p14:sldIdLst>
        </p14:section>
        <p14:section name="Problem and Background" id="{fe6ab2c3-14af-b820-21b2-56a6acad1e56}">
          <p14:sldIdLst>
            <p14:sldId id="257"/>
            <p14:sldId id="258"/>
            <p14:sldId id="259"/>
            <p14:sldId id="260"/>
          </p14:sldIdLst>
        </p14:section>
        <p14:section name="Method" id="{7ba48bf7-8265-52eb-c63e-6fa2689ab3e7}">
          <p14:sldIdLst>
            <p14:sldId id="261"/>
            <p14:sldId id="262"/>
          </p14:sldIdLst>
        </p14:section>
        <p14:section name="Statistics and Theory" id="{f9e6402e-5fef-3a9d-4dde-bee00c7c9929}">
          <p14:sldIdLst>
            <p14:sldId id="263"/>
            <p14:sldId id="264"/>
          </p14:sldIdLst>
        </p14:section>
        <p14:section name="Implementation and Results" id="{2dc7d3e7-82ad-4544-fe74-dda440dca13e}">
          <p14:sldIdLst>
            <p14:sldId id="265"/>
            <p14:sldId id="266"/>
            <p14:sldId id="267"/>
          </p14:sldIdLst>
        </p14:section>
        <p14:section name="Analysis" id="{c6ab390e-62ea-2ca2-b041-debb2138d676}">
          <p14:sldIdLst>
            <p14:sldId id="268"/>
            <p14:sldId id="269"/>
          </p14:sldIdLst>
        </p14:section>
        <p14:section name="Closing" id="{044bda4e-681a-f66e-d0ab-7bbaa879e155}">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B2D"/>
                </a:solidFill>
                <a:latin typeface="+mn-lt"/>
              </a:defRPr>
            </a:pPr>
            <a:r>
              <a:rPr sz="1400" b="0" i="0" u="none" strike="noStrike">
                <a:solidFill>
                  <a:srgbClr val="0F1B2D"/>
                </a:solidFill>
                <a:latin typeface="+mn-lt"/>
              </a:rPr>
              <a:t>AUROC of the density signal for evidence insufficiency</a:t>
            </a:r>
          </a:p>
        </c:rich>
      </c:tx>
      <c:layout/>
      <c:overlay val="0"/>
    </c:title>
    <c:autoTitleDeleted val="0"/>
    <c:plotArea>
      <c:layout/>
      <c:barChart>
        <c:barDir val="col"/>
        <c:grouping val="clustered"/>
        <c:varyColors val="0"/>
        <c:ser>
          <c:idx val="0"/>
          <c:order val="0"/>
          <c:tx>
            <c:strRef>
              <c:f>Sheet1!$B$1</c:f>
              <c:strCache>
                <c:ptCount val="1"/>
                <c:pt idx="0">
                  <c:v>AUROC</c:v>
                </c:pt>
              </c:strCache>
            </c:strRef>
          </c:tx>
          <c:spPr>
            <a:solidFill>
              <a:srgbClr val="0E8F8A"/>
            </a:solidFill>
            <a:effectLst/>
          </c:spPr>
          <c:invertIfNegative val="0"/>
          <c:dLbls>
            <c:numFmt formatCode="0.000" sourceLinked="0"/>
            <c:txPr>
              <a:bodyPr/>
              <a:lstStyle/>
              <a:p>
                <a:pPr>
                  <a:defRPr b="0" i="0" strike="noStrike" sz="1400" u="none">
                    <a:solidFill>
                      <a:srgbClr val="0F1B2D"/>
                    </a:solidFill>
                    <a:latin typeface="+mn-lt"/>
                  </a:defRPr>
                </a:pPr>
              </a:p>
            </c:txPr>
            <c:showLegendKey val="0"/>
            <c:showVal val="1"/>
            <c:showCatName val="0"/>
            <c:showSerName val="0"/>
            <c:showPercent val="0"/>
            <c:showBubbleSize val="0"/>
            <c:showLeaderLines val="0"/>
          </c:dLbls>
          <c:dPt>
            <c:idx val="0"/>
            <c:invertIfNegative val="0"/>
            <c:bubble3D val="0"/>
            <c:spPr>
              <a:solidFill>
                <a:srgbClr val="0E8F8A"/>
              </a:solidFill>
              <a:effectLst/>
            </c:spPr>
          </c:dPt>
          <c:dPt>
            <c:idx val="1"/>
            <c:invertIfNegative val="0"/>
            <c:bubble3D val="0"/>
            <c:spPr>
              <a:solidFill>
                <a:srgbClr val="C0392B"/>
              </a:solidFill>
              <a:effectLst/>
            </c:spPr>
          </c:dPt>
          <c:dPt>
            <c:idx val="2"/>
            <c:invertIfNegative val="0"/>
            <c:bubble3D val="0"/>
            <c:spPr>
              <a:solidFill>
                <a:srgbClr val="C0392B"/>
              </a:solidFill>
              <a:effectLst/>
            </c:spPr>
          </c:dPt>
          <c:dPt>
            <c:idx val="3"/>
            <c:invertIfNegative val="0"/>
            <c:bubble3D val="0"/>
            <c:spPr>
              <a:solidFill>
                <a:srgbClr val="C0392B"/>
              </a:solidFill>
              <a:effectLst/>
            </c:spPr>
          </c:dPt>
          <c:dPt>
            <c:idx val="4"/>
            <c:invertIfNegative val="0"/>
            <c:bubble3D val="0"/>
            <c:spPr>
              <a:solidFill>
                <a:srgbClr val="5B6B80"/>
              </a:solidFill>
              <a:effectLst/>
            </c:spPr>
          </c:dPt>
          <c:cat>
            <c:multiLvlStrRef>
              <c:f>Sheet1!$A$2:$A$6</c:f>
              <c:multiLvlStrCache>
                <c:ptCount val="5"/>
                <c:lvl>
                  <c:pt idx="0">
                    <c:v>FEVER (E0)</c:v>
                  </c:pt>
                  <c:pt idx="1">
                    <c:v>AVeriTeC, overall</c:v>
                  </c:pt>
                  <c:pt idx="2">
                    <c:v>AVeriTeC, insufficiency</c:v>
                  </c:pt>
                  <c:pt idx="3">
                    <c:v>Matched controls (F2)</c:v>
                  </c:pt>
                  <c:pt idx="4">
                    <c:v>Chance level</c:v>
                  </c:pt>
                </c:lvl>
              </c:multiLvlStrCache>
            </c:multiLvlStrRef>
          </c:cat>
          <c:val>
            <c:numRef>
              <c:f>Sheet1!$B$2:$B$6</c:f>
              <c:numCache>
                <c:formatCode>General</c:formatCode>
                <c:ptCount val="5"/>
                <c:pt idx="0">
                  <c:v>0.546</c:v>
                </c:pt>
                <c:pt idx="1">
                  <c:v>0.355</c:v>
                </c:pt>
                <c:pt idx="2">
                  <c:v>0.275</c:v>
                </c:pt>
                <c:pt idx="3">
                  <c:v>0.335</c:v>
                </c:pt>
                <c:pt idx="4">
                  <c:v>0.5</c:v>
                </c:pt>
              </c:numCache>
            </c:numRef>
          </c:val>
        </c:ser>
        <c:dLbls>
          <c:numFmt formatCode="0.000" sourceLinked="0"/>
          <c:txPr>
            <a:bodyPr/>
            <a:lstStyle/>
            <a:p>
              <a:pPr>
                <a:defRPr b="0" i="0" strike="noStrike" sz="1400" u="none">
                  <a:solidFill>
                    <a:srgbClr val="0F1B2D"/>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B2D"/>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5DE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B2D"/>
                </a:solidFill>
                <a:latin typeface="+mn-lt"/>
              </a:defRPr>
            </a:pPr>
            <a:r>
              <a:rPr sz="1400" b="0" i="0" u="none" strike="noStrike">
                <a:solidFill>
                  <a:srgbClr val="0F1B2D"/>
                </a:solidFill>
                <a:latin typeface="+mn-lt"/>
              </a:rPr>
              <a:t>Accuracy (%) on 100 FEVER claims</a:t>
            </a:r>
          </a:p>
        </c:rich>
      </c:tx>
      <c:layout/>
      <c:overlay val="0"/>
    </c:title>
    <c:autoTitleDeleted val="0"/>
    <c:plotArea>
      <c:layout/>
      <c:barChart>
        <c:barDir val="col"/>
        <c:grouping val="clustered"/>
        <c:varyColors val="0"/>
        <c:ser>
          <c:idx val="0"/>
          <c:order val="0"/>
          <c:tx>
            <c:strRef>
              <c:f>Sheet1!$B$1</c:f>
              <c:strCache>
                <c:ptCount val="1"/>
                <c:pt idx="0">
                  <c:v>Overall accuracy</c:v>
                </c:pt>
              </c:strCache>
            </c:strRef>
          </c:tx>
          <c:spPr>
            <a:solidFill>
              <a:srgbClr val="5B6B80"/>
            </a:solidFill>
            <a:effectLst/>
          </c:spPr>
          <c:invertIfNegative val="0"/>
          <c:dLbls>
            <c:numFmt formatCode="0.0" sourceLinked="0"/>
            <c:txPr>
              <a:bodyPr/>
              <a:lstStyle/>
              <a:p>
                <a:pPr>
                  <a:defRPr b="0" i="0" strike="noStrike" sz="1300" u="none">
                    <a:solidFill>
                      <a:srgbClr val="0F1B2D"/>
                    </a:solidFill>
                    <a:latin typeface="+mn-lt"/>
                  </a:defRPr>
                </a:pPr>
              </a:p>
            </c:txPr>
            <c:showLegendKey val="0"/>
            <c:showVal val="1"/>
            <c:showCatName val="0"/>
            <c:showSerName val="0"/>
            <c:showPercent val="0"/>
            <c:showBubbleSize val="0"/>
            <c:showLeaderLines val="0"/>
          </c:dLbls>
          <c:cat>
            <c:multiLvlStrRef>
              <c:f>Sheet1!$A$2:$A$4</c:f>
              <c:multiLvlStrCache>
                <c:ptCount val="3"/>
                <c:lvl>
                  <c:pt idx="0">
                    <c:v>Pooled + OpenAlex</c:v>
                  </c:pt>
                  <c:pt idx="1">
                    <c:v>Pooled + Wikipedia</c:v>
                  </c:pt>
                  <c:pt idx="2">
                    <c:v>Stance + Wikipedia</c:v>
                  </c:pt>
                </c:lvl>
              </c:multiLvlStrCache>
            </c:multiLvlStrRef>
          </c:cat>
          <c:val>
            <c:numRef>
              <c:f>Sheet1!$B$2:$B$4</c:f>
              <c:numCache>
                <c:formatCode>General</c:formatCode>
                <c:ptCount val="3"/>
                <c:pt idx="0">
                  <c:v>51</c:v>
                </c:pt>
                <c:pt idx="1">
                  <c:v>55</c:v>
                </c:pt>
                <c:pt idx="2">
                  <c:v>53</c:v>
                </c:pt>
              </c:numCache>
            </c:numRef>
          </c:val>
        </c:ser>
        <c:ser>
          <c:idx val="1"/>
          <c:order val="1"/>
          <c:tx>
            <c:strRef>
              <c:f>Sheet1!$C$1</c:f>
              <c:strCache>
                <c:ptCount val="1"/>
                <c:pt idx="0">
                  <c:v>SUPPORTS/REFUTES accuracy</c:v>
                </c:pt>
              </c:strCache>
            </c:strRef>
          </c:tx>
          <c:spPr>
            <a:solidFill>
              <a:srgbClr val="0E8F8A"/>
            </a:solidFill>
            <a:effectLst/>
          </c:spPr>
          <c:invertIfNegative val="0"/>
          <c:dLbls>
            <c:numFmt formatCode="0.0" sourceLinked="0"/>
            <c:txPr>
              <a:bodyPr/>
              <a:lstStyle/>
              <a:p>
                <a:pPr>
                  <a:defRPr b="0" i="0" strike="noStrike" sz="1300" u="none">
                    <a:solidFill>
                      <a:srgbClr val="0F1B2D"/>
                    </a:solidFill>
                    <a:latin typeface="+mn-lt"/>
                  </a:defRPr>
                </a:pPr>
              </a:p>
            </c:txPr>
            <c:showLegendKey val="0"/>
            <c:showVal val="1"/>
            <c:showCatName val="0"/>
            <c:showSerName val="0"/>
            <c:showPercent val="0"/>
            <c:showBubbleSize val="0"/>
            <c:showLeaderLines val="0"/>
          </c:dLbls>
          <c:cat>
            <c:multiLvlStrRef>
              <c:f>Sheet1!$A$2:$A$4</c:f>
              <c:multiLvlStrCache>
                <c:ptCount val="3"/>
                <c:lvl>
                  <c:pt idx="0">
                    <c:v>Pooled + OpenAlex</c:v>
                  </c:pt>
                  <c:pt idx="1">
                    <c:v>Pooled + Wikipedia</c:v>
                  </c:pt>
                  <c:pt idx="2">
                    <c:v>Stance + Wikipedia</c:v>
                  </c:pt>
                </c:lvl>
              </c:multiLvlStrCache>
            </c:multiLvlStrRef>
          </c:cat>
          <c:val>
            <c:numRef>
              <c:f>Sheet1!$C$2:$C$4</c:f>
              <c:numCache>
                <c:formatCode>General</c:formatCode>
                <c:ptCount val="3"/>
                <c:pt idx="0">
                  <c:v>66.7</c:v>
                </c:pt>
                <c:pt idx="1">
                  <c:v>79.7</c:v>
                </c:pt>
                <c:pt idx="2">
                  <c:v>49.3</c:v>
                </c:pt>
              </c:numCache>
            </c:numRef>
          </c:val>
        </c:ser>
        <c:dLbls>
          <c:numFmt formatCode="0.0" sourceLinked="0"/>
          <c:txPr>
            <a:bodyPr/>
            <a:lstStyle/>
            <a:p>
              <a:pPr>
                <a:defRPr b="0" i="0" strike="noStrike" sz="1300" u="none">
                  <a:solidFill>
                    <a:srgbClr val="0F1B2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B2D"/>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5DE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0F1B2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Introduce the team and the one-line idea: we turn an LLM answer into per-claim verdicts, and every true or false verdict points to a quoted sentence in a source. The screenshot is the working Chrome extension. Today: problem, literature, method, statistics, implementation, results,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Three points. One: fluent specifics look true. Two: the reader has no marker. Three: when a checker fails silently, silence looks like 'no problem found'. Our problem statement is the dark box: per-claim verdict, traceable to a quote, with failure kept separate from absence.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Five objectives map to the five contributions in the paper. The three research questions on the right are answered later by the FEVER validation and by the propositions: RQ1 and RQ2 empirically, RQ3 by proof plus the earlier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Walk down the table. The survey gives the pipeline. FEVER and AVeriTeC give labelled data. SelfCheckGPT and FActScore are the closest work on LLM factuality: one uses no evidence, the other returns a score. None returns a verdict with a quote the reader can find. The last row is our own earlier study, which motivates the change of approach on the next slide. LLM-as-judge bias (Zheng et al., 2023) is why we hold the checker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is the research gap, from our own earlier work. The density signal had AUROC 0.546 on FEVER, which is weak, then 0.275 on AVeriTeC, which is inverted, and 0.335 even with matched controls. Cross-manifold tests collapsed to chance. So a density score is not a safe basis for telling a reader whether a claim is supported. We keep it in research mode and build the verdict from source 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Walk left to right. Extraction keeps names, numbers and dates as written. Two retrievers run together. Ranking uses sentence-embedding cosine similarity and keeps six. The stance call returns one stance, a confidence and a quote per source; a stance without a verbatim quote is downgraded to neutral. Then five deterministic rules. The dashed box is the earlier research signal, shown only in research mode. The red box is the failure rule: outage is an error, not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Counted sets P and N need confidence at least 0.5 and a verified quote. Q says when a side qualifies: two counted sources, or one with confidence 0.8. The five rules are tried in order. The figure shows the regions. The practical point: a single weak source can never produce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Eight tools, two groups. First four are the modelling side: cosine ranking, kNN plus Mahalanobis density with Ledoit-Wolf shrinkage, and softmax entropy. The last four are the evaluation side: confusion matrix with macro-F1, Wilson intervals, exact McNemar test on paired claims, and a paired bootstrap, with a Bonferroni threshold of 0.0083 because we ran six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Each property is proved in the paper. Theorem 1 is the audit property: the system cannot assert true, false or disputed without a quote in a source. Props 2 to 4 explain why the earlier scores behave as they do: entropy rewards redundancy, and the single-query density collapses to a nearest-neighbour distance. We also test every statement against the deployed code, so the proofs and the code cannot drift apart. These checks are not proofs; they are drift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Show the extension live if the review allows: paste text, press Ctrl+Enter, watch claims stream in. Left: real screenshot from our end-to-end run in real Chrome, with a stub backend so the output is deterministic. The demo claims show all three states: backed up, could not be checked because the search budget was used up, and no sources found. The last two are different states on purpose. Tests: backend 117, extension unit 44, and the real-Chrome end-to-end run. Live verdicts with the real model need OpenRouter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Same 100 claims for every variant; they come from the FEVER development split, balanced, seed 42. The baseline OpenAlex run scored 100 of 150 sampled claims because the anonymous OpenAlex budget ran out, so all variants are reported on those 100. Read the matrices by row. Pooled with Wikipedia gets the SUPPORTS and REFUTES rows mostly right but puts 25 of 31 NEI claims in REFUTES. The stance variant spreads NEI correctly but loses REFUTES: 13 of 36 called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Overall accuracy is flat, between 51 and 55 percent, and the intervals overlap heavily; with 100 claims that is about plus or minus 10 points. The interesting differences are in the decisive claims and in abstention. Wikipedia retrieval lifts decisive accuracy from 66.7 to 79.7, but the paired test gives p = 0.064, so we call it suggestive, and FEVER is built from Wikipedia so a Wikipedia retriever is expected to help. The pooled score never says not enough info; the per-source variant does 61 percent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Left: the paired comparisons, which are the fair way to compare variants on the same claims. Only one passes the Bonferroni threshold: the first stance prompt is worse than the pooled score on decisive claims. Wikipedia against OpenAlex is suggestive but not significant. Right: a design comparison with the two closest related methods. We do not claim better accuracy than them; we did not run them on the same data. The claim is about design: external evidence, claim-level unit, verdict with a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Three findings, one admission. Retrieval source mattered; the pooled score cannot abstain; the first per-source prompt abstains but is worse on decisive claims. We inspected the 13 refuted claims called supported and found two causes that were ours: the stance call saw the normalised claim, and the prompt was too lenient. We fixed both and added a regression test, but a re-run on a fresh sample was cut off when the API account ran out of credit, so we draw no conclusion about the corrected prompt and keep pooled as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One-sentence conclusion first. Then be direct about the limits: small sample, Wikipedia-derived benchmark, corrected prompt not evaluated, cross-model audit built and tested but not run because of API credit. Next steps are concrete. Invite questions. Likely questions: why FEVER, why not a bigger sample, why keep the density score, how are quotes verified. Answers are in the paper: Sections 4, 5 and 6 and the Limitations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Synthetic Silence 2.0  |  Research Implementation Review 1</a:t>
            </a:r>
            <a:endParaRPr lang="en-US" sz="10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686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731520"/>
            <a:ext cx="6949440" cy="320040"/>
          </a:xfrm>
          <a:prstGeom prst="rect">
            <a:avLst/>
          </a:prstGeom>
          <a:noFill/>
          <a:ln/>
        </p:spPr>
        <p:txBody>
          <a:bodyPr wrap="square" lIns="0" tIns="0" rIns="0" bIns="0" rtlCol="0" anchor="t"/>
          <a:lstStyle/>
          <a:p>
            <a:pPr indent="0" marL="0">
              <a:buNone/>
            </a:pPr>
            <a:r>
              <a:rPr lang="en-US" sz="1400" b="1" spc="400" kern="0" dirty="0">
                <a:solidFill>
                  <a:schemeClr val="accent1"/>
                </a:solidFill>
              </a:rPr>
              <a:t>RESEARCH IMPLEMENTATION REVIEW 1</a:t>
            </a:r>
            <a:endParaRPr lang="en-US" sz="1400" dirty="0"/>
          </a:p>
        </p:txBody>
      </p:sp>
      <p:sp>
        <p:nvSpPr>
          <p:cNvPr id="3" name="Text 1"/>
          <p:cNvSpPr txBox="1"/>
          <p:nvPr/>
        </p:nvSpPr>
        <p:spPr>
          <a:xfrm>
            <a:off x="640080" y="1280160"/>
            <a:ext cx="7132320" cy="1005840"/>
          </a:xfrm>
          <a:prstGeom prst="rect">
            <a:avLst/>
          </a:prstGeom>
          <a:noFill/>
          <a:ln/>
        </p:spPr>
        <p:txBody>
          <a:bodyPr wrap="square" lIns="0" tIns="0" rIns="0" bIns="0" rtlCol="0" anchor="ctr"/>
          <a:lstStyle/>
          <a:p>
            <a:pPr indent="0" marL="0">
              <a:buNone/>
            </a:pPr>
            <a:r>
              <a:rPr lang="en-US" sz="5400" b="1" dirty="0">
                <a:solidFill>
                  <a:schemeClr val="bg1"/>
                </a:solidFill>
                <a:latin typeface="+mj-lt" pitchFamily="34" charset="0"/>
                <a:ea typeface="+mj-lt" pitchFamily="34" charset="-122"/>
                <a:cs typeface="+mj-lt" pitchFamily="34" charset="-120"/>
              </a:rPr>
              <a:t>Synthetic Silence 2.0</a:t>
            </a:r>
            <a:endParaRPr lang="en-US" sz="5400" dirty="0"/>
          </a:p>
        </p:txBody>
      </p:sp>
      <p:sp>
        <p:nvSpPr>
          <p:cNvPr id="4" name="Text 2"/>
          <p:cNvSpPr txBox="1"/>
          <p:nvPr/>
        </p:nvSpPr>
        <p:spPr>
          <a:xfrm>
            <a:off x="640080" y="2468880"/>
            <a:ext cx="6949440" cy="1371600"/>
          </a:xfrm>
          <a:prstGeom prst="rect">
            <a:avLst/>
          </a:prstGeom>
          <a:noFill/>
          <a:ln/>
        </p:spPr>
        <p:txBody>
          <a:bodyPr wrap="square" lIns="0" tIns="0" rIns="0" bIns="0" rtlCol="0" anchor="t"/>
          <a:lstStyle/>
          <a:p>
            <a:pPr indent="0" marL="0">
              <a:buNone/>
            </a:pPr>
            <a:r>
              <a:rPr lang="en-US" sz="2200" dirty="0">
                <a:solidFill>
                  <a:schemeClr val="bg2"/>
                </a:solidFill>
              </a:rPr>
              <a:t>Auditing language-model answers against sources: deterministic verdict rules, provable properties, and a validation on FEVER</a:t>
            </a:r>
            <a:endParaRPr lang="en-US" sz="2200" dirty="0"/>
          </a:p>
        </p:txBody>
      </p:sp>
      <p:sp>
        <p:nvSpPr>
          <p:cNvPr id="5" name="Text 3"/>
          <p:cNvSpPr txBox="1"/>
          <p:nvPr/>
        </p:nvSpPr>
        <p:spPr>
          <a:xfrm>
            <a:off x="640080" y="4754880"/>
            <a:ext cx="6949440" cy="914400"/>
          </a:xfrm>
          <a:prstGeom prst="rect">
            <a:avLst/>
          </a:prstGeom>
          <a:noFill/>
          <a:ln/>
        </p:spPr>
        <p:txBody>
          <a:bodyPr wrap="square" lIns="0" tIns="0" rIns="0" bIns="0" rtlCol="0" anchor="t"/>
          <a:lstStyle/>
          <a:p>
            <a:pPr indent="0" marL="0">
              <a:buNone/>
            </a:pPr>
            <a:r>
              <a:rPr lang="en-US" sz="2000" b="1" dirty="0">
                <a:solidFill>
                  <a:schemeClr val="bg1"/>
                </a:solidFill>
              </a:rPr>
              <a:t>Piush Kole  |  Thrilok M</a:t>
            </a:r>
            <a:endParaRPr lang="en-US" sz="1400" dirty="0"/>
          </a:p>
          <a:p>
            <a:pPr indent="0" marL="0">
              <a:buNone/>
            </a:pPr>
            <a:r>
              <a:rPr lang="en-US" sz="1600" dirty="0">
                <a:solidFill>
                  <a:schemeClr val="bg2"/>
                </a:solidFill>
              </a:rPr>
              <a:t>Department of Computer Science, Christ University</a:t>
            </a:r>
            <a:endParaRPr lang="en-US" sz="1400" dirty="0"/>
          </a:p>
        </p:txBody>
      </p:sp>
      <p:sp>
        <p:nvSpPr>
          <p:cNvPr id="6" name="chip supported"/>
          <p:cNvSpPr/>
          <p:nvPr/>
        </p:nvSpPr>
        <p:spPr>
          <a:xfrm>
            <a:off x="640080" y="4069080"/>
            <a:ext cx="1371600" cy="365760"/>
          </a:xfrm>
          <a:prstGeom prst="roundRect">
            <a:avLst>
              <a:gd name="adj" fmla="val 50000"/>
            </a:avLst>
          </a:prstGeom>
          <a:solidFill>
            <a:schemeClr val="accent1"/>
          </a:solidFill>
          <a:ln w="12700">
            <a:solidFill>
              <a:schemeClr val="accent1"/>
            </a:solidFill>
            <a:prstDash val="solid"/>
          </a:ln>
        </p:spPr>
      </p:sp>
      <p:sp>
        <p:nvSpPr>
          <p:cNvPr id="7" name="Text 5"/>
          <p:cNvSpPr txBox="1"/>
          <p:nvPr/>
        </p:nvSpPr>
        <p:spPr>
          <a:xfrm>
            <a:off x="640080" y="4069080"/>
            <a:ext cx="1371600" cy="365760"/>
          </a:xfrm>
          <a:prstGeom prst="rect">
            <a:avLst/>
          </a:prstGeom>
          <a:noFill/>
          <a:ln/>
        </p:spPr>
        <p:txBody>
          <a:bodyPr wrap="square" lIns="0" tIns="0" rIns="0" bIns="0" rtlCol="0" anchor="ctr"/>
          <a:lstStyle/>
          <a:p>
            <a:pPr algn="ctr" indent="0" marL="0">
              <a:buNone/>
            </a:pPr>
            <a:r>
              <a:rPr lang="en-US" sz="1400" b="1" dirty="0">
                <a:solidFill>
                  <a:schemeClr val="bg1"/>
                </a:solidFill>
              </a:rPr>
              <a:t>supported</a:t>
            </a:r>
            <a:endParaRPr lang="en-US" sz="1400" dirty="0"/>
          </a:p>
        </p:txBody>
      </p:sp>
      <p:sp>
        <p:nvSpPr>
          <p:cNvPr id="8" name="chip refuted"/>
          <p:cNvSpPr/>
          <p:nvPr/>
        </p:nvSpPr>
        <p:spPr>
          <a:xfrm>
            <a:off x="2121408" y="4069080"/>
            <a:ext cx="1371600" cy="365760"/>
          </a:xfrm>
          <a:prstGeom prst="roundRect">
            <a:avLst>
              <a:gd name="adj" fmla="val 50000"/>
            </a:avLst>
          </a:prstGeom>
          <a:solidFill>
            <a:schemeClr val="accent3"/>
          </a:solidFill>
          <a:ln w="12700">
            <a:solidFill>
              <a:schemeClr val="accent3"/>
            </a:solidFill>
            <a:prstDash val="solid"/>
          </a:ln>
        </p:spPr>
      </p:sp>
      <p:sp>
        <p:nvSpPr>
          <p:cNvPr id="9" name="Text 7"/>
          <p:cNvSpPr txBox="1"/>
          <p:nvPr/>
        </p:nvSpPr>
        <p:spPr>
          <a:xfrm>
            <a:off x="2121408" y="4069080"/>
            <a:ext cx="1371600" cy="365760"/>
          </a:xfrm>
          <a:prstGeom prst="rect">
            <a:avLst/>
          </a:prstGeom>
          <a:noFill/>
          <a:ln/>
        </p:spPr>
        <p:txBody>
          <a:bodyPr wrap="square" lIns="0" tIns="0" rIns="0" bIns="0" rtlCol="0" anchor="ctr"/>
          <a:lstStyle/>
          <a:p>
            <a:pPr algn="ctr" indent="0" marL="0">
              <a:buNone/>
            </a:pPr>
            <a:r>
              <a:rPr lang="en-US" sz="1400" b="1" dirty="0">
                <a:solidFill>
                  <a:schemeClr val="bg1"/>
                </a:solidFill>
              </a:rPr>
              <a:t>refuted</a:t>
            </a:r>
            <a:endParaRPr lang="en-US" sz="1400" dirty="0"/>
          </a:p>
        </p:txBody>
      </p:sp>
      <p:sp>
        <p:nvSpPr>
          <p:cNvPr id="10" name="chip mixed"/>
          <p:cNvSpPr/>
          <p:nvPr/>
        </p:nvSpPr>
        <p:spPr>
          <a:xfrm>
            <a:off x="3602736" y="4069080"/>
            <a:ext cx="1371600" cy="365760"/>
          </a:xfrm>
          <a:prstGeom prst="roundRect">
            <a:avLst>
              <a:gd name="adj" fmla="val 50000"/>
            </a:avLst>
          </a:prstGeom>
          <a:solidFill>
            <a:schemeClr val="accent2"/>
          </a:solidFill>
          <a:ln w="12700">
            <a:solidFill>
              <a:schemeClr val="accent2"/>
            </a:solidFill>
            <a:prstDash val="solid"/>
          </a:ln>
        </p:spPr>
      </p:sp>
      <p:sp>
        <p:nvSpPr>
          <p:cNvPr id="11" name="Text 9"/>
          <p:cNvSpPr txBox="1"/>
          <p:nvPr/>
        </p:nvSpPr>
        <p:spPr>
          <a:xfrm>
            <a:off x="3602736" y="4069080"/>
            <a:ext cx="1371600" cy="365760"/>
          </a:xfrm>
          <a:prstGeom prst="rect">
            <a:avLst/>
          </a:prstGeom>
          <a:noFill/>
          <a:ln/>
        </p:spPr>
        <p:txBody>
          <a:bodyPr wrap="square" lIns="0" tIns="0" rIns="0" bIns="0" rtlCol="0" anchor="ctr"/>
          <a:lstStyle/>
          <a:p>
            <a:pPr algn="ctr" indent="0" marL="0">
              <a:buNone/>
            </a:pPr>
            <a:r>
              <a:rPr lang="en-US" sz="1400" b="1" dirty="0">
                <a:solidFill>
                  <a:schemeClr val="bg1"/>
                </a:solidFill>
              </a:rPr>
              <a:t>mixed</a:t>
            </a:r>
            <a:endParaRPr lang="en-US" sz="1400" dirty="0"/>
          </a:p>
        </p:txBody>
      </p:sp>
      <p:sp>
        <p:nvSpPr>
          <p:cNvPr id="12" name="chip insufficient"/>
          <p:cNvSpPr/>
          <p:nvPr/>
        </p:nvSpPr>
        <p:spPr>
          <a:xfrm>
            <a:off x="5084064" y="4069080"/>
            <a:ext cx="1371600" cy="365760"/>
          </a:xfrm>
          <a:prstGeom prst="roundRect">
            <a:avLst>
              <a:gd name="adj" fmla="val 50000"/>
            </a:avLst>
          </a:prstGeom>
          <a:solidFill>
            <a:schemeClr val="accent4"/>
          </a:solidFill>
          <a:ln w="12700">
            <a:solidFill>
              <a:schemeClr val="accent4"/>
            </a:solidFill>
            <a:prstDash val="solid"/>
          </a:ln>
        </p:spPr>
      </p:sp>
      <p:sp>
        <p:nvSpPr>
          <p:cNvPr id="13" name="Text 11"/>
          <p:cNvSpPr txBox="1"/>
          <p:nvPr/>
        </p:nvSpPr>
        <p:spPr>
          <a:xfrm>
            <a:off x="5084064" y="4069080"/>
            <a:ext cx="1371600" cy="365760"/>
          </a:xfrm>
          <a:prstGeom prst="rect">
            <a:avLst/>
          </a:prstGeom>
          <a:noFill/>
          <a:ln/>
        </p:spPr>
        <p:txBody>
          <a:bodyPr wrap="square" lIns="0" tIns="0" rIns="0" bIns="0" rtlCol="0" anchor="ctr"/>
          <a:lstStyle/>
          <a:p>
            <a:pPr algn="ctr" indent="0" marL="0">
              <a:buNone/>
            </a:pPr>
            <a:r>
              <a:rPr lang="en-US" sz="1400" b="1" dirty="0">
                <a:solidFill>
                  <a:schemeClr val="bg1"/>
                </a:solidFill>
              </a:rPr>
              <a:t>insufficient</a:t>
            </a:r>
            <a:endParaRPr lang="en-US" sz="1400" dirty="0"/>
          </a:p>
        </p:txBody>
      </p:sp>
      <p:sp>
        <p:nvSpPr>
          <p:cNvPr id="14" name="screenshot frame"/>
          <p:cNvSpPr/>
          <p:nvPr/>
        </p:nvSpPr>
        <p:spPr>
          <a:xfrm>
            <a:off x="8183880" y="868680"/>
            <a:ext cx="3456432" cy="5074920"/>
          </a:xfrm>
          <a:prstGeom prst="roundRect">
            <a:avLst>
              <a:gd name="adj" fmla="val 3175"/>
            </a:avLst>
          </a:prstGeom>
          <a:solidFill>
            <a:schemeClr val="bg2"/>
          </a:solidFill>
          <a:ln w="25400">
            <a:solidFill>
              <a:schemeClr val="accent1"/>
            </a:solidFill>
            <a:prstDash val="solid"/>
          </a:ln>
        </p:spPr>
      </p:sp>
      <p:pic>
        <p:nvPicPr>
          <p:cNvPr id="15" name="extension screenshot" descr="Claim card in the extension showing a verdict meter and sources">    </p:cNvPr>
          <p:cNvPicPr>
            <a:picLocks noChangeAspect="1"/>
          </p:cNvPicPr>
          <p:nvPr/>
        </p:nvPicPr>
        <p:blipFill>
          <a:blip r:embed="rId1"/>
          <a:stretch>
            <a:fillRect/>
          </a:stretch>
        </p:blipFill>
        <p:spPr>
          <a:xfrm>
            <a:off x="8275320" y="960120"/>
            <a:ext cx="3273552" cy="4443984"/>
          </a:xfrm>
          <a:prstGeom prst="rect">
            <a:avLst/>
          </a:prstGeom>
        </p:spPr>
      </p:pic>
      <p:sp>
        <p:nvSpPr>
          <p:cNvPr id="16" name="Text 13"/>
          <p:cNvSpPr txBox="1"/>
          <p:nvPr/>
        </p:nvSpPr>
        <p:spPr>
          <a:xfrm>
            <a:off x="8275320" y="5486400"/>
            <a:ext cx="3273552" cy="320040"/>
          </a:xfrm>
          <a:prstGeom prst="rect">
            <a:avLst/>
          </a:prstGeom>
          <a:noFill/>
          <a:ln/>
        </p:spPr>
        <p:txBody>
          <a:bodyPr wrap="square" lIns="0" tIns="0" rIns="0" bIns="0" rtlCol="0" anchor="t"/>
          <a:lstStyle/>
          <a:p>
            <a:pPr algn="ctr" indent="0" marL="0">
              <a:buNone/>
            </a:pPr>
            <a:r>
              <a:rPr lang="en-US" sz="1200" dirty="0">
                <a:solidFill>
                  <a:schemeClr val="accent4"/>
                </a:solidFill>
              </a:rPr>
              <a:t>Real Chrome run, demo data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People read LLM answers with no way to check them</a:t>
            </a:r>
            <a:endParaRPr lang="en-US" sz="3000" dirty="0"/>
          </a:p>
        </p:txBody>
      </p:sp>
      <p:sp>
        <p:nvSpPr>
          <p:cNvPr id="3" name="problem card 1"/>
          <p:cNvSpPr/>
          <p:nvPr/>
        </p:nvSpPr>
        <p:spPr>
          <a:xfrm>
            <a:off x="548640" y="1463040"/>
            <a:ext cx="3566160" cy="2834640"/>
          </a:xfrm>
          <a:prstGeom prst="roundRect">
            <a:avLst>
              <a:gd name="adj" fmla="val 2581"/>
            </a:avLst>
          </a:prstGeom>
          <a:solidFill>
            <a:schemeClr val="bg2"/>
          </a:solidFill>
          <a:ln w="12700">
            <a:solidFill>
              <a:schemeClr val="bg2"/>
            </a:solidFill>
            <a:prstDash val="solid"/>
          </a:ln>
        </p:spPr>
      </p:sp>
      <p:sp>
        <p:nvSpPr>
          <p:cNvPr id="4" name="Fluent and specific circle"/>
          <p:cNvSpPr/>
          <p:nvPr/>
        </p:nvSpPr>
        <p:spPr>
          <a:xfrm>
            <a:off x="822960" y="1737360"/>
            <a:ext cx="685800" cy="685800"/>
          </a:xfrm>
          <a:prstGeom prst="ellipse">
            <a:avLst/>
          </a:prstGeom>
          <a:solidFill>
            <a:schemeClr val="accent1"/>
          </a:solidFill>
          <a:ln w="12700">
            <a:solidFill>
              <a:schemeClr val="accent1"/>
            </a:solidFill>
            <a:prstDash val="solid"/>
          </a:ln>
        </p:spPr>
      </p:sp>
      <p:pic>
        <p:nvPicPr>
          <p:cNvPr id="5" name="Fluent and specific icon" descr="Fluent and specific">    </p:cNvPr>
          <p:cNvPicPr>
            <a:picLocks noChangeAspect="1"/>
          </p:cNvPicPr>
          <p:nvPr/>
        </p:nvPicPr>
        <p:blipFill>
          <a:blip r:embed="rId1"/>
          <a:stretch>
            <a:fillRect/>
          </a:stretch>
        </p:blipFill>
        <p:spPr>
          <a:xfrm>
            <a:off x="973836" y="1888236"/>
            <a:ext cx="384048" cy="384048"/>
          </a:xfrm>
          <a:prstGeom prst="rect">
            <a:avLst/>
          </a:prstGeom>
        </p:spPr>
      </p:pic>
      <p:sp>
        <p:nvSpPr>
          <p:cNvPr id="6" name="Text 3"/>
          <p:cNvSpPr txBox="1"/>
          <p:nvPr/>
        </p:nvSpPr>
        <p:spPr>
          <a:xfrm>
            <a:off x="822960" y="2606040"/>
            <a:ext cx="3017520" cy="411480"/>
          </a:xfrm>
          <a:prstGeom prst="rect">
            <a:avLst/>
          </a:prstGeom>
          <a:noFill/>
          <a:ln/>
        </p:spPr>
        <p:txBody>
          <a:bodyPr wrap="square" lIns="0" tIns="0" rIns="0" bIns="0" rtlCol="0" anchor="t"/>
          <a:lstStyle/>
          <a:p>
            <a:pPr indent="0" marL="0">
              <a:buNone/>
            </a:pPr>
            <a:r>
              <a:rPr lang="en-US" sz="2000" b="1" dirty="0">
                <a:solidFill>
                  <a:schemeClr val="tx1"/>
                </a:solidFill>
              </a:rPr>
              <a:t>Fluent and specific</a:t>
            </a:r>
            <a:endParaRPr lang="en-US" sz="2000" dirty="0"/>
          </a:p>
        </p:txBody>
      </p:sp>
      <p:sp>
        <p:nvSpPr>
          <p:cNvPr id="7" name="Text 4"/>
          <p:cNvSpPr txBox="1"/>
          <p:nvPr/>
        </p:nvSpPr>
        <p:spPr>
          <a:xfrm>
            <a:off x="822960" y="3063240"/>
            <a:ext cx="3017520" cy="1188720"/>
          </a:xfrm>
          <a:prstGeom prst="rect">
            <a:avLst/>
          </a:prstGeom>
          <a:noFill/>
          <a:ln/>
        </p:spPr>
        <p:txBody>
          <a:bodyPr wrap="square" lIns="0" tIns="0" rIns="0" bIns="0" rtlCol="0" anchor="t"/>
          <a:lstStyle/>
          <a:p>
            <a:pPr indent="0" marL="0">
              <a:buNone/>
            </a:pPr>
            <a:r>
              <a:rPr lang="en-US" sz="1500" dirty="0">
                <a:solidFill>
                  <a:schemeClr val="tx1"/>
                </a:solidFill>
              </a:rPr>
              <a:t>Names, dates and figures make an invented fact look like a recalled one.</a:t>
            </a:r>
            <a:endParaRPr lang="en-US" sz="1500" dirty="0"/>
          </a:p>
        </p:txBody>
      </p:sp>
      <p:sp>
        <p:nvSpPr>
          <p:cNvPr id="8" name="problem card 2"/>
          <p:cNvSpPr/>
          <p:nvPr/>
        </p:nvSpPr>
        <p:spPr>
          <a:xfrm>
            <a:off x="4297680" y="1463040"/>
            <a:ext cx="3566160" cy="2834640"/>
          </a:xfrm>
          <a:prstGeom prst="roundRect">
            <a:avLst>
              <a:gd name="adj" fmla="val 2581"/>
            </a:avLst>
          </a:prstGeom>
          <a:solidFill>
            <a:schemeClr val="bg2"/>
          </a:solidFill>
          <a:ln w="12700">
            <a:solidFill>
              <a:schemeClr val="bg2"/>
            </a:solidFill>
            <a:prstDash val="solid"/>
          </a:ln>
        </p:spPr>
      </p:sp>
      <p:sp>
        <p:nvSpPr>
          <p:cNvPr id="9" name="No marker circle"/>
          <p:cNvSpPr/>
          <p:nvPr/>
        </p:nvSpPr>
        <p:spPr>
          <a:xfrm>
            <a:off x="4572000" y="1737360"/>
            <a:ext cx="685800" cy="685800"/>
          </a:xfrm>
          <a:prstGeom prst="ellipse">
            <a:avLst/>
          </a:prstGeom>
          <a:solidFill>
            <a:schemeClr val="accent2"/>
          </a:solidFill>
          <a:ln w="12700">
            <a:solidFill>
              <a:schemeClr val="accent2"/>
            </a:solidFill>
            <a:prstDash val="solid"/>
          </a:ln>
        </p:spPr>
      </p:sp>
      <p:pic>
        <p:nvPicPr>
          <p:cNvPr id="10" name="No marker icon" descr="No marker">    </p:cNvPr>
          <p:cNvPicPr>
            <a:picLocks noChangeAspect="1"/>
          </p:cNvPicPr>
          <p:nvPr/>
        </p:nvPicPr>
        <p:blipFill>
          <a:blip r:embed="rId2"/>
          <a:stretch>
            <a:fillRect/>
          </a:stretch>
        </p:blipFill>
        <p:spPr>
          <a:xfrm>
            <a:off x="4722876" y="1888236"/>
            <a:ext cx="384048" cy="384048"/>
          </a:xfrm>
          <a:prstGeom prst="rect">
            <a:avLst/>
          </a:prstGeom>
        </p:spPr>
      </p:pic>
      <p:sp>
        <p:nvSpPr>
          <p:cNvPr id="11" name="Text 7"/>
          <p:cNvSpPr txBox="1"/>
          <p:nvPr/>
        </p:nvSpPr>
        <p:spPr>
          <a:xfrm>
            <a:off x="4572000" y="2606040"/>
            <a:ext cx="3017520" cy="411480"/>
          </a:xfrm>
          <a:prstGeom prst="rect">
            <a:avLst/>
          </a:prstGeom>
          <a:noFill/>
          <a:ln/>
        </p:spPr>
        <p:txBody>
          <a:bodyPr wrap="square" lIns="0" tIns="0" rIns="0" bIns="0" rtlCol="0" anchor="t"/>
          <a:lstStyle/>
          <a:p>
            <a:pPr indent="0" marL="0">
              <a:buNone/>
            </a:pPr>
            <a:r>
              <a:rPr lang="en-US" sz="2000" b="1" dirty="0">
                <a:solidFill>
                  <a:schemeClr val="tx1"/>
                </a:solidFill>
              </a:rPr>
              <a:t>No marker</a:t>
            </a:r>
            <a:endParaRPr lang="en-US" sz="2000" dirty="0"/>
          </a:p>
        </p:txBody>
      </p:sp>
      <p:sp>
        <p:nvSpPr>
          <p:cNvPr id="12" name="Text 8"/>
          <p:cNvSpPr txBox="1"/>
          <p:nvPr/>
        </p:nvSpPr>
        <p:spPr>
          <a:xfrm>
            <a:off x="4572000" y="3063240"/>
            <a:ext cx="3017520" cy="1188720"/>
          </a:xfrm>
          <a:prstGeom prst="rect">
            <a:avLst/>
          </a:prstGeom>
          <a:noFill/>
          <a:ln/>
        </p:spPr>
        <p:txBody>
          <a:bodyPr wrap="square" lIns="0" tIns="0" rIns="0" bIns="0" rtlCol="0" anchor="t"/>
          <a:lstStyle/>
          <a:p>
            <a:pPr indent="0" marL="0">
              <a:buNone/>
            </a:pPr>
            <a:r>
              <a:rPr lang="en-US" sz="1500" dirty="0">
                <a:solidFill>
                  <a:schemeClr val="tx1"/>
                </a:solidFill>
              </a:rPr>
              <a:t>A reader cannot tell recall from invention. Larger models can repeat common misconceptions more often (Lin et al., 2022).</a:t>
            </a:r>
            <a:endParaRPr lang="en-US" sz="1500" dirty="0"/>
          </a:p>
        </p:txBody>
      </p:sp>
      <p:sp>
        <p:nvSpPr>
          <p:cNvPr id="13" name="problem card 3"/>
          <p:cNvSpPr/>
          <p:nvPr/>
        </p:nvSpPr>
        <p:spPr>
          <a:xfrm>
            <a:off x="8046720" y="1463040"/>
            <a:ext cx="3566160" cy="2834640"/>
          </a:xfrm>
          <a:prstGeom prst="roundRect">
            <a:avLst>
              <a:gd name="adj" fmla="val 2581"/>
            </a:avLst>
          </a:prstGeom>
          <a:solidFill>
            <a:schemeClr val="bg2"/>
          </a:solidFill>
          <a:ln w="12700">
            <a:solidFill>
              <a:schemeClr val="bg2"/>
            </a:solidFill>
            <a:prstDash val="solid"/>
          </a:ln>
        </p:spPr>
      </p:sp>
      <p:sp>
        <p:nvSpPr>
          <p:cNvPr id="14" name="Silence on failure circle"/>
          <p:cNvSpPr/>
          <p:nvPr/>
        </p:nvSpPr>
        <p:spPr>
          <a:xfrm>
            <a:off x="8321040" y="1737360"/>
            <a:ext cx="685800" cy="685800"/>
          </a:xfrm>
          <a:prstGeom prst="ellipse">
            <a:avLst/>
          </a:prstGeom>
          <a:solidFill>
            <a:schemeClr val="accent3"/>
          </a:solidFill>
          <a:ln w="12700">
            <a:solidFill>
              <a:schemeClr val="accent3"/>
            </a:solidFill>
            <a:prstDash val="solid"/>
          </a:ln>
        </p:spPr>
      </p:sp>
      <p:pic>
        <p:nvPicPr>
          <p:cNvPr id="15" name="Silence on failure icon" descr="Silence on failure">    </p:cNvPr>
          <p:cNvPicPr>
            <a:picLocks noChangeAspect="1"/>
          </p:cNvPicPr>
          <p:nvPr/>
        </p:nvPicPr>
        <p:blipFill>
          <a:blip r:embed="rId3"/>
          <a:stretch>
            <a:fillRect/>
          </a:stretch>
        </p:blipFill>
        <p:spPr>
          <a:xfrm>
            <a:off x="8471916" y="1888236"/>
            <a:ext cx="384048" cy="384048"/>
          </a:xfrm>
          <a:prstGeom prst="rect">
            <a:avLst/>
          </a:prstGeom>
        </p:spPr>
      </p:pic>
      <p:sp>
        <p:nvSpPr>
          <p:cNvPr id="16" name="Text 11"/>
          <p:cNvSpPr txBox="1"/>
          <p:nvPr/>
        </p:nvSpPr>
        <p:spPr>
          <a:xfrm>
            <a:off x="8321040" y="2606040"/>
            <a:ext cx="3017520" cy="411480"/>
          </a:xfrm>
          <a:prstGeom prst="rect">
            <a:avLst/>
          </a:prstGeom>
          <a:noFill/>
          <a:ln/>
        </p:spPr>
        <p:txBody>
          <a:bodyPr wrap="square" lIns="0" tIns="0" rIns="0" bIns="0" rtlCol="0" anchor="t"/>
          <a:lstStyle/>
          <a:p>
            <a:pPr indent="0" marL="0">
              <a:buNone/>
            </a:pPr>
            <a:r>
              <a:rPr lang="en-US" sz="2000" b="1" dirty="0">
                <a:solidFill>
                  <a:schemeClr val="tx1"/>
                </a:solidFill>
              </a:rPr>
              <a:t>Silence on failure</a:t>
            </a:r>
            <a:endParaRPr lang="en-US" sz="2000" dirty="0"/>
          </a:p>
        </p:txBody>
      </p:sp>
      <p:sp>
        <p:nvSpPr>
          <p:cNvPr id="17" name="Text 12"/>
          <p:cNvSpPr txBox="1"/>
          <p:nvPr/>
        </p:nvSpPr>
        <p:spPr>
          <a:xfrm>
            <a:off x="8321040" y="3063240"/>
            <a:ext cx="3017520" cy="1188720"/>
          </a:xfrm>
          <a:prstGeom prst="rect">
            <a:avLst/>
          </a:prstGeom>
          <a:noFill/>
          <a:ln/>
        </p:spPr>
        <p:txBody>
          <a:bodyPr wrap="square" lIns="0" tIns="0" rIns="0" bIns="0" rtlCol="0" anchor="t"/>
          <a:lstStyle/>
          <a:p>
            <a:pPr indent="0" marL="0">
              <a:buNone/>
            </a:pPr>
            <a:r>
              <a:rPr lang="en-US" sz="1500" dirty="0">
                <a:solidFill>
                  <a:schemeClr val="tx1"/>
                </a:solidFill>
              </a:rPr>
              <a:t>A failed search, a missing source and a disagreeing source must not look like the same outcome.</a:t>
            </a:r>
            <a:endParaRPr lang="en-US" sz="1500" dirty="0"/>
          </a:p>
        </p:txBody>
      </p:sp>
      <p:sp>
        <p:nvSpPr>
          <p:cNvPr id="18" name="problem statement"/>
          <p:cNvSpPr/>
          <p:nvPr/>
        </p:nvSpPr>
        <p:spPr>
          <a:xfrm>
            <a:off x="548640" y="4572000"/>
            <a:ext cx="11064240" cy="1463040"/>
          </a:xfrm>
          <a:prstGeom prst="roundRect">
            <a:avLst>
              <a:gd name="adj" fmla="val 5000"/>
            </a:avLst>
          </a:prstGeom>
          <a:solidFill>
            <a:schemeClr val="tx1"/>
          </a:solidFill>
          <a:ln w="12700">
            <a:solidFill>
              <a:schemeClr val="tx1"/>
            </a:solidFill>
            <a:prstDash val="solid"/>
          </a:ln>
        </p:spPr>
      </p:sp>
      <p:sp>
        <p:nvSpPr>
          <p:cNvPr id="19" name="Text 14"/>
          <p:cNvSpPr txBox="1"/>
          <p:nvPr/>
        </p:nvSpPr>
        <p:spPr>
          <a:xfrm>
            <a:off x="868680" y="4754880"/>
            <a:ext cx="10424160" cy="1143000"/>
          </a:xfrm>
          <a:prstGeom prst="rect">
            <a:avLst/>
          </a:prstGeom>
          <a:noFill/>
          <a:ln/>
        </p:spPr>
        <p:txBody>
          <a:bodyPr wrap="square" lIns="0" tIns="0" rIns="0" bIns="0" rtlCol="0" anchor="ctr"/>
          <a:lstStyle/>
          <a:p>
            <a:pPr indent="0" marL="0">
              <a:buNone/>
            </a:pPr>
            <a:r>
              <a:rPr lang="en-US" sz="1400" b="1" dirty="0">
                <a:solidFill>
                  <a:schemeClr val="accent1"/>
                </a:solidFill>
              </a:rPr>
              <a:t>Problem statement</a:t>
            </a:r>
            <a:endParaRPr lang="en-US" sz="1400" dirty="0"/>
          </a:p>
          <a:p>
            <a:pPr indent="0" marL="0">
              <a:buNone/>
            </a:pPr>
            <a:r>
              <a:rPr lang="en-US" sz="2000" dirty="0">
                <a:solidFill>
                  <a:schemeClr val="bg1"/>
                </a:solidFill>
              </a:rPr>
              <a:t>Given an answer written by a language model, return one verdict per claim that a reader can trace to a quoted sentence in a source, and keep “no evidence” apart from “the check failed”.</a:t>
            </a:r>
            <a:endParaRPr lang="en-US" sz="14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Five objectives, each tied to something we can test</a:t>
            </a:r>
            <a:endParaRPr lang="en-US" sz="3000" dirty="0"/>
          </a:p>
        </p:txBody>
      </p:sp>
      <p:sp>
        <p:nvSpPr>
          <p:cNvPr id="3" name="objective number 1"/>
          <p:cNvSpPr/>
          <p:nvPr/>
        </p:nvSpPr>
        <p:spPr>
          <a:xfrm>
            <a:off x="548640" y="1536192"/>
            <a:ext cx="640080" cy="640080"/>
          </a:xfrm>
          <a:prstGeom prst="ellipse">
            <a:avLst/>
          </a:prstGeom>
          <a:solidFill>
            <a:schemeClr val="accent1"/>
          </a:solidFill>
          <a:ln w="12700">
            <a:solidFill>
              <a:schemeClr val="accent1"/>
            </a:solidFill>
            <a:prstDash val="solid"/>
          </a:ln>
        </p:spPr>
      </p:sp>
      <p:sp>
        <p:nvSpPr>
          <p:cNvPr id="4" name="Text 2"/>
          <p:cNvSpPr txBox="1"/>
          <p:nvPr/>
        </p:nvSpPr>
        <p:spPr>
          <a:xfrm>
            <a:off x="548640" y="1536192"/>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Text 3"/>
          <p:cNvSpPr txBox="1"/>
          <p:nvPr/>
        </p:nvSpPr>
        <p:spPr>
          <a:xfrm>
            <a:off x="1417320" y="1463040"/>
            <a:ext cx="5669280" cy="822960"/>
          </a:xfrm>
          <a:prstGeom prst="rect">
            <a:avLst/>
          </a:prstGeom>
          <a:noFill/>
          <a:ln/>
        </p:spPr>
        <p:txBody>
          <a:bodyPr wrap="square" lIns="0" tIns="0" rIns="0" bIns="0" rtlCol="0" anchor="ctr"/>
          <a:lstStyle/>
          <a:p>
            <a:pPr indent="0" marL="0">
              <a:buNone/>
            </a:pPr>
            <a:r>
              <a:rPr lang="en-US" sz="1800" b="1" dirty="0">
                <a:solidFill>
                  <a:schemeClr val="tx1"/>
                </a:solidFill>
              </a:rPr>
              <a:t>Verdict procedure</a:t>
            </a:r>
            <a:endParaRPr lang="en-US" sz="1400" dirty="0"/>
          </a:p>
          <a:p>
            <a:pPr indent="0" marL="0">
              <a:buNone/>
            </a:pPr>
            <a:r>
              <a:rPr lang="en-US" sz="1500" dirty="0">
                <a:solidFill>
                  <a:schemeClr val="accent4"/>
                </a:solidFill>
              </a:rPr>
              <a:t>Per-source stances with a verbatim quote; five outcomes.</a:t>
            </a:r>
            <a:endParaRPr lang="en-US" sz="1400" dirty="0"/>
          </a:p>
        </p:txBody>
      </p:sp>
      <p:sp>
        <p:nvSpPr>
          <p:cNvPr id="6" name="objective number 2"/>
          <p:cNvSpPr/>
          <p:nvPr/>
        </p:nvSpPr>
        <p:spPr>
          <a:xfrm>
            <a:off x="548640" y="2487168"/>
            <a:ext cx="640080" cy="640080"/>
          </a:xfrm>
          <a:prstGeom prst="ellipse">
            <a:avLst/>
          </a:prstGeom>
          <a:solidFill>
            <a:schemeClr val="accent1"/>
          </a:solidFill>
          <a:ln w="12700">
            <a:solidFill>
              <a:schemeClr val="accent1"/>
            </a:solidFill>
            <a:prstDash val="solid"/>
          </a:ln>
        </p:spPr>
      </p:sp>
      <p:sp>
        <p:nvSpPr>
          <p:cNvPr id="7" name="Text 5"/>
          <p:cNvSpPr txBox="1"/>
          <p:nvPr/>
        </p:nvSpPr>
        <p:spPr>
          <a:xfrm>
            <a:off x="548640" y="2487168"/>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8" name="Text 6"/>
          <p:cNvSpPr txBox="1"/>
          <p:nvPr/>
        </p:nvSpPr>
        <p:spPr>
          <a:xfrm>
            <a:off x="1417320" y="2414016"/>
            <a:ext cx="5669280" cy="822960"/>
          </a:xfrm>
          <a:prstGeom prst="rect">
            <a:avLst/>
          </a:prstGeom>
          <a:noFill/>
          <a:ln/>
        </p:spPr>
        <p:txBody>
          <a:bodyPr wrap="square" lIns="0" tIns="0" rIns="0" bIns="0" rtlCol="0" anchor="ctr"/>
          <a:lstStyle/>
          <a:p>
            <a:pPr indent="0" marL="0">
              <a:buNone/>
            </a:pPr>
            <a:r>
              <a:rPr lang="en-US" sz="1800" b="1" dirty="0">
                <a:solidFill>
                  <a:schemeClr val="tx1"/>
                </a:solidFill>
              </a:rPr>
              <a:t>Provable properties</a:t>
            </a:r>
            <a:endParaRPr lang="en-US" sz="1400" dirty="0"/>
          </a:p>
          <a:p>
            <a:pPr indent="0" marL="0">
              <a:buNone/>
            </a:pPr>
            <a:r>
              <a:rPr lang="en-US" sz="1500" dirty="0">
                <a:solidFill>
                  <a:schemeClr val="accent4"/>
                </a:solidFill>
              </a:rPr>
              <a:t>Prove them for the rules and two earlier scores; check against the code.</a:t>
            </a:r>
            <a:endParaRPr lang="en-US" sz="1400" dirty="0"/>
          </a:p>
        </p:txBody>
      </p:sp>
      <p:sp>
        <p:nvSpPr>
          <p:cNvPr id="9" name="objective number 3"/>
          <p:cNvSpPr/>
          <p:nvPr/>
        </p:nvSpPr>
        <p:spPr>
          <a:xfrm>
            <a:off x="548640" y="3438144"/>
            <a:ext cx="640080" cy="640080"/>
          </a:xfrm>
          <a:prstGeom prst="ellipse">
            <a:avLst/>
          </a:prstGeom>
          <a:solidFill>
            <a:schemeClr val="accent1"/>
          </a:solidFill>
          <a:ln w="12700">
            <a:solidFill>
              <a:schemeClr val="accent1"/>
            </a:solidFill>
            <a:prstDash val="solid"/>
          </a:ln>
        </p:spPr>
      </p:sp>
      <p:sp>
        <p:nvSpPr>
          <p:cNvPr id="10" name="Text 8"/>
          <p:cNvSpPr txBox="1"/>
          <p:nvPr/>
        </p:nvSpPr>
        <p:spPr>
          <a:xfrm>
            <a:off x="548640" y="3438144"/>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1" name="Text 9"/>
          <p:cNvSpPr txBox="1"/>
          <p:nvPr/>
        </p:nvSpPr>
        <p:spPr>
          <a:xfrm>
            <a:off x="1417320" y="3364992"/>
            <a:ext cx="5669280" cy="822960"/>
          </a:xfrm>
          <a:prstGeom prst="rect">
            <a:avLst/>
          </a:prstGeom>
          <a:noFill/>
          <a:ln/>
        </p:spPr>
        <p:txBody>
          <a:bodyPr wrap="square" lIns="0" tIns="0" rIns="0" bIns="0" rtlCol="0" anchor="ctr"/>
          <a:lstStyle/>
          <a:p>
            <a:pPr indent="0" marL="0">
              <a:buNone/>
            </a:pPr>
            <a:r>
              <a:rPr lang="en-US" sz="1800" b="1" dirty="0">
                <a:solidFill>
                  <a:schemeClr val="tx1"/>
                </a:solidFill>
              </a:rPr>
              <a:t>Validation on FEVER</a:t>
            </a:r>
            <a:endParaRPr lang="en-US" sz="1400" dirty="0"/>
          </a:p>
          <a:p>
            <a:pPr indent="0" marL="0">
              <a:buNone/>
            </a:pPr>
            <a:r>
              <a:rPr lang="en-US" sz="1500" dirty="0">
                <a:solidFill>
                  <a:schemeClr val="accent4"/>
                </a:solidFill>
              </a:rPr>
              <a:t>Confusion matrices, Wilson intervals, paired exact tests.</a:t>
            </a:r>
            <a:endParaRPr lang="en-US" sz="1400" dirty="0"/>
          </a:p>
        </p:txBody>
      </p:sp>
      <p:sp>
        <p:nvSpPr>
          <p:cNvPr id="12" name="objective number 4"/>
          <p:cNvSpPr/>
          <p:nvPr/>
        </p:nvSpPr>
        <p:spPr>
          <a:xfrm>
            <a:off x="548640" y="4389120"/>
            <a:ext cx="640080" cy="640080"/>
          </a:xfrm>
          <a:prstGeom prst="ellipse">
            <a:avLst/>
          </a:prstGeom>
          <a:solidFill>
            <a:schemeClr val="accent1"/>
          </a:solidFill>
          <a:ln w="12700">
            <a:solidFill>
              <a:schemeClr val="accent1"/>
            </a:solidFill>
            <a:prstDash val="solid"/>
          </a:ln>
        </p:spPr>
      </p:sp>
      <p:sp>
        <p:nvSpPr>
          <p:cNvPr id="13" name="Text 11"/>
          <p:cNvSpPr txBox="1"/>
          <p:nvPr/>
        </p:nvSpPr>
        <p:spPr>
          <a:xfrm>
            <a:off x="548640" y="43891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4" name="Text 12"/>
          <p:cNvSpPr txBox="1"/>
          <p:nvPr/>
        </p:nvSpPr>
        <p:spPr>
          <a:xfrm>
            <a:off x="1417320" y="4315968"/>
            <a:ext cx="5669280" cy="822960"/>
          </a:xfrm>
          <a:prstGeom prst="rect">
            <a:avLst/>
          </a:prstGeom>
          <a:noFill/>
          <a:ln/>
        </p:spPr>
        <p:txBody>
          <a:bodyPr wrap="square" lIns="0" tIns="0" rIns="0" bIns="0" rtlCol="0" anchor="ctr"/>
          <a:lstStyle/>
          <a:p>
            <a:pPr indent="0" marL="0">
              <a:buNone/>
            </a:pPr>
            <a:r>
              <a:rPr lang="en-US" sz="1800" b="1" dirty="0">
                <a:solidFill>
                  <a:schemeClr val="tx1"/>
                </a:solidFill>
              </a:rPr>
              <a:t>Explicit failure</a:t>
            </a:r>
            <a:endParaRPr lang="en-US" sz="1400" dirty="0"/>
          </a:p>
          <a:p>
            <a:pPr indent="0" marL="0">
              <a:buNone/>
            </a:pPr>
            <a:r>
              <a:rPr lang="en-US" sz="1500" dirty="0">
                <a:solidFill>
                  <a:schemeClr val="accent4"/>
                </a:solidFill>
              </a:rPr>
              <a:t>An outage is an error for that claim, never “no sources”.</a:t>
            </a:r>
            <a:endParaRPr lang="en-US" sz="1400" dirty="0"/>
          </a:p>
        </p:txBody>
      </p:sp>
      <p:sp>
        <p:nvSpPr>
          <p:cNvPr id="15" name="objective number 5"/>
          <p:cNvSpPr/>
          <p:nvPr/>
        </p:nvSpPr>
        <p:spPr>
          <a:xfrm>
            <a:off x="548640" y="5340096"/>
            <a:ext cx="640080" cy="640080"/>
          </a:xfrm>
          <a:prstGeom prst="ellipse">
            <a:avLst/>
          </a:prstGeom>
          <a:solidFill>
            <a:schemeClr val="accent1"/>
          </a:solidFill>
          <a:ln w="12700">
            <a:solidFill>
              <a:schemeClr val="accent1"/>
            </a:solidFill>
            <a:prstDash val="solid"/>
          </a:ln>
        </p:spPr>
      </p:sp>
      <p:sp>
        <p:nvSpPr>
          <p:cNvPr id="16" name="Text 14"/>
          <p:cNvSpPr txBox="1"/>
          <p:nvPr/>
        </p:nvSpPr>
        <p:spPr>
          <a:xfrm>
            <a:off x="548640" y="5340096"/>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17" name="Text 15"/>
          <p:cNvSpPr txBox="1"/>
          <p:nvPr/>
        </p:nvSpPr>
        <p:spPr>
          <a:xfrm>
            <a:off x="1417320" y="5266944"/>
            <a:ext cx="5669280" cy="822960"/>
          </a:xfrm>
          <a:prstGeom prst="rect">
            <a:avLst/>
          </a:prstGeom>
          <a:noFill/>
          <a:ln/>
        </p:spPr>
        <p:txBody>
          <a:bodyPr wrap="square" lIns="0" tIns="0" rIns="0" bIns="0" rtlCol="0" anchor="ctr"/>
          <a:lstStyle/>
          <a:p>
            <a:pPr indent="0" marL="0">
              <a:buNone/>
            </a:pPr>
            <a:r>
              <a:rPr lang="en-US" sz="1800" b="1" dirty="0">
                <a:solidFill>
                  <a:schemeClr val="tx1"/>
                </a:solidFill>
              </a:rPr>
              <a:t>Working tool</a:t>
            </a:r>
            <a:endParaRPr lang="en-US" sz="1400" dirty="0"/>
          </a:p>
          <a:p>
            <a:pPr indent="0" marL="0">
              <a:buNone/>
            </a:pPr>
            <a:r>
              <a:rPr lang="en-US" sz="1500" dirty="0">
                <a:solidFill>
                  <a:schemeClr val="accent4"/>
                </a:solidFill>
              </a:rPr>
              <a:t>Chrome extension on a FastAPI backend, plus a cross-model audit protocol.</a:t>
            </a:r>
            <a:endParaRPr lang="en-US" sz="1400" dirty="0"/>
          </a:p>
        </p:txBody>
      </p:sp>
      <p:sp>
        <p:nvSpPr>
          <p:cNvPr id="18" name="research questions card"/>
          <p:cNvSpPr/>
          <p:nvPr/>
        </p:nvSpPr>
        <p:spPr>
          <a:xfrm>
            <a:off x="7498080" y="1463040"/>
            <a:ext cx="4114800" cy="4572000"/>
          </a:xfrm>
          <a:prstGeom prst="roundRect">
            <a:avLst>
              <a:gd name="adj" fmla="val 1778"/>
            </a:avLst>
          </a:prstGeom>
          <a:solidFill>
            <a:schemeClr val="tx1"/>
          </a:solidFill>
          <a:ln w="12700">
            <a:solidFill>
              <a:schemeClr val="tx1"/>
            </a:solidFill>
            <a:prstDash val="solid"/>
          </a:ln>
        </p:spPr>
      </p:sp>
      <p:sp>
        <p:nvSpPr>
          <p:cNvPr id="19" name="Text 17"/>
          <p:cNvSpPr txBox="1"/>
          <p:nvPr/>
        </p:nvSpPr>
        <p:spPr>
          <a:xfrm>
            <a:off x="7818120" y="1691640"/>
            <a:ext cx="3474720" cy="365760"/>
          </a:xfrm>
          <a:prstGeom prst="rect">
            <a:avLst/>
          </a:prstGeom>
          <a:noFill/>
          <a:ln/>
        </p:spPr>
        <p:txBody>
          <a:bodyPr wrap="square" lIns="0" tIns="0" rIns="0" bIns="0" rtlCol="0" anchor="t"/>
          <a:lstStyle/>
          <a:p>
            <a:pPr indent="0" marL="0">
              <a:buNone/>
            </a:pPr>
            <a:r>
              <a:rPr lang="en-US" sz="2000" b="1" dirty="0">
                <a:solidFill>
                  <a:schemeClr val="accent1"/>
                </a:solidFill>
              </a:rPr>
              <a:t>Research questions</a:t>
            </a:r>
            <a:endParaRPr lang="en-US" sz="2000" dirty="0"/>
          </a:p>
        </p:txBody>
      </p:sp>
      <p:sp>
        <p:nvSpPr>
          <p:cNvPr id="20" name="Text 18"/>
          <p:cNvSpPr txBox="1"/>
          <p:nvPr/>
        </p:nvSpPr>
        <p:spPr>
          <a:xfrm>
            <a:off x="7818120" y="2240280"/>
            <a:ext cx="3474720" cy="3566160"/>
          </a:xfrm>
          <a:prstGeom prst="rect">
            <a:avLst/>
          </a:prstGeom>
          <a:noFill/>
          <a:ln/>
        </p:spPr>
        <p:txBody>
          <a:bodyPr wrap="square" lIns="0" tIns="0" rIns="0" bIns="0" rtlCol="0" anchor="t"/>
          <a:lstStyle/>
          <a:p>
            <a:pPr indent="0" marL="0">
              <a:spcAft>
                <a:spcPts val="1200"/>
              </a:spcAft>
              <a:buNone/>
            </a:pPr>
            <a:r>
              <a:rPr lang="en-US" sz="1800" dirty="0">
                <a:solidFill>
                  <a:schemeClr val="bg1"/>
                </a:solidFill>
              </a:rPr>
              <a:t>RQ1  Does the retrieval source or the aggregation rule matter more for decisive claims?</a:t>
            </a:r>
            <a:endParaRPr lang="en-US" sz="1800" dirty="0"/>
          </a:p>
          <a:p>
            <a:pPr indent="0" marL="0">
              <a:spcAft>
                <a:spcPts val="1200"/>
              </a:spcAft>
              <a:buNone/>
            </a:pPr>
            <a:r>
              <a:rPr lang="en-US" sz="1800" dirty="0">
                <a:solidFill>
                  <a:schemeClr val="bg1"/>
                </a:solidFill>
              </a:rPr>
              <a:t>RQ2  Can a pooled entailment score abstain when sources do not mention a claim?</a:t>
            </a:r>
            <a:endParaRPr lang="en-US" sz="1800" dirty="0"/>
          </a:p>
          <a:p>
            <a:pPr indent="0" marL="0">
              <a:buNone/>
            </a:pPr>
            <a:r>
              <a:rPr lang="en-US" sz="1800" dirty="0">
                <a:solidFill>
                  <a:schemeClr val="bg1"/>
                </a:solidFill>
              </a:rPr>
              <a:t>RQ3  Does a density or entropy score track whether evidence supports a claim?</a:t>
            </a:r>
            <a:endParaRPr lang="en-US" sz="18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Literature: no quote-backed audit at reading time</a:t>
            </a:r>
            <a:endParaRPr lang="en-US" sz="3000" dirty="0"/>
          </a:p>
        </p:txBody>
      </p:sp>
      <p:graphicFrame>
        <p:nvGraphicFramePr>
          <p:cNvPr id="5" name="literature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200400"/>
                <a:gridCol w="4480560"/>
                <a:gridCol w="3383280"/>
              </a:tblGrid>
              <a:tr h="566928">
                <a:tc>
                  <a:txBody>
                    <a:bodyPr/>
                    <a:lstStyle/>
                    <a:p>
                      <a:pPr indent="0" marL="0">
                        <a:buNone/>
                      </a:pPr>
                      <a:r>
                        <a:rPr lang="en-US" sz="1400" b="1" dirty="0">
                          <a:solidFill>
                            <a:schemeClr val="bg1"/>
                          </a:solidFill>
                        </a:rPr>
                        <a:t>Work</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400" b="1" dirty="0">
                          <a:solidFill>
                            <a:schemeClr val="bg1"/>
                          </a:solidFill>
                        </a:rPr>
                        <a:t>What it does</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400" b="1" dirty="0">
                          <a:solidFill>
                            <a:schemeClr val="bg1"/>
                          </a:solidFill>
                        </a:rPr>
                        <a:t>Gap for a reader-side audit</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r>
              <a:tr h="566928">
                <a:tc>
                  <a:txBody>
                    <a:bodyPr/>
                    <a:lstStyle/>
                    <a:p>
                      <a:pPr indent="0" marL="0">
                        <a:buNone/>
                      </a:pPr>
                      <a:r>
                        <a:rPr lang="en-US" sz="1400" b="1" dirty="0">
                          <a:solidFill>
                            <a:schemeClr val="tx1"/>
                          </a:solidFill>
                        </a:rPr>
                        <a:t>Guo et al., 2022</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Survey: claim detection, retrieval, verdict, justification</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Pipeline view; no deployed audit</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7"/>
                    </a:solidFill>
                  </a:tcPr>
                </a:tc>
              </a:tr>
              <a:tr h="566928">
                <a:tc>
                  <a:txBody>
                    <a:bodyPr/>
                    <a:lstStyle/>
                    <a:p>
                      <a:pPr indent="0" marL="0">
                        <a:buNone/>
                      </a:pPr>
                      <a:r>
                        <a:rPr lang="en-US" sz="1400" b="1" dirty="0">
                          <a:solidFill>
                            <a:schemeClr val="tx1"/>
                          </a:solidFill>
                        </a:rPr>
                        <a:t>Thorne et al., 2018 (FEVER)</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Wikipedia claims labelled SUPPORTS, REFUTES, NEI</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Fixed corpus; claims given, not extracted</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1"/>
                          </a:solidFill>
                        </a:rPr>
                        <a:t>Schlichtkrull et al., 2023 (AVeriTeC)</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Real-world claims with open-web evidence</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A dataset, not a reader-facing verdict</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7"/>
                    </a:solidFill>
                  </a:tcPr>
                </a:tc>
              </a:tr>
              <a:tr h="566928">
                <a:tc>
                  <a:txBody>
                    <a:bodyPr/>
                    <a:lstStyle/>
                    <a:p>
                      <a:pPr indent="0" marL="0">
                        <a:buNone/>
                      </a:pPr>
                      <a:r>
                        <a:rPr lang="en-US" sz="1400" b="1" dirty="0">
                          <a:solidFill>
                            <a:schemeClr val="tx1"/>
                          </a:solidFill>
                        </a:rPr>
                        <a:t>Manakul et al., 2023 (SelfCheckGPT)</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Flags hallucination by sampling consistency, no evidence</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No source sentence to show the reader</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1"/>
                          </a:solidFill>
                        </a:rPr>
                        <a:t>Min et al., 2023 (FActScore)</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Share of atomic facts a knowledge source supports</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A score, not a quote-backed verdict</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7"/>
                    </a:solidFill>
                  </a:tcPr>
                </a:tc>
              </a:tr>
              <a:tr h="566928">
                <a:tc>
                  <a:txBody>
                    <a:bodyPr/>
                    <a:lstStyle/>
                    <a:p>
                      <a:pPr indent="0" marL="0">
                        <a:buNone/>
                      </a:pPr>
                      <a:r>
                        <a:rPr lang="en-US" sz="1400" b="1" dirty="0">
                          <a:solidFill>
                            <a:schemeClr val="tx1"/>
                          </a:solidFill>
                        </a:rPr>
                        <a:t>Ji et al., 2023; Lin et al., 2022</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Hallucination survey; TruthfulQA misconceptions</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Shows the need, not a tool</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1"/>
                          </a:solidFill>
                        </a:rPr>
                        <a:t>Our earlier study</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c>
                  <a:txBody>
                    <a:bodyPr/>
                    <a:lstStyle/>
                    <a:p>
                      <a:pPr indent="0" marL="0">
                        <a:buNone/>
                      </a:pPr>
                      <a:r>
                        <a:rPr lang="en-US" sz="1400" dirty="0">
                          <a:solidFill>
                            <a:schemeClr val="tx1"/>
                          </a:solidFill>
                        </a:rPr>
                        <a:t>Density signal: AUROC 0.546 on FEVER, 0.275 on AVeriTeC</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c>
                  <a:txBody>
                    <a:bodyPr/>
                    <a:lstStyle/>
                    <a:p>
                      <a:pPr indent="0" marL="0">
                        <a:buNone/>
                      </a:pPr>
                      <a:r>
                        <a:rPr lang="en-US" sz="1400" dirty="0">
                          <a:solidFill>
                            <a:schemeClr val="tx1"/>
                          </a:solidFill>
                        </a:rPr>
                        <a:t>Does not track support, hence this work</a:t>
                      </a:r>
                      <a:endParaRPr lang="en-US" sz="1400" dirty="0"/>
                    </a:p>
                  </a:txBody>
                  <a:tcPr marL="109728" marR="109728"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r>
            </a:tbl>
          </a:graphicData>
        </a:graphic>
      </p:graphicFrame>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Earlier density signal did not generalise</a:t>
            </a:r>
            <a:endParaRPr lang="en-US" sz="3000" dirty="0"/>
          </a:p>
        </p:txBody>
      </p:sp>
      <p:graphicFrame>
        <p:nvGraphicFramePr>
          <p:cNvPr id="3" name="Chart 0" descr=""/>
          <p:cNvGraphicFramePr/>
          <p:nvPr/>
        </p:nvGraphicFramePr>
        <p:xfrm>
          <a:off x="548640" y="1417320"/>
          <a:ext cx="6309360" cy="4846320"/>
        </p:xfrm>
        <a:graphic xmlns:a="http://schemas.openxmlformats.org/drawingml/2006/main">
          <a:graphicData uri="http://schemas.openxmlformats.org/drawingml/2006/chart">
            <c:chart xmlns:c="http://schemas.openxmlformats.org/drawingml/2006/chart" r:id="rId1"/>
          </a:graphicData>
        </a:graphic>
      </p:graphicFrame>
      <p:sp>
        <p:nvSpPr>
          <p:cNvPr id="4" name="reading card"/>
          <p:cNvSpPr/>
          <p:nvPr/>
        </p:nvSpPr>
        <p:spPr>
          <a:xfrm>
            <a:off x="7223760" y="1463040"/>
            <a:ext cx="4389120" cy="1417320"/>
          </a:xfrm>
          <a:prstGeom prst="roundRect">
            <a:avLst>
              <a:gd name="adj" fmla="val 5161"/>
            </a:avLst>
          </a:prstGeom>
          <a:solidFill>
            <a:schemeClr val="bg2"/>
          </a:solidFill>
          <a:ln w="12700">
            <a:solidFill>
              <a:schemeClr val="bg2"/>
            </a:solidFill>
            <a:prstDash val="solid"/>
          </a:ln>
        </p:spPr>
      </p:sp>
      <p:sp>
        <p:nvSpPr>
          <p:cNvPr id="5" name="Text 2"/>
          <p:cNvSpPr txBox="1"/>
          <p:nvPr/>
        </p:nvSpPr>
        <p:spPr>
          <a:xfrm>
            <a:off x="7452360" y="1600200"/>
            <a:ext cx="3931920" cy="1188720"/>
          </a:xfrm>
          <a:prstGeom prst="rect">
            <a:avLst/>
          </a:prstGeom>
          <a:noFill/>
          <a:ln/>
        </p:spPr>
        <p:txBody>
          <a:bodyPr wrap="square" lIns="0" tIns="0" rIns="0" bIns="0" rtlCol="0" anchor="t"/>
          <a:lstStyle/>
          <a:p>
            <a:pPr indent="0" marL="0">
              <a:buNone/>
            </a:pPr>
            <a:r>
              <a:rPr lang="en-US" sz="1600" b="1" dirty="0">
                <a:solidFill>
                  <a:schemeClr val="accent1"/>
                </a:solidFill>
              </a:rPr>
              <a:t>Reading the chart</a:t>
            </a:r>
            <a:endParaRPr lang="en-US" sz="1400" dirty="0"/>
          </a:p>
          <a:p>
            <a:pPr indent="0" marL="0">
              <a:buNone/>
            </a:pPr>
            <a:r>
              <a:rPr lang="en-US" sz="1500" dirty="0">
                <a:solidFill>
                  <a:schemeClr val="tx1"/>
                </a:solidFill>
              </a:rPr>
              <a:t>Below 0.5 means the signal points the wrong way. Cross-manifold tests fell to chance.</a:t>
            </a:r>
            <a:endParaRPr lang="en-US" sz="1400" dirty="0"/>
          </a:p>
        </p:txBody>
      </p:sp>
      <p:sp>
        <p:nvSpPr>
          <p:cNvPr id="6" name="approach card"/>
          <p:cNvSpPr/>
          <p:nvPr/>
        </p:nvSpPr>
        <p:spPr>
          <a:xfrm>
            <a:off x="7223760" y="3063240"/>
            <a:ext cx="4389120" cy="2971800"/>
          </a:xfrm>
          <a:prstGeom prst="roundRect">
            <a:avLst>
              <a:gd name="adj" fmla="val 2462"/>
            </a:avLst>
          </a:prstGeom>
          <a:solidFill>
            <a:schemeClr val="tx1"/>
          </a:solidFill>
          <a:ln w="12700">
            <a:solidFill>
              <a:schemeClr val="tx1"/>
            </a:solidFill>
            <a:prstDash val="solid"/>
          </a:ln>
        </p:spPr>
      </p:sp>
      <p:sp>
        <p:nvSpPr>
          <p:cNvPr id="7" name="Text 4"/>
          <p:cNvSpPr txBox="1"/>
          <p:nvPr/>
        </p:nvSpPr>
        <p:spPr>
          <a:xfrm>
            <a:off x="7452360" y="3246120"/>
            <a:ext cx="3931920" cy="26517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What we do instead</a:t>
            </a:r>
            <a:endParaRPr lang="en-US" sz="1500" dirty="0"/>
          </a:p>
          <a:p>
            <a:pPr marL="342900" indent="-342900">
              <a:spcAft>
                <a:spcPts val="600"/>
              </a:spcAft>
              <a:buSzPct val="100000"/>
              <a:buChar char="•"/>
            </a:pPr>
            <a:r>
              <a:rPr lang="en-US" sz="1500" dirty="0">
                <a:solidFill>
                  <a:schemeClr val="bg1"/>
                </a:solidFill>
              </a:rPr>
              <a:t>Read what each source says about the claim</a:t>
            </a:r>
            <a:endParaRPr lang="en-US" sz="1500" dirty="0"/>
          </a:p>
          <a:p>
            <a:pPr marL="342900" indent="-342900">
              <a:spcAft>
                <a:spcPts val="600"/>
              </a:spcAft>
              <a:buSzPct val="100000"/>
              <a:buChar char="•"/>
            </a:pPr>
            <a:r>
              <a:rPr lang="en-US" sz="1500" dirty="0">
                <a:solidFill>
                  <a:schemeClr val="bg1"/>
                </a:solidFill>
              </a:rPr>
              <a:t>Require a verbatim quote for every counted source</a:t>
            </a:r>
            <a:endParaRPr lang="en-US" sz="1500" dirty="0"/>
          </a:p>
          <a:p>
            <a:pPr marL="342900" indent="-342900">
              <a:spcAft>
                <a:spcPts val="600"/>
              </a:spcAft>
              <a:buSzPct val="100000"/>
              <a:buChar char="•"/>
            </a:pPr>
            <a:r>
              <a:rPr lang="en-US" sz="1500" dirty="0">
                <a:solidFill>
                  <a:schemeClr val="bg1"/>
                </a:solidFill>
              </a:rPr>
              <a:t>Decide with deterministic rules we can prove things about</a:t>
            </a:r>
            <a:endParaRPr lang="en-US" sz="1500" dirty="0"/>
          </a:p>
          <a:p>
            <a:pPr marL="342900" indent="-342900">
              <a:buSzPct val="100000"/>
              <a:buChar char="•"/>
            </a:pPr>
            <a:r>
              <a:rPr lang="en-US" sz="1500" dirty="0">
                <a:solidFill>
                  <a:schemeClr val="bg1"/>
                </a:solidFill>
              </a:rPr>
              <a:t>Keep density and entropy as research-mode signals only</a:t>
            </a:r>
            <a:endParaRPr lang="en-US" sz="15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Method: six steps from answer to traceable verdict</a:t>
            </a:r>
            <a:endParaRPr lang="en-US" sz="3000" dirty="0"/>
          </a:p>
        </p:txBody>
      </p:sp>
      <p:sp>
        <p:nvSpPr>
          <p:cNvPr id="3" name="step card 1"/>
          <p:cNvSpPr/>
          <p:nvPr/>
        </p:nvSpPr>
        <p:spPr>
          <a:xfrm>
            <a:off x="548640" y="1508760"/>
            <a:ext cx="1664208" cy="2788920"/>
          </a:xfrm>
          <a:prstGeom prst="roundRect">
            <a:avLst>
              <a:gd name="adj" fmla="val 4396"/>
            </a:avLst>
          </a:prstGeom>
          <a:solidFill>
            <a:schemeClr val="bg2"/>
          </a:solidFill>
          <a:ln w="12700">
            <a:solidFill>
              <a:schemeClr val="bg2"/>
            </a:solidFill>
            <a:prstDash val="solid"/>
          </a:ln>
        </p:spPr>
      </p:sp>
      <p:sp>
        <p:nvSpPr>
          <p:cNvPr id="4" name="Extract circle"/>
          <p:cNvSpPr/>
          <p:nvPr/>
        </p:nvSpPr>
        <p:spPr>
          <a:xfrm>
            <a:off x="658368" y="1645920"/>
            <a:ext cx="566928" cy="566928"/>
          </a:xfrm>
          <a:prstGeom prst="ellipse">
            <a:avLst/>
          </a:prstGeom>
          <a:solidFill>
            <a:schemeClr val="accent1"/>
          </a:solidFill>
          <a:ln w="12700">
            <a:solidFill>
              <a:schemeClr val="accent1"/>
            </a:solidFill>
            <a:prstDash val="solid"/>
          </a:ln>
        </p:spPr>
      </p:sp>
      <p:pic>
        <p:nvPicPr>
          <p:cNvPr id="5" name="Extract icon" descr="Extract">    </p:cNvPr>
          <p:cNvPicPr>
            <a:picLocks noChangeAspect="1"/>
          </p:cNvPicPr>
          <p:nvPr/>
        </p:nvPicPr>
        <p:blipFill>
          <a:blip r:embed="rId1"/>
          <a:stretch>
            <a:fillRect/>
          </a:stretch>
        </p:blipFill>
        <p:spPr>
          <a:xfrm>
            <a:off x="783092" y="1770644"/>
            <a:ext cx="317480" cy="317480"/>
          </a:xfrm>
          <a:prstGeom prst="rect">
            <a:avLst/>
          </a:prstGeom>
        </p:spPr>
      </p:pic>
      <p:sp>
        <p:nvSpPr>
          <p:cNvPr id="6" name="Text 3"/>
          <p:cNvSpPr txBox="1"/>
          <p:nvPr/>
        </p:nvSpPr>
        <p:spPr>
          <a:xfrm>
            <a:off x="1755648" y="1691640"/>
            <a:ext cx="320040" cy="411480"/>
          </a:xfrm>
          <a:prstGeom prst="rect">
            <a:avLst/>
          </a:prstGeom>
          <a:noFill/>
          <a:ln/>
        </p:spPr>
        <p:txBody>
          <a:bodyPr wrap="square" lIns="0" tIns="0" rIns="0" bIns="0" rtlCol="0" anchor="t"/>
          <a:lstStyle/>
          <a:p>
            <a:pPr algn="r" indent="0" marL="0">
              <a:buNone/>
            </a:pPr>
            <a:r>
              <a:rPr lang="en-US" sz="2400" b="1" dirty="0">
                <a:solidFill>
                  <a:schemeClr val="accent4"/>
                </a:solidFill>
              </a:rPr>
              <a:t>1</a:t>
            </a:r>
            <a:endParaRPr lang="en-US" sz="2400" dirty="0"/>
          </a:p>
        </p:txBody>
      </p:sp>
      <p:sp>
        <p:nvSpPr>
          <p:cNvPr id="7" name="Text 4"/>
          <p:cNvSpPr txBox="1"/>
          <p:nvPr/>
        </p:nvSpPr>
        <p:spPr>
          <a:xfrm>
            <a:off x="685800" y="2377440"/>
            <a:ext cx="1389888" cy="365760"/>
          </a:xfrm>
          <a:prstGeom prst="rect">
            <a:avLst/>
          </a:prstGeom>
          <a:noFill/>
          <a:ln/>
        </p:spPr>
        <p:txBody>
          <a:bodyPr wrap="square" lIns="0" tIns="0" rIns="0" bIns="0" rtlCol="0" anchor="t"/>
          <a:lstStyle/>
          <a:p>
            <a:pPr indent="0" marL="0">
              <a:buNone/>
            </a:pPr>
            <a:r>
              <a:rPr lang="en-US" sz="1800" b="1" dirty="0">
                <a:solidFill>
                  <a:schemeClr val="tx1"/>
                </a:solidFill>
              </a:rPr>
              <a:t>Extract</a:t>
            </a:r>
            <a:endParaRPr lang="en-US" sz="1800" dirty="0"/>
          </a:p>
        </p:txBody>
      </p:sp>
      <p:sp>
        <p:nvSpPr>
          <p:cNvPr id="8" name="Text 5"/>
          <p:cNvSpPr txBox="1"/>
          <p:nvPr/>
        </p:nvSpPr>
        <p:spPr>
          <a:xfrm>
            <a:off x="685800" y="2788920"/>
            <a:ext cx="1389888" cy="1463040"/>
          </a:xfrm>
          <a:prstGeom prst="rect">
            <a:avLst/>
          </a:prstGeom>
          <a:noFill/>
          <a:ln/>
        </p:spPr>
        <p:txBody>
          <a:bodyPr wrap="square" lIns="0" tIns="0" rIns="0" bIns="0" rtlCol="0" anchor="t"/>
          <a:lstStyle/>
          <a:p>
            <a:pPr indent="0" marL="0">
              <a:buNone/>
            </a:pPr>
            <a:r>
              <a:rPr lang="en-US" sz="1500" dirty="0">
                <a:solidFill>
                  <a:schemeClr val="tx1"/>
                </a:solidFill>
              </a:rPr>
              <a:t>LLM splits the answer into self-contained claims</a:t>
            </a:r>
            <a:endParaRPr lang="en-US" sz="1500" dirty="0"/>
          </a:p>
        </p:txBody>
      </p:sp>
      <p:sp>
        <p:nvSpPr>
          <p:cNvPr id="9" name="arrow 1"/>
          <p:cNvSpPr/>
          <p:nvPr/>
        </p:nvSpPr>
        <p:spPr>
          <a:xfrm>
            <a:off x="2231136" y="2743200"/>
            <a:ext cx="179222" cy="274320"/>
          </a:xfrm>
          <a:prstGeom prst="rightArrow">
            <a:avLst/>
          </a:prstGeom>
          <a:solidFill>
            <a:schemeClr val="accent4"/>
          </a:solidFill>
          <a:ln w="12700">
            <a:solidFill>
              <a:schemeClr val="accent4"/>
            </a:solidFill>
            <a:prstDash val="solid"/>
          </a:ln>
        </p:spPr>
      </p:sp>
      <p:sp>
        <p:nvSpPr>
          <p:cNvPr id="10" name="step card 2"/>
          <p:cNvSpPr/>
          <p:nvPr/>
        </p:nvSpPr>
        <p:spPr>
          <a:xfrm>
            <a:off x="2428646" y="1508760"/>
            <a:ext cx="1664208" cy="2788920"/>
          </a:xfrm>
          <a:prstGeom prst="roundRect">
            <a:avLst>
              <a:gd name="adj" fmla="val 4396"/>
            </a:avLst>
          </a:prstGeom>
          <a:solidFill>
            <a:schemeClr val="bg2"/>
          </a:solidFill>
          <a:ln w="12700">
            <a:solidFill>
              <a:schemeClr val="bg2"/>
            </a:solidFill>
            <a:prstDash val="solid"/>
          </a:ln>
        </p:spPr>
      </p:sp>
      <p:sp>
        <p:nvSpPr>
          <p:cNvPr id="11" name="Retrieve circle"/>
          <p:cNvSpPr/>
          <p:nvPr/>
        </p:nvSpPr>
        <p:spPr>
          <a:xfrm>
            <a:off x="2538374" y="1645920"/>
            <a:ext cx="566928" cy="566928"/>
          </a:xfrm>
          <a:prstGeom prst="ellipse">
            <a:avLst/>
          </a:prstGeom>
          <a:solidFill>
            <a:schemeClr val="accent1"/>
          </a:solidFill>
          <a:ln w="12700">
            <a:solidFill>
              <a:schemeClr val="accent1"/>
            </a:solidFill>
            <a:prstDash val="solid"/>
          </a:ln>
        </p:spPr>
      </p:sp>
      <p:pic>
        <p:nvPicPr>
          <p:cNvPr id="12" name="Retrieve icon" descr="Retrieve">    </p:cNvPr>
          <p:cNvPicPr>
            <a:picLocks noChangeAspect="1"/>
          </p:cNvPicPr>
          <p:nvPr/>
        </p:nvPicPr>
        <p:blipFill>
          <a:blip r:embed="rId2"/>
          <a:stretch>
            <a:fillRect/>
          </a:stretch>
        </p:blipFill>
        <p:spPr>
          <a:xfrm>
            <a:off x="2663099" y="1770644"/>
            <a:ext cx="317480" cy="317480"/>
          </a:xfrm>
          <a:prstGeom prst="rect">
            <a:avLst/>
          </a:prstGeom>
        </p:spPr>
      </p:pic>
      <p:sp>
        <p:nvSpPr>
          <p:cNvPr id="13" name="Text 9"/>
          <p:cNvSpPr txBox="1"/>
          <p:nvPr/>
        </p:nvSpPr>
        <p:spPr>
          <a:xfrm>
            <a:off x="3635654" y="1691640"/>
            <a:ext cx="320040" cy="411480"/>
          </a:xfrm>
          <a:prstGeom prst="rect">
            <a:avLst/>
          </a:prstGeom>
          <a:noFill/>
          <a:ln/>
        </p:spPr>
        <p:txBody>
          <a:bodyPr wrap="square" lIns="0" tIns="0" rIns="0" bIns="0" rtlCol="0" anchor="t"/>
          <a:lstStyle/>
          <a:p>
            <a:pPr algn="r" indent="0" marL="0">
              <a:buNone/>
            </a:pPr>
            <a:r>
              <a:rPr lang="en-US" sz="2400" b="1" dirty="0">
                <a:solidFill>
                  <a:schemeClr val="accent4"/>
                </a:solidFill>
              </a:rPr>
              <a:t>2</a:t>
            </a:r>
            <a:endParaRPr lang="en-US" sz="2400" dirty="0"/>
          </a:p>
        </p:txBody>
      </p:sp>
      <p:sp>
        <p:nvSpPr>
          <p:cNvPr id="14" name="Text 10"/>
          <p:cNvSpPr txBox="1"/>
          <p:nvPr/>
        </p:nvSpPr>
        <p:spPr>
          <a:xfrm>
            <a:off x="2565806" y="2377440"/>
            <a:ext cx="1389888" cy="365760"/>
          </a:xfrm>
          <a:prstGeom prst="rect">
            <a:avLst/>
          </a:prstGeom>
          <a:noFill/>
          <a:ln/>
        </p:spPr>
        <p:txBody>
          <a:bodyPr wrap="square" lIns="0" tIns="0" rIns="0" bIns="0" rtlCol="0" anchor="t"/>
          <a:lstStyle/>
          <a:p>
            <a:pPr indent="0" marL="0">
              <a:buNone/>
            </a:pPr>
            <a:r>
              <a:rPr lang="en-US" sz="1800" b="1" dirty="0">
                <a:solidFill>
                  <a:schemeClr val="tx1"/>
                </a:solidFill>
              </a:rPr>
              <a:t>Retrieve</a:t>
            </a:r>
            <a:endParaRPr lang="en-US" sz="1800" dirty="0"/>
          </a:p>
        </p:txBody>
      </p:sp>
      <p:sp>
        <p:nvSpPr>
          <p:cNvPr id="15" name="Text 11"/>
          <p:cNvSpPr txBox="1"/>
          <p:nvPr/>
        </p:nvSpPr>
        <p:spPr>
          <a:xfrm>
            <a:off x="2565806" y="2788920"/>
            <a:ext cx="1389888" cy="1463040"/>
          </a:xfrm>
          <a:prstGeom prst="rect">
            <a:avLst/>
          </a:prstGeom>
          <a:noFill/>
          <a:ln/>
        </p:spPr>
        <p:txBody>
          <a:bodyPr wrap="square" lIns="0" tIns="0" rIns="0" bIns="0" rtlCol="0" anchor="t"/>
          <a:lstStyle/>
          <a:p>
            <a:pPr indent="0" marL="0">
              <a:buNone/>
            </a:pPr>
            <a:r>
              <a:rPr lang="en-US" sz="1500" dirty="0">
                <a:solidFill>
                  <a:schemeClr val="tx1"/>
                </a:solidFill>
              </a:rPr>
              <a:t>Wikipedia and OpenAlex, merged and deduplicated</a:t>
            </a:r>
            <a:endParaRPr lang="en-US" sz="1500" dirty="0"/>
          </a:p>
        </p:txBody>
      </p:sp>
      <p:sp>
        <p:nvSpPr>
          <p:cNvPr id="16" name="arrow 2"/>
          <p:cNvSpPr/>
          <p:nvPr/>
        </p:nvSpPr>
        <p:spPr>
          <a:xfrm>
            <a:off x="4111142" y="2743200"/>
            <a:ext cx="179222" cy="274320"/>
          </a:xfrm>
          <a:prstGeom prst="rightArrow">
            <a:avLst/>
          </a:prstGeom>
          <a:solidFill>
            <a:schemeClr val="accent4"/>
          </a:solidFill>
          <a:ln w="12700">
            <a:solidFill>
              <a:schemeClr val="accent4"/>
            </a:solidFill>
            <a:prstDash val="solid"/>
          </a:ln>
        </p:spPr>
      </p:sp>
      <p:sp>
        <p:nvSpPr>
          <p:cNvPr id="17" name="step card 3"/>
          <p:cNvSpPr/>
          <p:nvPr/>
        </p:nvSpPr>
        <p:spPr>
          <a:xfrm>
            <a:off x="4308653" y="1508760"/>
            <a:ext cx="1664208" cy="2788920"/>
          </a:xfrm>
          <a:prstGeom prst="roundRect">
            <a:avLst>
              <a:gd name="adj" fmla="val 4396"/>
            </a:avLst>
          </a:prstGeom>
          <a:solidFill>
            <a:schemeClr val="bg2"/>
          </a:solidFill>
          <a:ln w="12700">
            <a:solidFill>
              <a:schemeClr val="bg2"/>
            </a:solidFill>
            <a:prstDash val="solid"/>
          </a:ln>
        </p:spPr>
      </p:sp>
      <p:sp>
        <p:nvSpPr>
          <p:cNvPr id="18" name="Rank circle"/>
          <p:cNvSpPr/>
          <p:nvPr/>
        </p:nvSpPr>
        <p:spPr>
          <a:xfrm>
            <a:off x="4418381" y="1645920"/>
            <a:ext cx="566928" cy="566928"/>
          </a:xfrm>
          <a:prstGeom prst="ellipse">
            <a:avLst/>
          </a:prstGeom>
          <a:solidFill>
            <a:schemeClr val="accent1"/>
          </a:solidFill>
          <a:ln w="12700">
            <a:solidFill>
              <a:schemeClr val="accent1"/>
            </a:solidFill>
            <a:prstDash val="solid"/>
          </a:ln>
        </p:spPr>
      </p:sp>
      <p:pic>
        <p:nvPicPr>
          <p:cNvPr id="19" name="Rank icon" descr="Rank">    </p:cNvPr>
          <p:cNvPicPr>
            <a:picLocks noChangeAspect="1"/>
          </p:cNvPicPr>
          <p:nvPr/>
        </p:nvPicPr>
        <p:blipFill>
          <a:blip r:embed="rId3"/>
          <a:stretch>
            <a:fillRect/>
          </a:stretch>
        </p:blipFill>
        <p:spPr>
          <a:xfrm>
            <a:off x="4543105" y="1770644"/>
            <a:ext cx="317480" cy="317480"/>
          </a:xfrm>
          <a:prstGeom prst="rect">
            <a:avLst/>
          </a:prstGeom>
        </p:spPr>
      </p:pic>
      <p:sp>
        <p:nvSpPr>
          <p:cNvPr id="20" name="Text 15"/>
          <p:cNvSpPr txBox="1"/>
          <p:nvPr/>
        </p:nvSpPr>
        <p:spPr>
          <a:xfrm>
            <a:off x="5515661" y="1691640"/>
            <a:ext cx="320040" cy="411480"/>
          </a:xfrm>
          <a:prstGeom prst="rect">
            <a:avLst/>
          </a:prstGeom>
          <a:noFill/>
          <a:ln/>
        </p:spPr>
        <p:txBody>
          <a:bodyPr wrap="square" lIns="0" tIns="0" rIns="0" bIns="0" rtlCol="0" anchor="t"/>
          <a:lstStyle/>
          <a:p>
            <a:pPr algn="r" indent="0" marL="0">
              <a:buNone/>
            </a:pPr>
            <a:r>
              <a:rPr lang="en-US" sz="2400" b="1" dirty="0">
                <a:solidFill>
                  <a:schemeClr val="accent4"/>
                </a:solidFill>
              </a:rPr>
              <a:t>3</a:t>
            </a:r>
            <a:endParaRPr lang="en-US" sz="2400" dirty="0"/>
          </a:p>
        </p:txBody>
      </p:sp>
      <p:sp>
        <p:nvSpPr>
          <p:cNvPr id="21" name="Text 16"/>
          <p:cNvSpPr txBox="1"/>
          <p:nvPr/>
        </p:nvSpPr>
        <p:spPr>
          <a:xfrm>
            <a:off x="4445813" y="2377440"/>
            <a:ext cx="1389888" cy="365760"/>
          </a:xfrm>
          <a:prstGeom prst="rect">
            <a:avLst/>
          </a:prstGeom>
          <a:noFill/>
          <a:ln/>
        </p:spPr>
        <p:txBody>
          <a:bodyPr wrap="square" lIns="0" tIns="0" rIns="0" bIns="0" rtlCol="0" anchor="t"/>
          <a:lstStyle/>
          <a:p>
            <a:pPr indent="0" marL="0">
              <a:buNone/>
            </a:pPr>
            <a:r>
              <a:rPr lang="en-US" sz="1800" b="1" dirty="0">
                <a:solidFill>
                  <a:schemeClr val="tx1"/>
                </a:solidFill>
              </a:rPr>
              <a:t>Rank</a:t>
            </a:r>
            <a:endParaRPr lang="en-US" sz="1800" dirty="0"/>
          </a:p>
        </p:txBody>
      </p:sp>
      <p:sp>
        <p:nvSpPr>
          <p:cNvPr id="22" name="Text 17"/>
          <p:cNvSpPr txBox="1"/>
          <p:nvPr/>
        </p:nvSpPr>
        <p:spPr>
          <a:xfrm>
            <a:off x="4445813" y="2788920"/>
            <a:ext cx="1389888" cy="1463040"/>
          </a:xfrm>
          <a:prstGeom prst="rect">
            <a:avLst/>
          </a:prstGeom>
          <a:noFill/>
          <a:ln/>
        </p:spPr>
        <p:txBody>
          <a:bodyPr wrap="square" lIns="0" tIns="0" rIns="0" bIns="0" rtlCol="0" anchor="t"/>
          <a:lstStyle/>
          <a:p>
            <a:pPr indent="0" marL="0">
              <a:buNone/>
            </a:pPr>
            <a:r>
              <a:rPr lang="en-US" sz="1500" dirty="0">
                <a:solidFill>
                  <a:schemeClr val="tx1"/>
                </a:solidFill>
              </a:rPr>
              <a:t>Cosine similarity to the claim; keep the top 6</a:t>
            </a:r>
            <a:endParaRPr lang="en-US" sz="1500" dirty="0"/>
          </a:p>
        </p:txBody>
      </p:sp>
      <p:sp>
        <p:nvSpPr>
          <p:cNvPr id="23" name="arrow 3"/>
          <p:cNvSpPr/>
          <p:nvPr/>
        </p:nvSpPr>
        <p:spPr>
          <a:xfrm>
            <a:off x="5991149" y="2743200"/>
            <a:ext cx="179222" cy="274320"/>
          </a:xfrm>
          <a:prstGeom prst="rightArrow">
            <a:avLst/>
          </a:prstGeom>
          <a:solidFill>
            <a:schemeClr val="accent4"/>
          </a:solidFill>
          <a:ln w="12700">
            <a:solidFill>
              <a:schemeClr val="accent4"/>
            </a:solidFill>
            <a:prstDash val="solid"/>
          </a:ln>
        </p:spPr>
      </p:sp>
      <p:sp>
        <p:nvSpPr>
          <p:cNvPr id="24" name="step card 4"/>
          <p:cNvSpPr/>
          <p:nvPr/>
        </p:nvSpPr>
        <p:spPr>
          <a:xfrm>
            <a:off x="6188659" y="1508760"/>
            <a:ext cx="1664208" cy="2788920"/>
          </a:xfrm>
          <a:prstGeom prst="roundRect">
            <a:avLst>
              <a:gd name="adj" fmla="val 4396"/>
            </a:avLst>
          </a:prstGeom>
          <a:solidFill>
            <a:schemeClr val="bg2"/>
          </a:solidFill>
          <a:ln w="12700">
            <a:solidFill>
              <a:schemeClr val="bg2"/>
            </a:solidFill>
            <a:prstDash val="solid"/>
          </a:ln>
        </p:spPr>
      </p:sp>
      <p:sp>
        <p:nvSpPr>
          <p:cNvPr id="25" name="Stance circle"/>
          <p:cNvSpPr/>
          <p:nvPr/>
        </p:nvSpPr>
        <p:spPr>
          <a:xfrm>
            <a:off x="6298387" y="1645920"/>
            <a:ext cx="566928" cy="566928"/>
          </a:xfrm>
          <a:prstGeom prst="ellipse">
            <a:avLst/>
          </a:prstGeom>
          <a:solidFill>
            <a:schemeClr val="accent1"/>
          </a:solidFill>
          <a:ln w="12700">
            <a:solidFill>
              <a:schemeClr val="accent1"/>
            </a:solidFill>
            <a:prstDash val="solid"/>
          </a:ln>
        </p:spPr>
      </p:sp>
      <p:pic>
        <p:nvPicPr>
          <p:cNvPr id="26" name="Stance icon" descr="Stance">    </p:cNvPr>
          <p:cNvPicPr>
            <a:picLocks noChangeAspect="1"/>
          </p:cNvPicPr>
          <p:nvPr/>
        </p:nvPicPr>
        <p:blipFill>
          <a:blip r:embed="rId4"/>
          <a:stretch>
            <a:fillRect/>
          </a:stretch>
        </p:blipFill>
        <p:spPr>
          <a:xfrm>
            <a:off x="6423111" y="1770644"/>
            <a:ext cx="317480" cy="317480"/>
          </a:xfrm>
          <a:prstGeom prst="rect">
            <a:avLst/>
          </a:prstGeom>
        </p:spPr>
      </p:pic>
      <p:sp>
        <p:nvSpPr>
          <p:cNvPr id="27" name="Text 21"/>
          <p:cNvSpPr txBox="1"/>
          <p:nvPr/>
        </p:nvSpPr>
        <p:spPr>
          <a:xfrm>
            <a:off x="7395667" y="1691640"/>
            <a:ext cx="320040" cy="411480"/>
          </a:xfrm>
          <a:prstGeom prst="rect">
            <a:avLst/>
          </a:prstGeom>
          <a:noFill/>
          <a:ln/>
        </p:spPr>
        <p:txBody>
          <a:bodyPr wrap="square" lIns="0" tIns="0" rIns="0" bIns="0" rtlCol="0" anchor="t"/>
          <a:lstStyle/>
          <a:p>
            <a:pPr algn="r" indent="0" marL="0">
              <a:buNone/>
            </a:pPr>
            <a:r>
              <a:rPr lang="en-US" sz="2400" b="1" dirty="0">
                <a:solidFill>
                  <a:schemeClr val="accent4"/>
                </a:solidFill>
              </a:rPr>
              <a:t>4</a:t>
            </a:r>
            <a:endParaRPr lang="en-US" sz="2400" dirty="0"/>
          </a:p>
        </p:txBody>
      </p:sp>
      <p:sp>
        <p:nvSpPr>
          <p:cNvPr id="28" name="Text 22"/>
          <p:cNvSpPr txBox="1"/>
          <p:nvPr/>
        </p:nvSpPr>
        <p:spPr>
          <a:xfrm>
            <a:off x="6325819" y="2377440"/>
            <a:ext cx="1389888" cy="365760"/>
          </a:xfrm>
          <a:prstGeom prst="rect">
            <a:avLst/>
          </a:prstGeom>
          <a:noFill/>
          <a:ln/>
        </p:spPr>
        <p:txBody>
          <a:bodyPr wrap="square" lIns="0" tIns="0" rIns="0" bIns="0" rtlCol="0" anchor="t"/>
          <a:lstStyle/>
          <a:p>
            <a:pPr indent="0" marL="0">
              <a:buNone/>
            </a:pPr>
            <a:r>
              <a:rPr lang="en-US" sz="1800" b="1" dirty="0">
                <a:solidFill>
                  <a:schemeClr val="tx1"/>
                </a:solidFill>
              </a:rPr>
              <a:t>Stance</a:t>
            </a:r>
            <a:endParaRPr lang="en-US" sz="1800" dirty="0"/>
          </a:p>
        </p:txBody>
      </p:sp>
      <p:sp>
        <p:nvSpPr>
          <p:cNvPr id="29" name="Text 23"/>
          <p:cNvSpPr txBox="1"/>
          <p:nvPr/>
        </p:nvSpPr>
        <p:spPr>
          <a:xfrm>
            <a:off x="6325819" y="2788920"/>
            <a:ext cx="1389888" cy="1463040"/>
          </a:xfrm>
          <a:prstGeom prst="rect">
            <a:avLst/>
          </a:prstGeom>
          <a:noFill/>
          <a:ln/>
        </p:spPr>
        <p:txBody>
          <a:bodyPr wrap="square" lIns="0" tIns="0" rIns="0" bIns="0" rtlCol="0" anchor="t"/>
          <a:lstStyle/>
          <a:p>
            <a:pPr indent="0" marL="0">
              <a:buNone/>
            </a:pPr>
            <a:r>
              <a:rPr lang="en-US" sz="1500" dirty="0">
                <a:solidFill>
                  <a:schemeClr val="tx1"/>
                </a:solidFill>
              </a:rPr>
              <a:t>Per source: supports, refutes, neutral, irrelevant, plus a quote</a:t>
            </a:r>
            <a:endParaRPr lang="en-US" sz="1500" dirty="0"/>
          </a:p>
        </p:txBody>
      </p:sp>
      <p:sp>
        <p:nvSpPr>
          <p:cNvPr id="30" name="arrow 4"/>
          <p:cNvSpPr/>
          <p:nvPr/>
        </p:nvSpPr>
        <p:spPr>
          <a:xfrm>
            <a:off x="7871155" y="2743200"/>
            <a:ext cx="179222" cy="274320"/>
          </a:xfrm>
          <a:prstGeom prst="rightArrow">
            <a:avLst/>
          </a:prstGeom>
          <a:solidFill>
            <a:schemeClr val="accent4"/>
          </a:solidFill>
          <a:ln w="12700">
            <a:solidFill>
              <a:schemeClr val="accent4"/>
            </a:solidFill>
            <a:prstDash val="solid"/>
          </a:ln>
        </p:spPr>
      </p:sp>
      <p:sp>
        <p:nvSpPr>
          <p:cNvPr id="31" name="step card 5"/>
          <p:cNvSpPr/>
          <p:nvPr/>
        </p:nvSpPr>
        <p:spPr>
          <a:xfrm>
            <a:off x="8068666" y="1508760"/>
            <a:ext cx="1664208" cy="2788920"/>
          </a:xfrm>
          <a:prstGeom prst="roundRect">
            <a:avLst>
              <a:gd name="adj" fmla="val 4396"/>
            </a:avLst>
          </a:prstGeom>
          <a:solidFill>
            <a:schemeClr val="bg2"/>
          </a:solidFill>
          <a:ln w="12700">
            <a:solidFill>
              <a:schemeClr val="bg2"/>
            </a:solidFill>
            <a:prstDash val="solid"/>
          </a:ln>
        </p:spPr>
      </p:sp>
      <p:sp>
        <p:nvSpPr>
          <p:cNvPr id="32" name="Verdict circle"/>
          <p:cNvSpPr/>
          <p:nvPr/>
        </p:nvSpPr>
        <p:spPr>
          <a:xfrm>
            <a:off x="8178394" y="1645920"/>
            <a:ext cx="566928" cy="566928"/>
          </a:xfrm>
          <a:prstGeom prst="ellipse">
            <a:avLst/>
          </a:prstGeom>
          <a:solidFill>
            <a:schemeClr val="accent2"/>
          </a:solidFill>
          <a:ln w="12700">
            <a:solidFill>
              <a:schemeClr val="accent2"/>
            </a:solidFill>
            <a:prstDash val="solid"/>
          </a:ln>
        </p:spPr>
      </p:sp>
      <p:pic>
        <p:nvPicPr>
          <p:cNvPr id="33" name="Verdict icon" descr="Verdict">    </p:cNvPr>
          <p:cNvPicPr>
            <a:picLocks noChangeAspect="1"/>
          </p:cNvPicPr>
          <p:nvPr/>
        </p:nvPicPr>
        <p:blipFill>
          <a:blip r:embed="rId5"/>
          <a:stretch>
            <a:fillRect/>
          </a:stretch>
        </p:blipFill>
        <p:spPr>
          <a:xfrm>
            <a:off x="8303118" y="1770644"/>
            <a:ext cx="317480" cy="317480"/>
          </a:xfrm>
          <a:prstGeom prst="rect">
            <a:avLst/>
          </a:prstGeom>
        </p:spPr>
      </p:pic>
      <p:sp>
        <p:nvSpPr>
          <p:cNvPr id="34" name="Text 27"/>
          <p:cNvSpPr txBox="1"/>
          <p:nvPr/>
        </p:nvSpPr>
        <p:spPr>
          <a:xfrm>
            <a:off x="9275674" y="1691640"/>
            <a:ext cx="320040" cy="411480"/>
          </a:xfrm>
          <a:prstGeom prst="rect">
            <a:avLst/>
          </a:prstGeom>
          <a:noFill/>
          <a:ln/>
        </p:spPr>
        <p:txBody>
          <a:bodyPr wrap="square" lIns="0" tIns="0" rIns="0" bIns="0" rtlCol="0" anchor="t"/>
          <a:lstStyle/>
          <a:p>
            <a:pPr algn="r" indent="0" marL="0">
              <a:buNone/>
            </a:pPr>
            <a:r>
              <a:rPr lang="en-US" sz="2400" b="1" dirty="0">
                <a:solidFill>
                  <a:schemeClr val="accent4"/>
                </a:solidFill>
              </a:rPr>
              <a:t>5</a:t>
            </a:r>
            <a:endParaRPr lang="en-US" sz="2400" dirty="0"/>
          </a:p>
        </p:txBody>
      </p:sp>
      <p:sp>
        <p:nvSpPr>
          <p:cNvPr id="35" name="Text 28"/>
          <p:cNvSpPr txBox="1"/>
          <p:nvPr/>
        </p:nvSpPr>
        <p:spPr>
          <a:xfrm>
            <a:off x="8205826" y="2377440"/>
            <a:ext cx="1389888" cy="365760"/>
          </a:xfrm>
          <a:prstGeom prst="rect">
            <a:avLst/>
          </a:prstGeom>
          <a:noFill/>
          <a:ln/>
        </p:spPr>
        <p:txBody>
          <a:bodyPr wrap="square" lIns="0" tIns="0" rIns="0" bIns="0" rtlCol="0" anchor="t"/>
          <a:lstStyle/>
          <a:p>
            <a:pPr indent="0" marL="0">
              <a:buNone/>
            </a:pPr>
            <a:r>
              <a:rPr lang="en-US" sz="1800" b="1" dirty="0">
                <a:solidFill>
                  <a:schemeClr val="tx1"/>
                </a:solidFill>
              </a:rPr>
              <a:t>Verdict</a:t>
            </a:r>
            <a:endParaRPr lang="en-US" sz="1800" dirty="0"/>
          </a:p>
        </p:txBody>
      </p:sp>
      <p:sp>
        <p:nvSpPr>
          <p:cNvPr id="36" name="Text 29"/>
          <p:cNvSpPr txBox="1"/>
          <p:nvPr/>
        </p:nvSpPr>
        <p:spPr>
          <a:xfrm>
            <a:off x="8205826" y="2788920"/>
            <a:ext cx="1389888" cy="1463040"/>
          </a:xfrm>
          <a:prstGeom prst="rect">
            <a:avLst/>
          </a:prstGeom>
          <a:noFill/>
          <a:ln/>
        </p:spPr>
        <p:txBody>
          <a:bodyPr wrap="square" lIns="0" tIns="0" rIns="0" bIns="0" rtlCol="0" anchor="t"/>
          <a:lstStyle/>
          <a:p>
            <a:pPr indent="0" marL="0">
              <a:buNone/>
            </a:pPr>
            <a:r>
              <a:rPr lang="en-US" sz="1500" dirty="0">
                <a:solidFill>
                  <a:schemeClr val="tx1"/>
                </a:solidFill>
              </a:rPr>
              <a:t>Rules R1 to R5 over counted sources</a:t>
            </a:r>
            <a:endParaRPr lang="en-US" sz="1500" dirty="0"/>
          </a:p>
        </p:txBody>
      </p:sp>
      <p:sp>
        <p:nvSpPr>
          <p:cNvPr id="37" name="arrow 5"/>
          <p:cNvSpPr/>
          <p:nvPr/>
        </p:nvSpPr>
        <p:spPr>
          <a:xfrm>
            <a:off x="9751162" y="2743200"/>
            <a:ext cx="179222" cy="274320"/>
          </a:xfrm>
          <a:prstGeom prst="rightArrow">
            <a:avLst/>
          </a:prstGeom>
          <a:solidFill>
            <a:schemeClr val="accent4"/>
          </a:solidFill>
          <a:ln w="12700">
            <a:solidFill>
              <a:schemeClr val="accent4"/>
            </a:solidFill>
            <a:prstDash val="solid"/>
          </a:ln>
        </p:spPr>
      </p:sp>
      <p:sp>
        <p:nvSpPr>
          <p:cNvPr id="38" name="step card 6"/>
          <p:cNvSpPr/>
          <p:nvPr/>
        </p:nvSpPr>
        <p:spPr>
          <a:xfrm>
            <a:off x="9948672" y="1508760"/>
            <a:ext cx="1664208" cy="2788920"/>
          </a:xfrm>
          <a:prstGeom prst="roundRect">
            <a:avLst>
              <a:gd name="adj" fmla="val 4396"/>
            </a:avLst>
          </a:prstGeom>
          <a:solidFill>
            <a:schemeClr val="bg2"/>
          </a:solidFill>
          <a:ln w="12700">
            <a:solidFill>
              <a:schemeClr val="bg2"/>
            </a:solidFill>
            <a:prstDash val="solid"/>
          </a:ln>
        </p:spPr>
      </p:sp>
      <p:sp>
        <p:nvSpPr>
          <p:cNvPr id="39" name="Show circle"/>
          <p:cNvSpPr/>
          <p:nvPr/>
        </p:nvSpPr>
        <p:spPr>
          <a:xfrm>
            <a:off x="10058400" y="1645920"/>
            <a:ext cx="566928" cy="566928"/>
          </a:xfrm>
          <a:prstGeom prst="ellipse">
            <a:avLst/>
          </a:prstGeom>
          <a:solidFill>
            <a:schemeClr val="accent1"/>
          </a:solidFill>
          <a:ln w="12700">
            <a:solidFill>
              <a:schemeClr val="accent1"/>
            </a:solidFill>
            <a:prstDash val="solid"/>
          </a:ln>
        </p:spPr>
      </p:sp>
      <p:pic>
        <p:nvPicPr>
          <p:cNvPr id="40" name="Show icon" descr="Show">    </p:cNvPr>
          <p:cNvPicPr>
            <a:picLocks noChangeAspect="1"/>
          </p:cNvPicPr>
          <p:nvPr/>
        </p:nvPicPr>
        <p:blipFill>
          <a:blip r:embed="rId6"/>
          <a:stretch>
            <a:fillRect/>
          </a:stretch>
        </p:blipFill>
        <p:spPr>
          <a:xfrm>
            <a:off x="10183124" y="1770644"/>
            <a:ext cx="317480" cy="317480"/>
          </a:xfrm>
          <a:prstGeom prst="rect">
            <a:avLst/>
          </a:prstGeom>
        </p:spPr>
      </p:pic>
      <p:sp>
        <p:nvSpPr>
          <p:cNvPr id="41" name="Text 33"/>
          <p:cNvSpPr txBox="1"/>
          <p:nvPr/>
        </p:nvSpPr>
        <p:spPr>
          <a:xfrm>
            <a:off x="11155680" y="1691640"/>
            <a:ext cx="320040" cy="411480"/>
          </a:xfrm>
          <a:prstGeom prst="rect">
            <a:avLst/>
          </a:prstGeom>
          <a:noFill/>
          <a:ln/>
        </p:spPr>
        <p:txBody>
          <a:bodyPr wrap="square" lIns="0" tIns="0" rIns="0" bIns="0" rtlCol="0" anchor="t"/>
          <a:lstStyle/>
          <a:p>
            <a:pPr algn="r" indent="0" marL="0">
              <a:buNone/>
            </a:pPr>
            <a:r>
              <a:rPr lang="en-US" sz="2400" b="1" dirty="0">
                <a:solidFill>
                  <a:schemeClr val="accent4"/>
                </a:solidFill>
              </a:rPr>
              <a:t>6</a:t>
            </a:r>
            <a:endParaRPr lang="en-US" sz="2400" dirty="0"/>
          </a:p>
        </p:txBody>
      </p:sp>
      <p:sp>
        <p:nvSpPr>
          <p:cNvPr id="42" name="Text 34"/>
          <p:cNvSpPr txBox="1"/>
          <p:nvPr/>
        </p:nvSpPr>
        <p:spPr>
          <a:xfrm>
            <a:off x="10085832" y="2377440"/>
            <a:ext cx="1389888" cy="365760"/>
          </a:xfrm>
          <a:prstGeom prst="rect">
            <a:avLst/>
          </a:prstGeom>
          <a:noFill/>
          <a:ln/>
        </p:spPr>
        <p:txBody>
          <a:bodyPr wrap="square" lIns="0" tIns="0" rIns="0" bIns="0" rtlCol="0" anchor="t"/>
          <a:lstStyle/>
          <a:p>
            <a:pPr indent="0" marL="0">
              <a:buNone/>
            </a:pPr>
            <a:r>
              <a:rPr lang="en-US" sz="1800" b="1" dirty="0">
                <a:solidFill>
                  <a:schemeClr val="tx1"/>
                </a:solidFill>
              </a:rPr>
              <a:t>Show</a:t>
            </a:r>
            <a:endParaRPr lang="en-US" sz="1800" dirty="0"/>
          </a:p>
        </p:txBody>
      </p:sp>
      <p:sp>
        <p:nvSpPr>
          <p:cNvPr id="43" name="Text 35"/>
          <p:cNvSpPr txBox="1"/>
          <p:nvPr/>
        </p:nvSpPr>
        <p:spPr>
          <a:xfrm>
            <a:off x="10085832" y="2788920"/>
            <a:ext cx="1389888" cy="1463040"/>
          </a:xfrm>
          <a:prstGeom prst="rect">
            <a:avLst/>
          </a:prstGeom>
          <a:noFill/>
          <a:ln/>
        </p:spPr>
        <p:txBody>
          <a:bodyPr wrap="square" lIns="0" tIns="0" rIns="0" bIns="0" rtlCol="0" anchor="t"/>
          <a:lstStyle/>
          <a:p>
            <a:pPr indent="0" marL="0">
              <a:buNone/>
            </a:pPr>
            <a:r>
              <a:rPr lang="en-US" sz="1500" dirty="0">
                <a:solidFill>
                  <a:schemeClr val="tx1"/>
                </a:solidFill>
              </a:rPr>
              <a:t>Side panel: sources, quotes, page highlights</a:t>
            </a:r>
            <a:endParaRPr lang="en-US" sz="1500" dirty="0"/>
          </a:p>
        </p:txBody>
      </p:sp>
      <p:sp>
        <p:nvSpPr>
          <p:cNvPr id="44" name="research mode box"/>
          <p:cNvSpPr/>
          <p:nvPr/>
        </p:nvSpPr>
        <p:spPr>
          <a:xfrm>
            <a:off x="548640" y="4572000"/>
            <a:ext cx="5394960" cy="1508760"/>
          </a:xfrm>
          <a:prstGeom prst="roundRect">
            <a:avLst>
              <a:gd name="adj" fmla="val 4848"/>
            </a:avLst>
          </a:prstGeom>
          <a:solidFill>
            <a:schemeClr val="bg1"/>
          </a:solidFill>
          <a:ln w="19050">
            <a:solidFill>
              <a:schemeClr val="accent4"/>
            </a:solidFill>
            <a:prstDash val="dash"/>
          </a:ln>
        </p:spPr>
      </p:sp>
      <p:sp>
        <p:nvSpPr>
          <p:cNvPr id="45" name="Text 37"/>
          <p:cNvSpPr txBox="1"/>
          <p:nvPr/>
        </p:nvSpPr>
        <p:spPr>
          <a:xfrm>
            <a:off x="777240" y="4709160"/>
            <a:ext cx="4937760" cy="1280160"/>
          </a:xfrm>
          <a:prstGeom prst="rect">
            <a:avLst/>
          </a:prstGeom>
          <a:noFill/>
          <a:ln/>
        </p:spPr>
        <p:txBody>
          <a:bodyPr wrap="square" lIns="0" tIns="0" rIns="0" bIns="0" rtlCol="0" anchor="ctr"/>
          <a:lstStyle/>
          <a:p>
            <a:pPr indent="0" marL="0">
              <a:buNone/>
            </a:pPr>
            <a:r>
              <a:rPr lang="en-US" sz="1600" b="1" dirty="0">
                <a:solidFill>
                  <a:schemeClr val="accent4"/>
                </a:solidFill>
              </a:rPr>
              <a:t>Research mode only</a:t>
            </a:r>
            <a:endParaRPr lang="en-US" sz="1400" dirty="0"/>
          </a:p>
          <a:p>
            <a:pPr indent="0" marL="0">
              <a:buNone/>
            </a:pPr>
            <a:r>
              <a:rPr lang="en-US" sz="1400" dirty="0">
                <a:solidFill>
                  <a:schemeClr val="tx1"/>
                </a:solidFill>
              </a:rPr>
              <a:t>Density ρ (kNN plus Mahalanobis) and entropy U are computed beside the verdict, marked NOT CALIBRATED, and never decide it.</a:t>
            </a:r>
            <a:endParaRPr lang="en-US" sz="1400" dirty="0"/>
          </a:p>
        </p:txBody>
      </p:sp>
      <p:sp>
        <p:nvSpPr>
          <p:cNvPr id="46" name="failure semantics box"/>
          <p:cNvSpPr/>
          <p:nvPr/>
        </p:nvSpPr>
        <p:spPr>
          <a:xfrm>
            <a:off x="6217920" y="4572000"/>
            <a:ext cx="5394960" cy="1508760"/>
          </a:xfrm>
          <a:prstGeom prst="roundRect">
            <a:avLst>
              <a:gd name="adj" fmla="val 4848"/>
            </a:avLst>
          </a:prstGeom>
          <a:solidFill>
            <a:schemeClr val="accent3"/>
          </a:solidFill>
          <a:ln w="12700">
            <a:solidFill>
              <a:schemeClr val="accent3"/>
            </a:solidFill>
            <a:prstDash val="solid"/>
          </a:ln>
        </p:spPr>
      </p:sp>
      <p:sp>
        <p:nvSpPr>
          <p:cNvPr id="47" name="Text 39"/>
          <p:cNvSpPr txBox="1"/>
          <p:nvPr/>
        </p:nvSpPr>
        <p:spPr>
          <a:xfrm>
            <a:off x="6446520" y="4709160"/>
            <a:ext cx="4937760" cy="1280160"/>
          </a:xfrm>
          <a:prstGeom prst="rect">
            <a:avLst/>
          </a:prstGeom>
          <a:noFill/>
          <a:ln/>
        </p:spPr>
        <p:txBody>
          <a:bodyPr wrap="square" lIns="0" tIns="0" rIns="0" bIns="0" rtlCol="0" anchor="ctr"/>
          <a:lstStyle/>
          <a:p>
            <a:pPr indent="0" marL="0">
              <a:buNone/>
            </a:pPr>
            <a:r>
              <a:rPr lang="en-US" sz="1600" b="1" dirty="0">
                <a:solidFill>
                  <a:schemeClr val="bg1"/>
                </a:solidFill>
              </a:rPr>
              <a:t>Failure semantics</a:t>
            </a:r>
            <a:endParaRPr lang="en-US" sz="1400" dirty="0"/>
          </a:p>
          <a:p>
            <a:pPr indent="0" marL="0">
              <a:buNone/>
            </a:pPr>
            <a:r>
              <a:rPr lang="en-US" sz="1400" dirty="0">
                <a:solidFill>
                  <a:schemeClr val="bg1"/>
                </a:solidFill>
              </a:rPr>
              <a:t>If every retriever fails, or the stream drops, that claim is an error with a retry. It is never shown as “no sources”.</a:t>
            </a:r>
            <a:endParaRPr lang="en-US" sz="14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Verdict rules: five outcomes, decided by counted sources</a:t>
            </a:r>
            <a:endParaRPr lang="en-US" sz="3000" dirty="0"/>
          </a:p>
        </p:txBody>
      </p:sp>
      <p:sp>
        <p:nvSpPr>
          <p:cNvPr id="3" name="definitions card"/>
          <p:cNvSpPr/>
          <p:nvPr/>
        </p:nvSpPr>
        <p:spPr>
          <a:xfrm>
            <a:off x="548640" y="1463040"/>
            <a:ext cx="6126480" cy="1417320"/>
          </a:xfrm>
          <a:prstGeom prst="roundRect">
            <a:avLst>
              <a:gd name="adj" fmla="val 5161"/>
            </a:avLst>
          </a:prstGeom>
          <a:solidFill>
            <a:schemeClr val="bg2"/>
          </a:solidFill>
          <a:ln w="12700">
            <a:solidFill>
              <a:schemeClr val="bg2"/>
            </a:solidFill>
            <a:prstDash val="solid"/>
          </a:ln>
        </p:spPr>
      </p:sp>
      <p:sp>
        <p:nvSpPr>
          <p:cNvPr id="4" name="Text 2"/>
          <p:cNvSpPr txBox="1"/>
          <p:nvPr/>
        </p:nvSpPr>
        <p:spPr>
          <a:xfrm>
            <a:off x="777240" y="1554480"/>
            <a:ext cx="5760720" cy="1234440"/>
          </a:xfrm>
          <a:prstGeom prst="rect">
            <a:avLst/>
          </a:prstGeom>
          <a:noFill/>
          <a:ln/>
        </p:spPr>
        <p:txBody>
          <a:bodyPr wrap="square" lIns="0" tIns="0" rIns="0" bIns="0" rtlCol="0" anchor="ctr"/>
          <a:lstStyle/>
          <a:p>
            <a:pPr indent="0" marL="0">
              <a:spcAft>
                <a:spcPts val="400"/>
              </a:spcAft>
              <a:buNone/>
            </a:pPr>
            <a:r>
              <a:rPr lang="en-US" sz="1500" dirty="0">
                <a:solidFill>
                  <a:schemeClr val="tx1"/>
                </a:solidFill>
                <a:latin typeface="+mj-lt" pitchFamily="34" charset="0"/>
                <a:ea typeface="+mj-lt" pitchFamily="34" charset="-122"/>
                <a:cs typeface="+mj-lt" pitchFamily="34" charset="-120"/>
              </a:rPr>
              <a:t>P: sources that support, confidence ≥ 0.5, quote verified in the source</a:t>
            </a:r>
            <a:endParaRPr lang="en-US" sz="1500" dirty="0"/>
          </a:p>
          <a:p>
            <a:pPr indent="0" marL="0">
              <a:spcAft>
                <a:spcPts val="400"/>
              </a:spcAft>
              <a:buNone/>
            </a:pPr>
            <a:r>
              <a:rPr lang="en-US" sz="1500" dirty="0">
                <a:solidFill>
                  <a:schemeClr val="tx1"/>
                </a:solidFill>
                <a:latin typeface="+mj-lt" pitchFamily="34" charset="0"/>
                <a:ea typeface="+mj-lt" pitchFamily="34" charset="-122"/>
                <a:cs typeface="+mj-lt" pitchFamily="34" charset="-120"/>
              </a:rPr>
              <a:t>N: sources that refute, same tests</a:t>
            </a:r>
            <a:endParaRPr lang="en-US" sz="1500" dirty="0"/>
          </a:p>
          <a:p>
            <a:pPr indent="0" marL="0">
              <a:spcAft>
                <a:spcPts val="400"/>
              </a:spcAft>
              <a:buNone/>
            </a:pPr>
            <a:r>
              <a:rPr lang="en-US" sz="1500" b="1" dirty="0">
                <a:solidFill>
                  <a:schemeClr val="tx1"/>
                </a:solidFill>
                <a:latin typeface="+mj-lt" pitchFamily="34" charset="0"/>
                <a:ea typeface="+mj-lt" pitchFamily="34" charset="-122"/>
                <a:cs typeface="+mj-lt" pitchFamily="34" charset="-120"/>
              </a:rPr>
              <a:t>Q(T): |T| ≥ 2, or |T| = 1 with confidence ≥ 0.8</a:t>
            </a:r>
            <a:endParaRPr lang="en-US" sz="1500" dirty="0"/>
          </a:p>
        </p:txBody>
      </p:sp>
      <p:graphicFrame>
        <p:nvGraphicFramePr>
          <p:cNvPr id="8" name="rules table"/>
          <p:cNvGraphicFramePr>
            <a:graphicFrameLocks noGrp="1"/>
          </p:cNvGraphicFramePr>
          <p:nvPr>
            <p:extLst>
              <p:ext uri="{D42A27DB-BD31-4B8C-83A1-F6EECF244321}">
                <p14:modId xmlns:p14="http://schemas.microsoft.com/office/powerpoint/2010/main" val="1579011935"/>
              </p:ext>
            </p:extLst>
          </p:nvPr>
        </p:nvGraphicFramePr>
        <p:xfrm>
          <a:off x="548640" y="3108960"/>
          <a:ext cx="6126480" cy="914400"/>
        </p:xfrm>
        <a:graphic>
          <a:graphicData uri="http://schemas.openxmlformats.org/drawingml/2006/table">
            <a:tbl>
              <a:tblPr/>
              <a:tblGrid>
                <a:gridCol w="731520"/>
                <a:gridCol w="3566160"/>
                <a:gridCol w="1828800"/>
              </a:tblGrid>
              <a:tr h="475488">
                <a:tc>
                  <a:txBody>
                    <a:bodyPr/>
                    <a:lstStyle/>
                    <a:p>
                      <a:pPr indent="0" marL="0">
                        <a:buNone/>
                      </a:pPr>
                      <a:r>
                        <a:rPr lang="en-US" sz="1400" b="1" dirty="0">
                          <a:solidFill>
                            <a:schemeClr val="bg1"/>
                          </a:solidFill>
                        </a:rPr>
                        <a:t>Rule</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400" b="1" dirty="0">
                          <a:solidFill>
                            <a:schemeClr val="bg1"/>
                          </a:solidFill>
                        </a:rPr>
                        <a:t>Condition (first that applies)</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400" b="1" dirty="0">
                          <a:solidFill>
                            <a:schemeClr val="bg1"/>
                          </a:solidFill>
                        </a:rPr>
                        <a:t>Verdict</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r>
              <a:tr h="475488">
                <a:tc>
                  <a:txBody>
                    <a:bodyPr/>
                    <a:lstStyle/>
                    <a:p>
                      <a:pPr indent="0" marL="0">
                        <a:buNone/>
                      </a:pPr>
                      <a:r>
                        <a:rPr lang="en-US" sz="1400" b="1" dirty="0">
                          <a:solidFill>
                            <a:srgbClr val="000000"/>
                          </a:solidFill>
                        </a:rPr>
                        <a:t>R1</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no sources retrieved (n = 0)</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algn="ctr" indent="0" marL="0">
                        <a:buNone/>
                      </a:pPr>
                      <a:r>
                        <a:rPr lang="en-US" sz="1400" b="1" dirty="0">
                          <a:solidFill>
                            <a:schemeClr val="bg1"/>
                          </a:solidFill>
                        </a:rPr>
                        <a:t>no sources</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5B6B80"/>
                    </a:solidFill>
                  </a:tcPr>
                </a:tc>
              </a:tr>
              <a:tr h="475488">
                <a:tc>
                  <a:txBody>
                    <a:bodyPr/>
                    <a:lstStyle/>
                    <a:p>
                      <a:pPr indent="0" marL="0">
                        <a:buNone/>
                      </a:pPr>
                      <a:r>
                        <a:rPr lang="en-US" sz="1400" b="1" dirty="0">
                          <a:solidFill>
                            <a:srgbClr val="000000"/>
                          </a:solidFill>
                        </a:rPr>
                        <a:t>R2</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P and N both non-empty, and Q(P) or Q(N)</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algn="ctr" indent="0" marL="0">
                        <a:buNone/>
                      </a:pPr>
                      <a:r>
                        <a:rPr lang="en-US" sz="1400" b="1" dirty="0">
                          <a:solidFill>
                            <a:schemeClr val="bg1"/>
                          </a:solidFill>
                        </a:rPr>
                        <a:t>mixed</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98E04"/>
                    </a:solidFill>
                  </a:tcPr>
                </a:tc>
              </a:tr>
              <a:tr h="475488">
                <a:tc>
                  <a:txBody>
                    <a:bodyPr/>
                    <a:lstStyle/>
                    <a:p>
                      <a:pPr indent="0" marL="0">
                        <a:buNone/>
                      </a:pPr>
                      <a:r>
                        <a:rPr lang="en-US" sz="1400" b="1" dirty="0">
                          <a:solidFill>
                            <a:srgbClr val="000000"/>
                          </a:solidFill>
                        </a:rPr>
                        <a:t>R3</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Q(P)</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algn="ctr" indent="0" marL="0">
                        <a:buNone/>
                      </a:pPr>
                      <a:r>
                        <a:rPr lang="en-US" sz="1400" b="1" dirty="0">
                          <a:solidFill>
                            <a:schemeClr val="bg1"/>
                          </a:solidFill>
                        </a:rPr>
                        <a:t>supported</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E8F8A"/>
                    </a:solidFill>
                  </a:tcPr>
                </a:tc>
              </a:tr>
              <a:tr h="475488">
                <a:tc>
                  <a:txBody>
                    <a:bodyPr/>
                    <a:lstStyle/>
                    <a:p>
                      <a:pPr indent="0" marL="0">
                        <a:buNone/>
                      </a:pPr>
                      <a:r>
                        <a:rPr lang="en-US" sz="1400" b="1" dirty="0">
                          <a:solidFill>
                            <a:srgbClr val="000000"/>
                          </a:solidFill>
                        </a:rPr>
                        <a:t>R4</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Q(N)</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algn="ctr" indent="0" marL="0">
                        <a:buNone/>
                      </a:pPr>
                      <a:r>
                        <a:rPr lang="en-US" sz="1400" b="1" dirty="0">
                          <a:solidFill>
                            <a:schemeClr val="bg1"/>
                          </a:solidFill>
                        </a:rPr>
                        <a:t>refuted</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C0392B"/>
                    </a:solidFill>
                  </a:tcPr>
                </a:tc>
              </a:tr>
              <a:tr h="475488">
                <a:tc>
                  <a:txBody>
                    <a:bodyPr/>
                    <a:lstStyle/>
                    <a:p>
                      <a:pPr indent="0" marL="0">
                        <a:buNone/>
                      </a:pPr>
                      <a:r>
                        <a:rPr lang="en-US" sz="1400" b="1" dirty="0">
                          <a:solidFill>
                            <a:srgbClr val="000000"/>
                          </a:solidFill>
                        </a:rPr>
                        <a:t>R5</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otherwise</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algn="ctr" indent="0" marL="0">
                        <a:buNone/>
                      </a:pPr>
                      <a:r>
                        <a:rPr lang="en-US" sz="1400" b="1" dirty="0">
                          <a:solidFill>
                            <a:schemeClr val="bg1"/>
                          </a:solidFill>
                        </a:rPr>
                        <a:t>insufficient</a:t>
                      </a:r>
                      <a:endParaRPr lang="en-US" sz="1400" dirty="0"/>
                    </a:p>
                  </a:txBody>
                  <a:tcPr marL="91440" marR="91440"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5B6B80"/>
                    </a:solidFill>
                  </a:tcPr>
                </a:tc>
              </a:tr>
            </a:tbl>
          </a:graphicData>
        </a:graphic>
      </p:graphicFrame>
      <p:pic>
        <p:nvPicPr>
          <p:cNvPr id="6" name="verdict regions figure" descr="Verdict regions by number of counted supporting sources and strongest confidence">    </p:cNvPr>
          <p:cNvPicPr>
            <a:picLocks noChangeAspect="1"/>
          </p:cNvPicPr>
          <p:nvPr/>
        </p:nvPicPr>
        <p:blipFill>
          <a:blip r:embed="rId1"/>
          <a:stretch>
            <a:fillRect/>
          </a:stretch>
        </p:blipFill>
        <p:spPr>
          <a:xfrm>
            <a:off x="6995160" y="1463040"/>
            <a:ext cx="4617720" cy="3035808"/>
          </a:xfrm>
          <a:prstGeom prst="rect">
            <a:avLst/>
          </a:prstGeom>
        </p:spPr>
      </p:pic>
      <p:sp>
        <p:nvSpPr>
          <p:cNvPr id="7" name="Text 3"/>
          <p:cNvSpPr txBox="1"/>
          <p:nvPr/>
        </p:nvSpPr>
        <p:spPr>
          <a:xfrm>
            <a:off x="6995160" y="4572000"/>
            <a:ext cx="4617720" cy="685800"/>
          </a:xfrm>
          <a:prstGeom prst="rect">
            <a:avLst/>
          </a:prstGeom>
          <a:noFill/>
          <a:ln/>
        </p:spPr>
        <p:txBody>
          <a:bodyPr wrap="square" lIns="0" tIns="0" rIns="0" bIns="0" rtlCol="0" anchor="t"/>
          <a:lstStyle/>
          <a:p>
            <a:pPr indent="0" marL="0">
              <a:buNone/>
            </a:pPr>
            <a:r>
              <a:rPr lang="en-US" sz="1200" dirty="0">
                <a:solidFill>
                  <a:schemeClr val="accent4"/>
                </a:solidFill>
              </a:rPr>
              <a:t>Verdict by number of counted supporting sources and strongest confidence, no counted refutation. One source qualifies only at confidence 0.8 or more.</a:t>
            </a:r>
            <a:endParaRPr lang="en-US" sz="1200" dirty="0"/>
          </a:p>
        </p:txBody>
      </p:sp>
      <p:sp>
        <p:nvSpPr>
          <p:cNvPr id="8" name="why callout"/>
          <p:cNvSpPr/>
          <p:nvPr/>
        </p:nvSpPr>
        <p:spPr>
          <a:xfrm>
            <a:off x="6995160" y="5349240"/>
            <a:ext cx="4617720" cy="731520"/>
          </a:xfrm>
          <a:prstGeom prst="roundRect">
            <a:avLst>
              <a:gd name="adj" fmla="val 10000"/>
            </a:avLst>
          </a:prstGeom>
          <a:solidFill>
            <a:schemeClr val="tx1"/>
          </a:solidFill>
          <a:ln w="12700">
            <a:solidFill>
              <a:schemeClr val="tx1"/>
            </a:solidFill>
            <a:prstDash val="solid"/>
          </a:ln>
        </p:spPr>
      </p:sp>
      <p:sp>
        <p:nvSpPr>
          <p:cNvPr id="9" name="Text 5"/>
          <p:cNvSpPr txBox="1"/>
          <p:nvPr/>
        </p:nvSpPr>
        <p:spPr>
          <a:xfrm>
            <a:off x="7178040" y="5349240"/>
            <a:ext cx="4297680" cy="731520"/>
          </a:xfrm>
          <a:prstGeom prst="rect">
            <a:avLst/>
          </a:prstGeom>
          <a:noFill/>
          <a:ln/>
        </p:spPr>
        <p:txBody>
          <a:bodyPr wrap="square" lIns="0" tIns="0" rIns="0" bIns="0" rtlCol="0" anchor="ctr"/>
          <a:lstStyle/>
          <a:p>
            <a:pPr indent="0" marL="0">
              <a:buNone/>
            </a:pPr>
            <a:r>
              <a:rPr lang="en-US" sz="1600" b="1" dirty="0">
                <a:solidFill>
                  <a:schemeClr val="bg1"/>
                </a:solidFill>
              </a:rPr>
              <a:t>Why: one weak source cannot say “backed up”</a:t>
            </a:r>
            <a:endParaRPr lang="en-US" sz="16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Statistical and data-science concepts applied</a:t>
            </a:r>
            <a:endParaRPr lang="en-US" sz="3000" dirty="0"/>
          </a:p>
        </p:txBody>
      </p:sp>
      <p:sp>
        <p:nvSpPr>
          <p:cNvPr id="3" name="stat card 1"/>
          <p:cNvSpPr/>
          <p:nvPr/>
        </p:nvSpPr>
        <p:spPr>
          <a:xfrm>
            <a:off x="548640" y="1463040"/>
            <a:ext cx="2697480" cy="2286000"/>
          </a:xfrm>
          <a:prstGeom prst="roundRect">
            <a:avLst>
              <a:gd name="adj" fmla="val 3200"/>
            </a:avLst>
          </a:prstGeom>
          <a:solidFill>
            <a:schemeClr val="bg2"/>
          </a:solidFill>
          <a:ln w="12700">
            <a:solidFill>
              <a:schemeClr val="bg2"/>
            </a:solidFill>
            <a:prstDash val="solid"/>
          </a:ln>
        </p:spPr>
      </p:sp>
      <p:sp>
        <p:nvSpPr>
          <p:cNvPr id="4" name="Cosine similarity circle"/>
          <p:cNvSpPr/>
          <p:nvPr/>
        </p:nvSpPr>
        <p:spPr>
          <a:xfrm>
            <a:off x="731520" y="1645920"/>
            <a:ext cx="548640" cy="548640"/>
          </a:xfrm>
          <a:prstGeom prst="ellipse">
            <a:avLst/>
          </a:prstGeom>
          <a:solidFill>
            <a:schemeClr val="accent1"/>
          </a:solidFill>
          <a:ln w="12700">
            <a:solidFill>
              <a:schemeClr val="accent1"/>
            </a:solidFill>
            <a:prstDash val="solid"/>
          </a:ln>
        </p:spPr>
      </p:sp>
      <p:pic>
        <p:nvPicPr>
          <p:cNvPr id="5" name="Cosine similarity icon" descr="Cosine similarity">    </p:cNvPr>
          <p:cNvPicPr>
            <a:picLocks noChangeAspect="1"/>
          </p:cNvPicPr>
          <p:nvPr/>
        </p:nvPicPr>
        <p:blipFill>
          <a:blip r:embed="rId1"/>
          <a:stretch>
            <a:fillRect/>
          </a:stretch>
        </p:blipFill>
        <p:spPr>
          <a:xfrm>
            <a:off x="852221" y="1766621"/>
            <a:ext cx="307238" cy="307238"/>
          </a:xfrm>
          <a:prstGeom prst="rect">
            <a:avLst/>
          </a:prstGeom>
        </p:spPr>
      </p:pic>
      <p:sp>
        <p:nvSpPr>
          <p:cNvPr id="6" name="Text 3"/>
          <p:cNvSpPr txBox="1"/>
          <p:nvPr/>
        </p:nvSpPr>
        <p:spPr>
          <a:xfrm>
            <a:off x="731520" y="2304288"/>
            <a:ext cx="2331720" cy="502920"/>
          </a:xfrm>
          <a:prstGeom prst="rect">
            <a:avLst/>
          </a:prstGeom>
          <a:noFill/>
          <a:ln/>
        </p:spPr>
        <p:txBody>
          <a:bodyPr wrap="square" lIns="0" tIns="0" rIns="0" bIns="0" rtlCol="0" anchor="t"/>
          <a:lstStyle/>
          <a:p>
            <a:pPr indent="0" marL="0">
              <a:buNone/>
            </a:pPr>
            <a:r>
              <a:rPr lang="en-US" sz="1600" b="1" dirty="0">
                <a:solidFill>
                  <a:schemeClr val="tx1"/>
                </a:solidFill>
              </a:rPr>
              <a:t>Cosine similarity</a:t>
            </a:r>
            <a:endParaRPr lang="en-US" sz="1600" dirty="0"/>
          </a:p>
        </p:txBody>
      </p:sp>
      <p:sp>
        <p:nvSpPr>
          <p:cNvPr id="7" name="Text 4"/>
          <p:cNvSpPr txBox="1"/>
          <p:nvPr/>
        </p:nvSpPr>
        <p:spPr>
          <a:xfrm>
            <a:off x="731520" y="2788920"/>
            <a:ext cx="2331720" cy="914400"/>
          </a:xfrm>
          <a:prstGeom prst="rect">
            <a:avLst/>
          </a:prstGeom>
          <a:noFill/>
          <a:ln/>
        </p:spPr>
        <p:txBody>
          <a:bodyPr wrap="square" lIns="0" tIns="0" rIns="0" bIns="0" rtlCol="0" anchor="t"/>
          <a:lstStyle/>
          <a:p>
            <a:pPr indent="0" marL="0">
              <a:buNone/>
            </a:pPr>
            <a:r>
              <a:rPr lang="en-US" sz="1400" dirty="0">
                <a:solidFill>
                  <a:schemeClr val="tx1"/>
                </a:solidFill>
              </a:rPr>
              <a:t>Ranks sources by closeness to the claim; keeps the top 6.</a:t>
            </a:r>
            <a:endParaRPr lang="en-US" sz="1400" dirty="0"/>
          </a:p>
        </p:txBody>
      </p:sp>
      <p:sp>
        <p:nvSpPr>
          <p:cNvPr id="8" name="stat card 2"/>
          <p:cNvSpPr/>
          <p:nvPr/>
        </p:nvSpPr>
        <p:spPr>
          <a:xfrm>
            <a:off x="3355848" y="1463040"/>
            <a:ext cx="2697480" cy="2286000"/>
          </a:xfrm>
          <a:prstGeom prst="roundRect">
            <a:avLst>
              <a:gd name="adj" fmla="val 3200"/>
            </a:avLst>
          </a:prstGeom>
          <a:solidFill>
            <a:schemeClr val="bg2"/>
          </a:solidFill>
          <a:ln w="12700">
            <a:solidFill>
              <a:schemeClr val="bg2"/>
            </a:solidFill>
            <a:prstDash val="solid"/>
          </a:ln>
        </p:spPr>
      </p:sp>
      <p:sp>
        <p:nvSpPr>
          <p:cNvPr id="9" name="kNN + Mahalanobis circle"/>
          <p:cNvSpPr/>
          <p:nvPr/>
        </p:nvSpPr>
        <p:spPr>
          <a:xfrm>
            <a:off x="3538728" y="1645920"/>
            <a:ext cx="548640" cy="548640"/>
          </a:xfrm>
          <a:prstGeom prst="ellipse">
            <a:avLst/>
          </a:prstGeom>
          <a:solidFill>
            <a:schemeClr val="accent5"/>
          </a:solidFill>
          <a:ln w="12700">
            <a:solidFill>
              <a:schemeClr val="accent5"/>
            </a:solidFill>
            <a:prstDash val="solid"/>
          </a:ln>
        </p:spPr>
      </p:sp>
      <p:pic>
        <p:nvPicPr>
          <p:cNvPr id="10" name="kNN + Mahalanobis icon" descr="kNN + Mahalanobis">    </p:cNvPr>
          <p:cNvPicPr>
            <a:picLocks noChangeAspect="1"/>
          </p:cNvPicPr>
          <p:nvPr/>
        </p:nvPicPr>
        <p:blipFill>
          <a:blip r:embed="rId2"/>
          <a:stretch>
            <a:fillRect/>
          </a:stretch>
        </p:blipFill>
        <p:spPr>
          <a:xfrm>
            <a:off x="3659429" y="1766621"/>
            <a:ext cx="307238" cy="307238"/>
          </a:xfrm>
          <a:prstGeom prst="rect">
            <a:avLst/>
          </a:prstGeom>
        </p:spPr>
      </p:pic>
      <p:sp>
        <p:nvSpPr>
          <p:cNvPr id="11" name="Text 7"/>
          <p:cNvSpPr txBox="1"/>
          <p:nvPr/>
        </p:nvSpPr>
        <p:spPr>
          <a:xfrm>
            <a:off x="3538728" y="2304288"/>
            <a:ext cx="2331720" cy="502920"/>
          </a:xfrm>
          <a:prstGeom prst="rect">
            <a:avLst/>
          </a:prstGeom>
          <a:noFill/>
          <a:ln/>
        </p:spPr>
        <p:txBody>
          <a:bodyPr wrap="square" lIns="0" tIns="0" rIns="0" bIns="0" rtlCol="0" anchor="t"/>
          <a:lstStyle/>
          <a:p>
            <a:pPr indent="0" marL="0">
              <a:buNone/>
            </a:pPr>
            <a:r>
              <a:rPr lang="en-US" sz="1600" b="1" dirty="0">
                <a:solidFill>
                  <a:schemeClr val="tx1"/>
                </a:solidFill>
              </a:rPr>
              <a:t>kNN + Mahalanobis</a:t>
            </a:r>
            <a:endParaRPr lang="en-US" sz="1600" dirty="0"/>
          </a:p>
        </p:txBody>
      </p:sp>
      <p:sp>
        <p:nvSpPr>
          <p:cNvPr id="12" name="Text 8"/>
          <p:cNvSpPr txBox="1"/>
          <p:nvPr/>
        </p:nvSpPr>
        <p:spPr>
          <a:xfrm>
            <a:off x="3538728" y="2788920"/>
            <a:ext cx="2331720" cy="914400"/>
          </a:xfrm>
          <a:prstGeom prst="rect">
            <a:avLst/>
          </a:prstGeom>
          <a:noFill/>
          <a:ln/>
        </p:spPr>
        <p:txBody>
          <a:bodyPr wrap="square" lIns="0" tIns="0" rIns="0" bIns="0" rtlCol="0" anchor="t"/>
          <a:lstStyle/>
          <a:p>
            <a:pPr indent="0" marL="0">
              <a:buNone/>
            </a:pPr>
            <a:r>
              <a:rPr lang="en-US" sz="1400" dirty="0">
                <a:solidFill>
                  <a:schemeClr val="tx1"/>
                </a:solidFill>
              </a:rPr>
              <a:t>Distance of a claim from 10,000 FEVER claim embeddings (research mode).</a:t>
            </a:r>
            <a:endParaRPr lang="en-US" sz="1400" dirty="0"/>
          </a:p>
        </p:txBody>
      </p:sp>
      <p:sp>
        <p:nvSpPr>
          <p:cNvPr id="13" name="stat card 3"/>
          <p:cNvSpPr/>
          <p:nvPr/>
        </p:nvSpPr>
        <p:spPr>
          <a:xfrm>
            <a:off x="6163056" y="1463040"/>
            <a:ext cx="2697480" cy="2286000"/>
          </a:xfrm>
          <a:prstGeom prst="roundRect">
            <a:avLst>
              <a:gd name="adj" fmla="val 3200"/>
            </a:avLst>
          </a:prstGeom>
          <a:solidFill>
            <a:schemeClr val="bg2"/>
          </a:solidFill>
          <a:ln w="12700">
            <a:solidFill>
              <a:schemeClr val="bg2"/>
            </a:solidFill>
            <a:prstDash val="solid"/>
          </a:ln>
        </p:spPr>
      </p:sp>
      <p:sp>
        <p:nvSpPr>
          <p:cNvPr id="14" name="Ledoit–Wolf shrinkage circle"/>
          <p:cNvSpPr/>
          <p:nvPr/>
        </p:nvSpPr>
        <p:spPr>
          <a:xfrm>
            <a:off x="6345936" y="1645920"/>
            <a:ext cx="548640" cy="548640"/>
          </a:xfrm>
          <a:prstGeom prst="ellipse">
            <a:avLst/>
          </a:prstGeom>
          <a:solidFill>
            <a:schemeClr val="accent6"/>
          </a:solidFill>
          <a:ln w="12700">
            <a:solidFill>
              <a:schemeClr val="accent6"/>
            </a:solidFill>
            <a:prstDash val="solid"/>
          </a:ln>
        </p:spPr>
      </p:sp>
      <p:pic>
        <p:nvPicPr>
          <p:cNvPr id="15" name="Ledoit–Wolf shrinkage icon" descr="Ledoit–Wolf shrinkage">    </p:cNvPr>
          <p:cNvPicPr>
            <a:picLocks noChangeAspect="1"/>
          </p:cNvPicPr>
          <p:nvPr/>
        </p:nvPicPr>
        <p:blipFill>
          <a:blip r:embed="rId3"/>
          <a:stretch>
            <a:fillRect/>
          </a:stretch>
        </p:blipFill>
        <p:spPr>
          <a:xfrm>
            <a:off x="6466637" y="1766621"/>
            <a:ext cx="307238" cy="307238"/>
          </a:xfrm>
          <a:prstGeom prst="rect">
            <a:avLst/>
          </a:prstGeom>
        </p:spPr>
      </p:pic>
      <p:sp>
        <p:nvSpPr>
          <p:cNvPr id="16" name="Text 11"/>
          <p:cNvSpPr txBox="1"/>
          <p:nvPr/>
        </p:nvSpPr>
        <p:spPr>
          <a:xfrm>
            <a:off x="6345936" y="2304288"/>
            <a:ext cx="2331720" cy="502920"/>
          </a:xfrm>
          <a:prstGeom prst="rect">
            <a:avLst/>
          </a:prstGeom>
          <a:noFill/>
          <a:ln/>
        </p:spPr>
        <p:txBody>
          <a:bodyPr wrap="square" lIns="0" tIns="0" rIns="0" bIns="0" rtlCol="0" anchor="t"/>
          <a:lstStyle/>
          <a:p>
            <a:pPr indent="0" marL="0">
              <a:buNone/>
            </a:pPr>
            <a:r>
              <a:rPr lang="en-US" sz="1600" b="1" dirty="0">
                <a:solidFill>
                  <a:schemeClr val="tx1"/>
                </a:solidFill>
              </a:rPr>
              <a:t>Ledoit–Wolf shrinkage</a:t>
            </a:r>
            <a:endParaRPr lang="en-US" sz="1600" dirty="0"/>
          </a:p>
        </p:txBody>
      </p:sp>
      <p:sp>
        <p:nvSpPr>
          <p:cNvPr id="17" name="Text 12"/>
          <p:cNvSpPr txBox="1"/>
          <p:nvPr/>
        </p:nvSpPr>
        <p:spPr>
          <a:xfrm>
            <a:off x="6345936" y="2788920"/>
            <a:ext cx="2331720" cy="914400"/>
          </a:xfrm>
          <a:prstGeom prst="rect">
            <a:avLst/>
          </a:prstGeom>
          <a:noFill/>
          <a:ln/>
        </p:spPr>
        <p:txBody>
          <a:bodyPr wrap="square" lIns="0" tIns="0" rIns="0" bIns="0" rtlCol="0" anchor="t"/>
          <a:lstStyle/>
          <a:p>
            <a:pPr indent="0" marL="0">
              <a:buNone/>
            </a:pPr>
            <a:r>
              <a:rPr lang="en-US" sz="1400" dirty="0">
                <a:solidFill>
                  <a:schemeClr val="tx1"/>
                </a:solidFill>
              </a:rPr>
              <a:t>Stabilises the covariance; condition number ≤ 1 + (1−δ)p/δ.</a:t>
            </a:r>
            <a:endParaRPr lang="en-US" sz="1400" dirty="0"/>
          </a:p>
        </p:txBody>
      </p:sp>
      <p:sp>
        <p:nvSpPr>
          <p:cNvPr id="18" name="stat card 4"/>
          <p:cNvSpPr/>
          <p:nvPr/>
        </p:nvSpPr>
        <p:spPr>
          <a:xfrm>
            <a:off x="8970264" y="1463040"/>
            <a:ext cx="2697480" cy="2286000"/>
          </a:xfrm>
          <a:prstGeom prst="roundRect">
            <a:avLst>
              <a:gd name="adj" fmla="val 3200"/>
            </a:avLst>
          </a:prstGeom>
          <a:solidFill>
            <a:schemeClr val="bg2"/>
          </a:solidFill>
          <a:ln w="12700">
            <a:solidFill>
              <a:schemeClr val="bg2"/>
            </a:solidFill>
            <a:prstDash val="solid"/>
          </a:ln>
        </p:spPr>
      </p:sp>
      <p:sp>
        <p:nvSpPr>
          <p:cNvPr id="19" name="Softmax entropy U circle"/>
          <p:cNvSpPr/>
          <p:nvPr/>
        </p:nvSpPr>
        <p:spPr>
          <a:xfrm>
            <a:off x="9153144" y="1645920"/>
            <a:ext cx="548640" cy="548640"/>
          </a:xfrm>
          <a:prstGeom prst="ellipse">
            <a:avLst/>
          </a:prstGeom>
          <a:solidFill>
            <a:schemeClr val="accent2"/>
          </a:solidFill>
          <a:ln w="12700">
            <a:solidFill>
              <a:schemeClr val="accent2"/>
            </a:solidFill>
            <a:prstDash val="solid"/>
          </a:ln>
        </p:spPr>
      </p:sp>
      <p:pic>
        <p:nvPicPr>
          <p:cNvPr id="20" name="Softmax entropy U icon" descr="Softmax entropy U">    </p:cNvPr>
          <p:cNvPicPr>
            <a:picLocks noChangeAspect="1"/>
          </p:cNvPicPr>
          <p:nvPr/>
        </p:nvPicPr>
        <p:blipFill>
          <a:blip r:embed="rId4"/>
          <a:stretch>
            <a:fillRect/>
          </a:stretch>
        </p:blipFill>
        <p:spPr>
          <a:xfrm>
            <a:off x="9273845" y="1766621"/>
            <a:ext cx="307238" cy="307238"/>
          </a:xfrm>
          <a:prstGeom prst="rect">
            <a:avLst/>
          </a:prstGeom>
        </p:spPr>
      </p:pic>
      <p:sp>
        <p:nvSpPr>
          <p:cNvPr id="21" name="Text 15"/>
          <p:cNvSpPr txBox="1"/>
          <p:nvPr/>
        </p:nvSpPr>
        <p:spPr>
          <a:xfrm>
            <a:off x="9153144" y="2304288"/>
            <a:ext cx="2331720" cy="502920"/>
          </a:xfrm>
          <a:prstGeom prst="rect">
            <a:avLst/>
          </a:prstGeom>
          <a:noFill/>
          <a:ln/>
        </p:spPr>
        <p:txBody>
          <a:bodyPr wrap="square" lIns="0" tIns="0" rIns="0" bIns="0" rtlCol="0" anchor="t"/>
          <a:lstStyle/>
          <a:p>
            <a:pPr indent="0" marL="0">
              <a:buNone/>
            </a:pPr>
            <a:r>
              <a:rPr lang="en-US" sz="1600" b="1" dirty="0">
                <a:solidFill>
                  <a:schemeClr val="tx1"/>
                </a:solidFill>
              </a:rPr>
              <a:t>Softmax entropy U</a:t>
            </a:r>
            <a:endParaRPr lang="en-US" sz="1600" dirty="0"/>
          </a:p>
        </p:txBody>
      </p:sp>
      <p:sp>
        <p:nvSpPr>
          <p:cNvPr id="22" name="Text 16"/>
          <p:cNvSpPr txBox="1"/>
          <p:nvPr/>
        </p:nvSpPr>
        <p:spPr>
          <a:xfrm>
            <a:off x="9153144" y="2788920"/>
            <a:ext cx="2331720" cy="914400"/>
          </a:xfrm>
          <a:prstGeom prst="rect">
            <a:avLst/>
          </a:prstGeom>
          <a:noFill/>
          <a:ln/>
        </p:spPr>
        <p:txBody>
          <a:bodyPr wrap="square" lIns="0" tIns="0" rIns="0" bIns="0" rtlCol="0" anchor="t"/>
          <a:lstStyle/>
          <a:p>
            <a:pPr indent="0" marL="0">
              <a:buNone/>
            </a:pPr>
            <a:r>
              <a:rPr lang="en-US" sz="1400" dirty="0">
                <a:solidFill>
                  <a:schemeClr val="tx1"/>
                </a:solidFill>
              </a:rPr>
              <a:t>Evenness of source matches (τ = 0.1); high when many match alike.</a:t>
            </a:r>
            <a:endParaRPr lang="en-US" sz="1400" dirty="0"/>
          </a:p>
        </p:txBody>
      </p:sp>
      <p:sp>
        <p:nvSpPr>
          <p:cNvPr id="23" name="stat card 5"/>
          <p:cNvSpPr/>
          <p:nvPr/>
        </p:nvSpPr>
        <p:spPr>
          <a:xfrm>
            <a:off x="548640" y="3931920"/>
            <a:ext cx="2697480" cy="2286000"/>
          </a:xfrm>
          <a:prstGeom prst="roundRect">
            <a:avLst>
              <a:gd name="adj" fmla="val 3200"/>
            </a:avLst>
          </a:prstGeom>
          <a:solidFill>
            <a:schemeClr val="bg2"/>
          </a:solidFill>
          <a:ln w="12700">
            <a:solidFill>
              <a:schemeClr val="bg2"/>
            </a:solidFill>
            <a:prstDash val="solid"/>
          </a:ln>
        </p:spPr>
      </p:sp>
      <p:sp>
        <p:nvSpPr>
          <p:cNvPr id="24" name="Confusion, macro-F1 circle"/>
          <p:cNvSpPr/>
          <p:nvPr/>
        </p:nvSpPr>
        <p:spPr>
          <a:xfrm>
            <a:off x="731520" y="4114800"/>
            <a:ext cx="548640" cy="548640"/>
          </a:xfrm>
          <a:prstGeom prst="ellipse">
            <a:avLst/>
          </a:prstGeom>
          <a:solidFill>
            <a:schemeClr val="accent1"/>
          </a:solidFill>
          <a:ln w="12700">
            <a:solidFill>
              <a:schemeClr val="accent1"/>
            </a:solidFill>
            <a:prstDash val="solid"/>
          </a:ln>
        </p:spPr>
      </p:sp>
      <p:pic>
        <p:nvPicPr>
          <p:cNvPr id="25" name="Confusion, macro-F1 icon" descr="Confusion, macro-F1">    </p:cNvPr>
          <p:cNvPicPr>
            <a:picLocks noChangeAspect="1"/>
          </p:cNvPicPr>
          <p:nvPr/>
        </p:nvPicPr>
        <p:blipFill>
          <a:blip r:embed="rId5"/>
          <a:stretch>
            <a:fillRect/>
          </a:stretch>
        </p:blipFill>
        <p:spPr>
          <a:xfrm>
            <a:off x="852221" y="4235501"/>
            <a:ext cx="307238" cy="307238"/>
          </a:xfrm>
          <a:prstGeom prst="rect">
            <a:avLst/>
          </a:prstGeom>
        </p:spPr>
      </p:pic>
      <p:sp>
        <p:nvSpPr>
          <p:cNvPr id="26" name="Text 19"/>
          <p:cNvSpPr txBox="1"/>
          <p:nvPr/>
        </p:nvSpPr>
        <p:spPr>
          <a:xfrm>
            <a:off x="731520" y="4773168"/>
            <a:ext cx="2331720" cy="502920"/>
          </a:xfrm>
          <a:prstGeom prst="rect">
            <a:avLst/>
          </a:prstGeom>
          <a:noFill/>
          <a:ln/>
        </p:spPr>
        <p:txBody>
          <a:bodyPr wrap="square" lIns="0" tIns="0" rIns="0" bIns="0" rtlCol="0" anchor="t"/>
          <a:lstStyle/>
          <a:p>
            <a:pPr indent="0" marL="0">
              <a:buNone/>
            </a:pPr>
            <a:r>
              <a:rPr lang="en-US" sz="1600" b="1" dirty="0">
                <a:solidFill>
                  <a:schemeClr val="tx1"/>
                </a:solidFill>
              </a:rPr>
              <a:t>Confusion, macro-F1</a:t>
            </a:r>
            <a:endParaRPr lang="en-US" sz="1600" dirty="0"/>
          </a:p>
        </p:txBody>
      </p:sp>
      <p:sp>
        <p:nvSpPr>
          <p:cNvPr id="27" name="Text 20"/>
          <p:cNvSpPr txBox="1"/>
          <p:nvPr/>
        </p:nvSpPr>
        <p:spPr>
          <a:xfrm>
            <a:off x="731520" y="5257800"/>
            <a:ext cx="2331720" cy="914400"/>
          </a:xfrm>
          <a:prstGeom prst="rect">
            <a:avLst/>
          </a:prstGeom>
          <a:noFill/>
          <a:ln/>
        </p:spPr>
        <p:txBody>
          <a:bodyPr wrap="square" lIns="0" tIns="0" rIns="0" bIns="0" rtlCol="0" anchor="t"/>
          <a:lstStyle/>
          <a:p>
            <a:pPr indent="0" marL="0">
              <a:buNone/>
            </a:pPr>
            <a:r>
              <a:rPr lang="en-US" sz="1400" dirty="0">
                <a:solidFill>
                  <a:schemeClr val="tx1"/>
                </a:solidFill>
              </a:rPr>
              <a:t>Per-class precision and recall; abstention shown as NEI recall.</a:t>
            </a:r>
            <a:endParaRPr lang="en-US" sz="1400" dirty="0"/>
          </a:p>
        </p:txBody>
      </p:sp>
      <p:sp>
        <p:nvSpPr>
          <p:cNvPr id="28" name="stat card 6"/>
          <p:cNvSpPr/>
          <p:nvPr/>
        </p:nvSpPr>
        <p:spPr>
          <a:xfrm>
            <a:off x="3355848" y="3931920"/>
            <a:ext cx="2697480" cy="2286000"/>
          </a:xfrm>
          <a:prstGeom prst="roundRect">
            <a:avLst>
              <a:gd name="adj" fmla="val 3200"/>
            </a:avLst>
          </a:prstGeom>
          <a:solidFill>
            <a:schemeClr val="bg2"/>
          </a:solidFill>
          <a:ln w="12700">
            <a:solidFill>
              <a:schemeClr val="bg2"/>
            </a:solidFill>
            <a:prstDash val="solid"/>
          </a:ln>
        </p:spPr>
      </p:sp>
      <p:sp>
        <p:nvSpPr>
          <p:cNvPr id="29" name="Wilson 95% interval circle"/>
          <p:cNvSpPr/>
          <p:nvPr/>
        </p:nvSpPr>
        <p:spPr>
          <a:xfrm>
            <a:off x="3538728" y="4114800"/>
            <a:ext cx="548640" cy="548640"/>
          </a:xfrm>
          <a:prstGeom prst="ellipse">
            <a:avLst/>
          </a:prstGeom>
          <a:solidFill>
            <a:schemeClr val="accent5"/>
          </a:solidFill>
          <a:ln w="12700">
            <a:solidFill>
              <a:schemeClr val="accent5"/>
            </a:solidFill>
            <a:prstDash val="solid"/>
          </a:ln>
        </p:spPr>
      </p:sp>
      <p:pic>
        <p:nvPicPr>
          <p:cNvPr id="30" name="Wilson 95% interval icon" descr="Wilson 95% interval">    </p:cNvPr>
          <p:cNvPicPr>
            <a:picLocks noChangeAspect="1"/>
          </p:cNvPicPr>
          <p:nvPr/>
        </p:nvPicPr>
        <p:blipFill>
          <a:blip r:embed="rId6"/>
          <a:stretch>
            <a:fillRect/>
          </a:stretch>
        </p:blipFill>
        <p:spPr>
          <a:xfrm>
            <a:off x="3659429" y="4235501"/>
            <a:ext cx="307238" cy="307238"/>
          </a:xfrm>
          <a:prstGeom prst="rect">
            <a:avLst/>
          </a:prstGeom>
        </p:spPr>
      </p:pic>
      <p:sp>
        <p:nvSpPr>
          <p:cNvPr id="31" name="Text 23"/>
          <p:cNvSpPr txBox="1"/>
          <p:nvPr/>
        </p:nvSpPr>
        <p:spPr>
          <a:xfrm>
            <a:off x="3538728" y="4773168"/>
            <a:ext cx="2331720" cy="502920"/>
          </a:xfrm>
          <a:prstGeom prst="rect">
            <a:avLst/>
          </a:prstGeom>
          <a:noFill/>
          <a:ln/>
        </p:spPr>
        <p:txBody>
          <a:bodyPr wrap="square" lIns="0" tIns="0" rIns="0" bIns="0" rtlCol="0" anchor="t"/>
          <a:lstStyle/>
          <a:p>
            <a:pPr indent="0" marL="0">
              <a:buNone/>
            </a:pPr>
            <a:r>
              <a:rPr lang="en-US" sz="1600" b="1" dirty="0">
                <a:solidFill>
                  <a:schemeClr val="tx1"/>
                </a:solidFill>
              </a:rPr>
              <a:t>Wilson 95% interval</a:t>
            </a:r>
            <a:endParaRPr lang="en-US" sz="1600" dirty="0"/>
          </a:p>
        </p:txBody>
      </p:sp>
      <p:sp>
        <p:nvSpPr>
          <p:cNvPr id="32" name="Text 24"/>
          <p:cNvSpPr txBox="1"/>
          <p:nvPr/>
        </p:nvSpPr>
        <p:spPr>
          <a:xfrm>
            <a:off x="3538728" y="5257800"/>
            <a:ext cx="2331720" cy="914400"/>
          </a:xfrm>
          <a:prstGeom prst="rect">
            <a:avLst/>
          </a:prstGeom>
          <a:noFill/>
          <a:ln/>
        </p:spPr>
        <p:txBody>
          <a:bodyPr wrap="square" lIns="0" tIns="0" rIns="0" bIns="0" rtlCol="0" anchor="t"/>
          <a:lstStyle/>
          <a:p>
            <a:pPr indent="0" marL="0">
              <a:buNone/>
            </a:pPr>
            <a:r>
              <a:rPr lang="en-US" sz="1400" dirty="0">
                <a:solidFill>
                  <a:schemeClr val="tx1"/>
                </a:solidFill>
              </a:rPr>
              <a:t>Honest error bars for proportions at n = 100 (about ±10 points).</a:t>
            </a:r>
            <a:endParaRPr lang="en-US" sz="1400" dirty="0"/>
          </a:p>
        </p:txBody>
      </p:sp>
      <p:sp>
        <p:nvSpPr>
          <p:cNvPr id="33" name="stat card 7"/>
          <p:cNvSpPr/>
          <p:nvPr/>
        </p:nvSpPr>
        <p:spPr>
          <a:xfrm>
            <a:off x="6163056" y="3931920"/>
            <a:ext cx="2697480" cy="2286000"/>
          </a:xfrm>
          <a:prstGeom prst="roundRect">
            <a:avLst>
              <a:gd name="adj" fmla="val 3200"/>
            </a:avLst>
          </a:prstGeom>
          <a:solidFill>
            <a:schemeClr val="bg2"/>
          </a:solidFill>
          <a:ln w="12700">
            <a:solidFill>
              <a:schemeClr val="bg2"/>
            </a:solidFill>
            <a:prstDash val="solid"/>
          </a:ln>
        </p:spPr>
      </p:sp>
      <p:sp>
        <p:nvSpPr>
          <p:cNvPr id="34" name="Exact McNemar test circle"/>
          <p:cNvSpPr/>
          <p:nvPr/>
        </p:nvSpPr>
        <p:spPr>
          <a:xfrm>
            <a:off x="6345936" y="4114800"/>
            <a:ext cx="548640" cy="548640"/>
          </a:xfrm>
          <a:prstGeom prst="ellipse">
            <a:avLst/>
          </a:prstGeom>
          <a:solidFill>
            <a:schemeClr val="accent6"/>
          </a:solidFill>
          <a:ln w="12700">
            <a:solidFill>
              <a:schemeClr val="accent6"/>
            </a:solidFill>
            <a:prstDash val="solid"/>
          </a:ln>
        </p:spPr>
      </p:sp>
      <p:pic>
        <p:nvPicPr>
          <p:cNvPr id="35" name="Exact McNemar test icon" descr="Exact McNemar test">    </p:cNvPr>
          <p:cNvPicPr>
            <a:picLocks noChangeAspect="1"/>
          </p:cNvPicPr>
          <p:nvPr/>
        </p:nvPicPr>
        <p:blipFill>
          <a:blip r:embed="rId7"/>
          <a:stretch>
            <a:fillRect/>
          </a:stretch>
        </p:blipFill>
        <p:spPr>
          <a:xfrm>
            <a:off x="6466637" y="4235501"/>
            <a:ext cx="307238" cy="307238"/>
          </a:xfrm>
          <a:prstGeom prst="rect">
            <a:avLst/>
          </a:prstGeom>
        </p:spPr>
      </p:pic>
      <p:sp>
        <p:nvSpPr>
          <p:cNvPr id="36" name="Text 27"/>
          <p:cNvSpPr txBox="1"/>
          <p:nvPr/>
        </p:nvSpPr>
        <p:spPr>
          <a:xfrm>
            <a:off x="6345936" y="4773168"/>
            <a:ext cx="2331720" cy="502920"/>
          </a:xfrm>
          <a:prstGeom prst="rect">
            <a:avLst/>
          </a:prstGeom>
          <a:noFill/>
          <a:ln/>
        </p:spPr>
        <p:txBody>
          <a:bodyPr wrap="square" lIns="0" tIns="0" rIns="0" bIns="0" rtlCol="0" anchor="t"/>
          <a:lstStyle/>
          <a:p>
            <a:pPr indent="0" marL="0">
              <a:buNone/>
            </a:pPr>
            <a:r>
              <a:rPr lang="en-US" sz="1600" b="1" dirty="0">
                <a:solidFill>
                  <a:schemeClr val="tx1"/>
                </a:solidFill>
              </a:rPr>
              <a:t>Exact McNemar test</a:t>
            </a:r>
            <a:endParaRPr lang="en-US" sz="1600" dirty="0"/>
          </a:p>
        </p:txBody>
      </p:sp>
      <p:sp>
        <p:nvSpPr>
          <p:cNvPr id="37" name="Text 28"/>
          <p:cNvSpPr txBox="1"/>
          <p:nvPr/>
        </p:nvSpPr>
        <p:spPr>
          <a:xfrm>
            <a:off x="6345936" y="5257800"/>
            <a:ext cx="2331720" cy="914400"/>
          </a:xfrm>
          <a:prstGeom prst="rect">
            <a:avLst/>
          </a:prstGeom>
          <a:noFill/>
          <a:ln/>
        </p:spPr>
        <p:txBody>
          <a:bodyPr wrap="square" lIns="0" tIns="0" rIns="0" bIns="0" rtlCol="0" anchor="t"/>
          <a:lstStyle/>
          <a:p>
            <a:pPr indent="0" marL="0">
              <a:buNone/>
            </a:pPr>
            <a:r>
              <a:rPr lang="en-US" sz="1400" dirty="0">
                <a:solidFill>
                  <a:schemeClr val="tx1"/>
                </a:solidFill>
              </a:rPr>
              <a:t>Paired test on discordant claims; every variant sees the same 100 claims.</a:t>
            </a:r>
            <a:endParaRPr lang="en-US" sz="1400" dirty="0"/>
          </a:p>
        </p:txBody>
      </p:sp>
      <p:sp>
        <p:nvSpPr>
          <p:cNvPr id="38" name="stat card 8"/>
          <p:cNvSpPr/>
          <p:nvPr/>
        </p:nvSpPr>
        <p:spPr>
          <a:xfrm>
            <a:off x="8970264" y="3931920"/>
            <a:ext cx="2697480" cy="2286000"/>
          </a:xfrm>
          <a:prstGeom prst="roundRect">
            <a:avLst>
              <a:gd name="adj" fmla="val 3200"/>
            </a:avLst>
          </a:prstGeom>
          <a:solidFill>
            <a:schemeClr val="bg2"/>
          </a:solidFill>
          <a:ln w="12700">
            <a:solidFill>
              <a:schemeClr val="bg2"/>
            </a:solidFill>
            <a:prstDash val="solid"/>
          </a:ln>
        </p:spPr>
      </p:sp>
      <p:sp>
        <p:nvSpPr>
          <p:cNvPr id="39" name="Paired bootstrap circle"/>
          <p:cNvSpPr/>
          <p:nvPr/>
        </p:nvSpPr>
        <p:spPr>
          <a:xfrm>
            <a:off x="9153144" y="4114800"/>
            <a:ext cx="548640" cy="548640"/>
          </a:xfrm>
          <a:prstGeom prst="ellipse">
            <a:avLst/>
          </a:prstGeom>
          <a:solidFill>
            <a:schemeClr val="accent2"/>
          </a:solidFill>
          <a:ln w="12700">
            <a:solidFill>
              <a:schemeClr val="accent2"/>
            </a:solidFill>
            <a:prstDash val="solid"/>
          </a:ln>
        </p:spPr>
      </p:sp>
      <p:pic>
        <p:nvPicPr>
          <p:cNvPr id="40" name="Paired bootstrap icon" descr="Paired bootstrap">    </p:cNvPr>
          <p:cNvPicPr>
            <a:picLocks noChangeAspect="1"/>
          </p:cNvPicPr>
          <p:nvPr/>
        </p:nvPicPr>
        <p:blipFill>
          <a:blip r:embed="rId8"/>
          <a:stretch>
            <a:fillRect/>
          </a:stretch>
        </p:blipFill>
        <p:spPr>
          <a:xfrm>
            <a:off x="9273845" y="4235501"/>
            <a:ext cx="307238" cy="307238"/>
          </a:xfrm>
          <a:prstGeom prst="rect">
            <a:avLst/>
          </a:prstGeom>
        </p:spPr>
      </p:pic>
      <p:sp>
        <p:nvSpPr>
          <p:cNvPr id="41" name="Text 31"/>
          <p:cNvSpPr txBox="1"/>
          <p:nvPr/>
        </p:nvSpPr>
        <p:spPr>
          <a:xfrm>
            <a:off x="9153144" y="4773168"/>
            <a:ext cx="2331720" cy="502920"/>
          </a:xfrm>
          <a:prstGeom prst="rect">
            <a:avLst/>
          </a:prstGeom>
          <a:noFill/>
          <a:ln/>
        </p:spPr>
        <p:txBody>
          <a:bodyPr wrap="square" lIns="0" tIns="0" rIns="0" bIns="0" rtlCol="0" anchor="t"/>
          <a:lstStyle/>
          <a:p>
            <a:pPr indent="0" marL="0">
              <a:buNone/>
            </a:pPr>
            <a:r>
              <a:rPr lang="en-US" sz="1600" b="1" dirty="0">
                <a:solidFill>
                  <a:schemeClr val="tx1"/>
                </a:solidFill>
              </a:rPr>
              <a:t>Paired bootstrap</a:t>
            </a:r>
            <a:endParaRPr lang="en-US" sz="1600" dirty="0"/>
          </a:p>
        </p:txBody>
      </p:sp>
      <p:sp>
        <p:nvSpPr>
          <p:cNvPr id="42" name="Text 32"/>
          <p:cNvSpPr txBox="1"/>
          <p:nvPr/>
        </p:nvSpPr>
        <p:spPr>
          <a:xfrm>
            <a:off x="9153144" y="5257800"/>
            <a:ext cx="2331720" cy="914400"/>
          </a:xfrm>
          <a:prstGeom prst="rect">
            <a:avLst/>
          </a:prstGeom>
          <a:noFill/>
          <a:ln/>
        </p:spPr>
        <p:txBody>
          <a:bodyPr wrap="square" lIns="0" tIns="0" rIns="0" bIns="0" rtlCol="0" anchor="t"/>
          <a:lstStyle/>
          <a:p>
            <a:pPr indent="0" marL="0">
              <a:buNone/>
            </a:pPr>
            <a:r>
              <a:rPr lang="en-US" sz="1400" dirty="0">
                <a:solidFill>
                  <a:schemeClr val="tx1"/>
                </a:solidFill>
              </a:rPr>
              <a:t>4,000 resamples for each difference; Bonferroni across six tests.</a:t>
            </a:r>
            <a:endParaRPr lang="en-US" sz="14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Five properties, proved and then checked against the code</a:t>
            </a:r>
            <a:endParaRPr lang="en-US" sz="3000" dirty="0"/>
          </a:p>
        </p:txBody>
      </p:sp>
      <p:sp>
        <p:nvSpPr>
          <p:cNvPr id="3" name="property card 1"/>
          <p:cNvSpPr/>
          <p:nvPr/>
        </p:nvSpPr>
        <p:spPr>
          <a:xfrm>
            <a:off x="548640" y="1463040"/>
            <a:ext cx="7498080" cy="841248"/>
          </a:xfrm>
          <a:prstGeom prst="roundRect">
            <a:avLst>
              <a:gd name="adj" fmla="val 8696"/>
            </a:avLst>
          </a:prstGeom>
          <a:solidFill>
            <a:schemeClr val="bg2"/>
          </a:solidFill>
          <a:ln w="12700">
            <a:solidFill>
              <a:schemeClr val="bg2"/>
            </a:solidFill>
            <a:prstDash val="solid"/>
          </a:ln>
        </p:spPr>
      </p:sp>
      <p:sp>
        <p:nvSpPr>
          <p:cNvPr id="4" name="tag Theorem 1"/>
          <p:cNvSpPr/>
          <p:nvPr/>
        </p:nvSpPr>
        <p:spPr>
          <a:xfrm>
            <a:off x="685800" y="1645920"/>
            <a:ext cx="1051560" cy="475488"/>
          </a:xfrm>
          <a:prstGeom prst="roundRect">
            <a:avLst>
              <a:gd name="adj" fmla="val 19231"/>
            </a:avLst>
          </a:prstGeom>
          <a:solidFill>
            <a:schemeClr val="accent1"/>
          </a:solidFill>
          <a:ln w="12700">
            <a:solidFill>
              <a:schemeClr val="accent1"/>
            </a:solidFill>
            <a:prstDash val="solid"/>
          </a:ln>
        </p:spPr>
      </p:sp>
      <p:sp>
        <p:nvSpPr>
          <p:cNvPr id="5" name="Text 3"/>
          <p:cNvSpPr txBox="1"/>
          <p:nvPr/>
        </p:nvSpPr>
        <p:spPr>
          <a:xfrm>
            <a:off x="685800" y="1645920"/>
            <a:ext cx="1051560" cy="475488"/>
          </a:xfrm>
          <a:prstGeom prst="rect">
            <a:avLst/>
          </a:prstGeom>
          <a:noFill/>
          <a:ln/>
        </p:spPr>
        <p:txBody>
          <a:bodyPr wrap="square" lIns="0" tIns="0" rIns="0" bIns="0" rtlCol="0" anchor="ctr"/>
          <a:lstStyle/>
          <a:p>
            <a:pPr algn="ctr" indent="0" marL="0">
              <a:buNone/>
            </a:pPr>
            <a:r>
              <a:rPr lang="en-US" sz="1400" b="1" dirty="0">
                <a:solidFill>
                  <a:schemeClr val="bg1"/>
                </a:solidFill>
              </a:rPr>
              <a:t>Theorem 1</a:t>
            </a:r>
            <a:endParaRPr lang="en-US" sz="1400" dirty="0"/>
          </a:p>
        </p:txBody>
      </p:sp>
      <p:sp>
        <p:nvSpPr>
          <p:cNvPr id="6" name="Text 4"/>
          <p:cNvSpPr txBox="1"/>
          <p:nvPr/>
        </p:nvSpPr>
        <p:spPr>
          <a:xfrm>
            <a:off x="1920240" y="1517904"/>
            <a:ext cx="5989320" cy="731520"/>
          </a:xfrm>
          <a:prstGeom prst="rect">
            <a:avLst/>
          </a:prstGeom>
          <a:noFill/>
          <a:ln/>
        </p:spPr>
        <p:txBody>
          <a:bodyPr wrap="square" lIns="0" tIns="0" rIns="0" bIns="0" rtlCol="0" anchor="ctr"/>
          <a:lstStyle/>
          <a:p>
            <a:pPr indent="0" marL="0">
              <a:buNone/>
            </a:pPr>
            <a:r>
              <a:rPr lang="en-US" sz="1500" b="1" dirty="0">
                <a:solidFill>
                  <a:schemeClr val="tx1"/>
                </a:solidFill>
              </a:rPr>
              <a:t>Verdict rules  </a:t>
            </a:r>
            <a:pPr indent="0" marL="0">
              <a:buNone/>
            </a:pPr>
            <a:r>
              <a:rPr lang="en-US" sz="1400" dirty="0">
                <a:solidFill>
                  <a:schemeClr val="tx1"/>
                </a:solidFill>
              </a:rPr>
              <a:t>Exhaustive, exclusive, order-invariant, symmetric, monotone. Every true, false or mixed verdict has a verified quote.</a:t>
            </a:r>
            <a:endParaRPr lang="en-US" sz="1400" dirty="0"/>
          </a:p>
        </p:txBody>
      </p:sp>
      <p:sp>
        <p:nvSpPr>
          <p:cNvPr id="7" name="property card 2"/>
          <p:cNvSpPr/>
          <p:nvPr/>
        </p:nvSpPr>
        <p:spPr>
          <a:xfrm>
            <a:off x="548640" y="2414016"/>
            <a:ext cx="7498080" cy="841248"/>
          </a:xfrm>
          <a:prstGeom prst="roundRect">
            <a:avLst>
              <a:gd name="adj" fmla="val 8696"/>
            </a:avLst>
          </a:prstGeom>
          <a:solidFill>
            <a:schemeClr val="bg2"/>
          </a:solidFill>
          <a:ln w="12700">
            <a:solidFill>
              <a:schemeClr val="bg2"/>
            </a:solidFill>
            <a:prstDash val="solid"/>
          </a:ln>
        </p:spPr>
      </p:sp>
      <p:sp>
        <p:nvSpPr>
          <p:cNvPr id="8" name="tag Prop. 2"/>
          <p:cNvSpPr/>
          <p:nvPr/>
        </p:nvSpPr>
        <p:spPr>
          <a:xfrm>
            <a:off x="685800" y="2596896"/>
            <a:ext cx="1051560" cy="475488"/>
          </a:xfrm>
          <a:prstGeom prst="roundRect">
            <a:avLst>
              <a:gd name="adj" fmla="val 19231"/>
            </a:avLst>
          </a:prstGeom>
          <a:solidFill>
            <a:schemeClr val="accent1"/>
          </a:solidFill>
          <a:ln w="12700">
            <a:solidFill>
              <a:schemeClr val="accent1"/>
            </a:solidFill>
            <a:prstDash val="solid"/>
          </a:ln>
        </p:spPr>
      </p:sp>
      <p:sp>
        <p:nvSpPr>
          <p:cNvPr id="9" name="Text 7"/>
          <p:cNvSpPr txBox="1"/>
          <p:nvPr/>
        </p:nvSpPr>
        <p:spPr>
          <a:xfrm>
            <a:off x="685800" y="2596896"/>
            <a:ext cx="1051560" cy="475488"/>
          </a:xfrm>
          <a:prstGeom prst="rect">
            <a:avLst/>
          </a:prstGeom>
          <a:noFill/>
          <a:ln/>
        </p:spPr>
        <p:txBody>
          <a:bodyPr wrap="square" lIns="0" tIns="0" rIns="0" bIns="0" rtlCol="0" anchor="ctr"/>
          <a:lstStyle/>
          <a:p>
            <a:pPr algn="ctr" indent="0" marL="0">
              <a:buNone/>
            </a:pPr>
            <a:r>
              <a:rPr lang="en-US" sz="1400" b="1" dirty="0">
                <a:solidFill>
                  <a:schemeClr val="bg1"/>
                </a:solidFill>
              </a:rPr>
              <a:t>Prop. 2</a:t>
            </a:r>
            <a:endParaRPr lang="en-US" sz="1400" dirty="0"/>
          </a:p>
        </p:txBody>
      </p:sp>
      <p:sp>
        <p:nvSpPr>
          <p:cNvPr id="10" name="Text 8"/>
          <p:cNvSpPr txBox="1"/>
          <p:nvPr/>
        </p:nvSpPr>
        <p:spPr>
          <a:xfrm>
            <a:off x="1920240" y="2468880"/>
            <a:ext cx="5989320" cy="731520"/>
          </a:xfrm>
          <a:prstGeom prst="rect">
            <a:avLst/>
          </a:prstGeom>
          <a:noFill/>
          <a:ln/>
        </p:spPr>
        <p:txBody>
          <a:bodyPr wrap="square" lIns="0" tIns="0" rIns="0" bIns="0" rtlCol="0" anchor="ctr"/>
          <a:lstStyle/>
          <a:p>
            <a:pPr indent="0" marL="0">
              <a:buNone/>
            </a:pPr>
            <a:r>
              <a:rPr lang="en-US" sz="1500" b="1" dirty="0">
                <a:solidFill>
                  <a:schemeClr val="tx1"/>
                </a:solidFill>
              </a:rPr>
              <a:t>Entropy U  </a:t>
            </a:r>
            <a:pPr indent="0" marL="0">
              <a:buNone/>
            </a:pPr>
            <a:r>
              <a:rPr lang="en-US" sz="1400" dirty="0">
                <a:solidFill>
                  <a:schemeClr val="tx1"/>
                </a:solidFill>
              </a:rPr>
              <a:t>Non-decreasing in τ, and U ≥ 1 − δ/(τ ln N): many sources matching alike give high U, agree or not.</a:t>
            </a:r>
            <a:endParaRPr lang="en-US" sz="1400" dirty="0"/>
          </a:p>
        </p:txBody>
      </p:sp>
      <p:sp>
        <p:nvSpPr>
          <p:cNvPr id="11" name="property card 3"/>
          <p:cNvSpPr/>
          <p:nvPr/>
        </p:nvSpPr>
        <p:spPr>
          <a:xfrm>
            <a:off x="548640" y="3364992"/>
            <a:ext cx="7498080" cy="841248"/>
          </a:xfrm>
          <a:prstGeom prst="roundRect">
            <a:avLst>
              <a:gd name="adj" fmla="val 8696"/>
            </a:avLst>
          </a:prstGeom>
          <a:solidFill>
            <a:schemeClr val="bg2"/>
          </a:solidFill>
          <a:ln w="12700">
            <a:solidFill>
              <a:schemeClr val="bg2"/>
            </a:solidFill>
            <a:prstDash val="solid"/>
          </a:ln>
        </p:spPr>
      </p:sp>
      <p:sp>
        <p:nvSpPr>
          <p:cNvPr id="12" name="tag Prop. 3"/>
          <p:cNvSpPr/>
          <p:nvPr/>
        </p:nvSpPr>
        <p:spPr>
          <a:xfrm>
            <a:off x="685800" y="3547872"/>
            <a:ext cx="1051560" cy="475488"/>
          </a:xfrm>
          <a:prstGeom prst="roundRect">
            <a:avLst>
              <a:gd name="adj" fmla="val 19231"/>
            </a:avLst>
          </a:prstGeom>
          <a:solidFill>
            <a:schemeClr val="accent1"/>
          </a:solidFill>
          <a:ln w="12700">
            <a:solidFill>
              <a:schemeClr val="accent1"/>
            </a:solidFill>
            <a:prstDash val="solid"/>
          </a:ln>
        </p:spPr>
      </p:sp>
      <p:sp>
        <p:nvSpPr>
          <p:cNvPr id="13" name="Text 11"/>
          <p:cNvSpPr txBox="1"/>
          <p:nvPr/>
        </p:nvSpPr>
        <p:spPr>
          <a:xfrm>
            <a:off x="685800" y="3547872"/>
            <a:ext cx="1051560" cy="475488"/>
          </a:xfrm>
          <a:prstGeom prst="rect">
            <a:avLst/>
          </a:prstGeom>
          <a:noFill/>
          <a:ln/>
        </p:spPr>
        <p:txBody>
          <a:bodyPr wrap="square" lIns="0" tIns="0" rIns="0" bIns="0" rtlCol="0" anchor="ctr"/>
          <a:lstStyle/>
          <a:p>
            <a:pPr algn="ctr" indent="0" marL="0">
              <a:buNone/>
            </a:pPr>
            <a:r>
              <a:rPr lang="en-US" sz="1400" b="1" dirty="0">
                <a:solidFill>
                  <a:schemeClr val="bg1"/>
                </a:solidFill>
              </a:rPr>
              <a:t>Prop. 3</a:t>
            </a:r>
            <a:endParaRPr lang="en-US" sz="1400" dirty="0"/>
          </a:p>
        </p:txBody>
      </p:sp>
      <p:sp>
        <p:nvSpPr>
          <p:cNvPr id="14" name="Text 12"/>
          <p:cNvSpPr txBox="1"/>
          <p:nvPr/>
        </p:nvSpPr>
        <p:spPr>
          <a:xfrm>
            <a:off x="1920240" y="3419856"/>
            <a:ext cx="5989320" cy="731520"/>
          </a:xfrm>
          <a:prstGeom prst="rect">
            <a:avLst/>
          </a:prstGeom>
          <a:noFill/>
          <a:ln/>
        </p:spPr>
        <p:txBody>
          <a:bodyPr wrap="square" lIns="0" tIns="0" rIns="0" bIns="0" rtlCol="0" anchor="ctr"/>
          <a:lstStyle/>
          <a:p>
            <a:pPr indent="0" marL="0">
              <a:buNone/>
            </a:pPr>
            <a:r>
              <a:rPr lang="en-US" sz="1500" b="1" dirty="0">
                <a:solidFill>
                  <a:schemeClr val="tx1"/>
                </a:solidFill>
              </a:rPr>
              <a:t>Single-query density  </a:t>
            </a:r>
            <a:pPr indent="0" marL="0">
              <a:buNone/>
            </a:pPr>
            <a:r>
              <a:rPr lang="en-US" sz="1400" dirty="0">
                <a:solidFill>
                  <a:schemeClr val="tx1"/>
                </a:solidFill>
              </a:rPr>
              <a:t>With one query, ρ ≈ (kNN distance + 1)/2, so the Mahalanobis term cannot change an AUROC.</a:t>
            </a:r>
            <a:endParaRPr lang="en-US" sz="1400" dirty="0"/>
          </a:p>
        </p:txBody>
      </p:sp>
      <p:sp>
        <p:nvSpPr>
          <p:cNvPr id="15" name="property card 4"/>
          <p:cNvSpPr/>
          <p:nvPr/>
        </p:nvSpPr>
        <p:spPr>
          <a:xfrm>
            <a:off x="548640" y="4315968"/>
            <a:ext cx="7498080" cy="841248"/>
          </a:xfrm>
          <a:prstGeom prst="roundRect">
            <a:avLst>
              <a:gd name="adj" fmla="val 8696"/>
            </a:avLst>
          </a:prstGeom>
          <a:solidFill>
            <a:schemeClr val="bg2"/>
          </a:solidFill>
          <a:ln w="12700">
            <a:solidFill>
              <a:schemeClr val="bg2"/>
            </a:solidFill>
            <a:prstDash val="solid"/>
          </a:ln>
        </p:spPr>
      </p:sp>
      <p:sp>
        <p:nvSpPr>
          <p:cNvPr id="16" name="tag Prop. 4"/>
          <p:cNvSpPr/>
          <p:nvPr/>
        </p:nvSpPr>
        <p:spPr>
          <a:xfrm>
            <a:off x="685800" y="4498848"/>
            <a:ext cx="1051560" cy="475488"/>
          </a:xfrm>
          <a:prstGeom prst="roundRect">
            <a:avLst>
              <a:gd name="adj" fmla="val 19231"/>
            </a:avLst>
          </a:prstGeom>
          <a:solidFill>
            <a:schemeClr val="accent1"/>
          </a:solidFill>
          <a:ln w="12700">
            <a:solidFill>
              <a:schemeClr val="accent1"/>
            </a:solidFill>
            <a:prstDash val="solid"/>
          </a:ln>
        </p:spPr>
      </p:sp>
      <p:sp>
        <p:nvSpPr>
          <p:cNvPr id="17" name="Text 15"/>
          <p:cNvSpPr txBox="1"/>
          <p:nvPr/>
        </p:nvSpPr>
        <p:spPr>
          <a:xfrm>
            <a:off x="685800" y="4498848"/>
            <a:ext cx="1051560" cy="475488"/>
          </a:xfrm>
          <a:prstGeom prst="rect">
            <a:avLst/>
          </a:prstGeom>
          <a:noFill/>
          <a:ln/>
        </p:spPr>
        <p:txBody>
          <a:bodyPr wrap="square" lIns="0" tIns="0" rIns="0" bIns="0" rtlCol="0" anchor="ctr"/>
          <a:lstStyle/>
          <a:p>
            <a:pPr algn="ctr" indent="0" marL="0">
              <a:buNone/>
            </a:pPr>
            <a:r>
              <a:rPr lang="en-US" sz="1400" b="1" dirty="0">
                <a:solidFill>
                  <a:schemeClr val="bg1"/>
                </a:solidFill>
              </a:rPr>
              <a:t>Prop. 4</a:t>
            </a:r>
            <a:endParaRPr lang="en-US" sz="1400" dirty="0"/>
          </a:p>
        </p:txBody>
      </p:sp>
      <p:sp>
        <p:nvSpPr>
          <p:cNvPr id="18" name="Text 16"/>
          <p:cNvSpPr txBox="1"/>
          <p:nvPr/>
        </p:nvSpPr>
        <p:spPr>
          <a:xfrm>
            <a:off x="1920240" y="4370832"/>
            <a:ext cx="5989320" cy="731520"/>
          </a:xfrm>
          <a:prstGeom prst="rect">
            <a:avLst/>
          </a:prstGeom>
          <a:noFill/>
          <a:ln/>
        </p:spPr>
        <p:txBody>
          <a:bodyPr wrap="square" lIns="0" tIns="0" rIns="0" bIns="0" rtlCol="0" anchor="ctr"/>
          <a:lstStyle/>
          <a:p>
            <a:pPr indent="0" marL="0">
              <a:buNone/>
            </a:pPr>
            <a:r>
              <a:rPr lang="en-US" sz="1500" b="1" dirty="0">
                <a:solidFill>
                  <a:schemeClr val="tx1"/>
                </a:solidFill>
              </a:rPr>
              <a:t>Shrinkage  </a:t>
            </a:r>
            <a:pPr indent="0" marL="0">
              <a:buNone/>
            </a:pPr>
            <a:r>
              <a:rPr lang="en-US" sz="1400" dirty="0">
                <a:solidFill>
                  <a:schemeClr val="tx1"/>
                </a:solidFill>
              </a:rPr>
              <a:t>Shrunk covariance is positive definite, with condition number ≤ 1 + (1−δ)p/δ.</a:t>
            </a:r>
            <a:endParaRPr lang="en-US" sz="1400" dirty="0"/>
          </a:p>
        </p:txBody>
      </p:sp>
      <p:sp>
        <p:nvSpPr>
          <p:cNvPr id="19" name="property card 5"/>
          <p:cNvSpPr/>
          <p:nvPr/>
        </p:nvSpPr>
        <p:spPr>
          <a:xfrm>
            <a:off x="548640" y="5266944"/>
            <a:ext cx="7498080" cy="841248"/>
          </a:xfrm>
          <a:prstGeom prst="roundRect">
            <a:avLst>
              <a:gd name="adj" fmla="val 8696"/>
            </a:avLst>
          </a:prstGeom>
          <a:solidFill>
            <a:schemeClr val="bg2"/>
          </a:solidFill>
          <a:ln w="12700">
            <a:solidFill>
              <a:schemeClr val="bg2"/>
            </a:solidFill>
            <a:prstDash val="solid"/>
          </a:ln>
        </p:spPr>
      </p:sp>
      <p:sp>
        <p:nvSpPr>
          <p:cNvPr id="20" name="tag Prop. 5"/>
          <p:cNvSpPr/>
          <p:nvPr/>
        </p:nvSpPr>
        <p:spPr>
          <a:xfrm>
            <a:off x="685800" y="5449824"/>
            <a:ext cx="1051560" cy="475488"/>
          </a:xfrm>
          <a:prstGeom prst="roundRect">
            <a:avLst>
              <a:gd name="adj" fmla="val 19231"/>
            </a:avLst>
          </a:prstGeom>
          <a:solidFill>
            <a:schemeClr val="accent1"/>
          </a:solidFill>
          <a:ln w="12700">
            <a:solidFill>
              <a:schemeClr val="accent1"/>
            </a:solidFill>
            <a:prstDash val="solid"/>
          </a:ln>
        </p:spPr>
      </p:sp>
      <p:sp>
        <p:nvSpPr>
          <p:cNvPr id="21" name="Text 19"/>
          <p:cNvSpPr txBox="1"/>
          <p:nvPr/>
        </p:nvSpPr>
        <p:spPr>
          <a:xfrm>
            <a:off x="685800" y="5449824"/>
            <a:ext cx="1051560" cy="475488"/>
          </a:xfrm>
          <a:prstGeom prst="rect">
            <a:avLst/>
          </a:prstGeom>
          <a:noFill/>
          <a:ln/>
        </p:spPr>
        <p:txBody>
          <a:bodyPr wrap="square" lIns="0" tIns="0" rIns="0" bIns="0" rtlCol="0" anchor="ctr"/>
          <a:lstStyle/>
          <a:p>
            <a:pPr algn="ctr" indent="0" marL="0">
              <a:buNone/>
            </a:pPr>
            <a:r>
              <a:rPr lang="en-US" sz="1400" b="1" dirty="0">
                <a:solidFill>
                  <a:schemeClr val="bg1"/>
                </a:solidFill>
              </a:rPr>
              <a:t>Prop. 5</a:t>
            </a:r>
            <a:endParaRPr lang="en-US" sz="1400" dirty="0"/>
          </a:p>
        </p:txBody>
      </p:sp>
      <p:sp>
        <p:nvSpPr>
          <p:cNvPr id="22" name="Text 20"/>
          <p:cNvSpPr txBox="1"/>
          <p:nvPr/>
        </p:nvSpPr>
        <p:spPr>
          <a:xfrm>
            <a:off x="1920240" y="5321808"/>
            <a:ext cx="5989320" cy="731520"/>
          </a:xfrm>
          <a:prstGeom prst="rect">
            <a:avLst/>
          </a:prstGeom>
          <a:noFill/>
          <a:ln/>
        </p:spPr>
        <p:txBody>
          <a:bodyPr wrap="square" lIns="0" tIns="0" rIns="0" bIns="0" rtlCol="0" anchor="ctr"/>
          <a:lstStyle/>
          <a:p>
            <a:pPr indent="0" marL="0">
              <a:buNone/>
            </a:pPr>
            <a:r>
              <a:rPr lang="en-US" sz="1500" b="1" dirty="0">
                <a:solidFill>
                  <a:schemeClr val="tx1"/>
                </a:solidFill>
              </a:rPr>
              <a:t>Wilson interval  </a:t>
            </a:r>
            <a:pPr indent="0" marL="0">
              <a:buNone/>
            </a:pPr>
            <a:r>
              <a:rPr lang="en-US" sz="1400" dirty="0">
                <a:solidFill>
                  <a:schemeClr val="tx1"/>
                </a:solidFill>
              </a:rPr>
              <a:t>The Wilson limits form one interval inside [0, 1] that contains the estimate.</a:t>
            </a:r>
            <a:endParaRPr lang="en-US" sz="1400" dirty="0"/>
          </a:p>
        </p:txBody>
      </p:sp>
      <p:sp>
        <p:nvSpPr>
          <p:cNvPr id="23" name="check stat 1"/>
          <p:cNvSpPr/>
          <p:nvPr/>
        </p:nvSpPr>
        <p:spPr>
          <a:xfrm>
            <a:off x="8321040" y="1463040"/>
            <a:ext cx="3291840" cy="1463040"/>
          </a:xfrm>
          <a:prstGeom prst="roundRect">
            <a:avLst>
              <a:gd name="adj" fmla="val 5000"/>
            </a:avLst>
          </a:prstGeom>
          <a:solidFill>
            <a:schemeClr val="tx1"/>
          </a:solidFill>
          <a:ln w="12700">
            <a:solidFill>
              <a:schemeClr val="tx1"/>
            </a:solidFill>
            <a:prstDash val="solid"/>
          </a:ln>
        </p:spPr>
      </p:sp>
      <p:sp>
        <p:nvSpPr>
          <p:cNvPr id="24" name="Text 22"/>
          <p:cNvSpPr txBox="1"/>
          <p:nvPr/>
        </p:nvSpPr>
        <p:spPr>
          <a:xfrm>
            <a:off x="8503920" y="1572768"/>
            <a:ext cx="2926080" cy="68580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27,930</a:t>
            </a:r>
            <a:endParaRPr lang="en-US" sz="4000" dirty="0"/>
          </a:p>
        </p:txBody>
      </p:sp>
      <p:sp>
        <p:nvSpPr>
          <p:cNvPr id="25" name="Text 23"/>
          <p:cNvSpPr txBox="1"/>
          <p:nvPr/>
        </p:nvSpPr>
        <p:spPr>
          <a:xfrm>
            <a:off x="8503920" y="2286000"/>
            <a:ext cx="2926080" cy="594360"/>
          </a:xfrm>
          <a:prstGeom prst="rect">
            <a:avLst/>
          </a:prstGeom>
          <a:noFill/>
          <a:ln/>
        </p:spPr>
        <p:txBody>
          <a:bodyPr wrap="square" lIns="0" tIns="0" rIns="0" bIns="0" rtlCol="0" anchor="t"/>
          <a:lstStyle/>
          <a:p>
            <a:pPr indent="0" marL="0">
              <a:buNone/>
            </a:pPr>
            <a:r>
              <a:rPr lang="en-US" sz="1400" dirty="0">
                <a:solidFill>
                  <a:schemeClr val="bg1"/>
                </a:solidFill>
              </a:rPr>
              <a:t>source configurations tested exhaustively for Theorem 1</a:t>
            </a:r>
            <a:endParaRPr lang="en-US" sz="1400" dirty="0"/>
          </a:p>
        </p:txBody>
      </p:sp>
      <p:sp>
        <p:nvSpPr>
          <p:cNvPr id="26" name="check stat 2"/>
          <p:cNvSpPr/>
          <p:nvPr/>
        </p:nvSpPr>
        <p:spPr>
          <a:xfrm>
            <a:off x="8321040" y="3063240"/>
            <a:ext cx="3291840" cy="1463040"/>
          </a:xfrm>
          <a:prstGeom prst="roundRect">
            <a:avLst>
              <a:gd name="adj" fmla="val 5000"/>
            </a:avLst>
          </a:prstGeom>
          <a:solidFill>
            <a:schemeClr val="tx1"/>
          </a:solidFill>
          <a:ln w="12700">
            <a:solidFill>
              <a:schemeClr val="tx1"/>
            </a:solidFill>
            <a:prstDash val="solid"/>
          </a:ln>
        </p:spPr>
      </p:sp>
      <p:sp>
        <p:nvSpPr>
          <p:cNvPr id="27" name="Text 25"/>
          <p:cNvSpPr txBox="1"/>
          <p:nvPr/>
        </p:nvSpPr>
        <p:spPr>
          <a:xfrm>
            <a:off x="8503920" y="3172968"/>
            <a:ext cx="2926080" cy="68580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15,000</a:t>
            </a:r>
            <a:endParaRPr lang="en-US" sz="4000" dirty="0"/>
          </a:p>
        </p:txBody>
      </p:sp>
      <p:sp>
        <p:nvSpPr>
          <p:cNvPr id="28" name="Text 26"/>
          <p:cNvSpPr txBox="1"/>
          <p:nvPr/>
        </p:nvSpPr>
        <p:spPr>
          <a:xfrm>
            <a:off x="8503920" y="3886200"/>
            <a:ext cx="2926080" cy="594360"/>
          </a:xfrm>
          <a:prstGeom prst="rect">
            <a:avLst/>
          </a:prstGeom>
          <a:noFill/>
          <a:ln/>
        </p:spPr>
        <p:txBody>
          <a:bodyPr wrap="square" lIns="0" tIns="0" rIns="0" bIns="0" rtlCol="0" anchor="t"/>
          <a:lstStyle/>
          <a:p>
            <a:pPr indent="0" marL="0">
              <a:buNone/>
            </a:pPr>
            <a:r>
              <a:rPr lang="en-US" sz="1400" dirty="0">
                <a:solidFill>
                  <a:schemeClr val="bg1"/>
                </a:solidFill>
              </a:rPr>
              <a:t>random configurations of 4 to 7 sources</a:t>
            </a:r>
            <a:endParaRPr lang="en-US" sz="1400" dirty="0"/>
          </a:p>
        </p:txBody>
      </p:sp>
      <p:sp>
        <p:nvSpPr>
          <p:cNvPr id="29" name="check stat 3"/>
          <p:cNvSpPr/>
          <p:nvPr/>
        </p:nvSpPr>
        <p:spPr>
          <a:xfrm>
            <a:off x="8321040" y="4663440"/>
            <a:ext cx="3291840" cy="1463040"/>
          </a:xfrm>
          <a:prstGeom prst="roundRect">
            <a:avLst>
              <a:gd name="adj" fmla="val 5000"/>
            </a:avLst>
          </a:prstGeom>
          <a:solidFill>
            <a:schemeClr val="tx1"/>
          </a:solidFill>
          <a:ln w="12700">
            <a:solidFill>
              <a:schemeClr val="tx1"/>
            </a:solidFill>
            <a:prstDash val="solid"/>
          </a:ln>
        </p:spPr>
      </p:sp>
      <p:sp>
        <p:nvSpPr>
          <p:cNvPr id="30" name="Text 28"/>
          <p:cNvSpPr txBox="1"/>
          <p:nvPr/>
        </p:nvSpPr>
        <p:spPr>
          <a:xfrm>
            <a:off x="8503920" y="4773168"/>
            <a:ext cx="2926080" cy="68580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34</a:t>
            </a:r>
            <a:endParaRPr lang="en-US" sz="4000" dirty="0"/>
          </a:p>
        </p:txBody>
      </p:sp>
      <p:sp>
        <p:nvSpPr>
          <p:cNvPr id="31" name="Text 29"/>
          <p:cNvSpPr txBox="1"/>
          <p:nvPr/>
        </p:nvSpPr>
        <p:spPr>
          <a:xfrm>
            <a:off x="8503920" y="5486400"/>
            <a:ext cx="2926080" cy="594360"/>
          </a:xfrm>
          <a:prstGeom prst="rect">
            <a:avLst/>
          </a:prstGeom>
          <a:noFill/>
          <a:ln/>
        </p:spPr>
        <p:txBody>
          <a:bodyPr wrap="square" lIns="0" tIns="0" rIns="0" bIns="0" rtlCol="0" anchor="t"/>
          <a:lstStyle/>
          <a:p>
            <a:pPr indent="0" marL="0">
              <a:buNone/>
            </a:pPr>
            <a:r>
              <a:rPr lang="en-US" sz="1400" dirty="0">
                <a:solidFill>
                  <a:schemeClr val="bg1"/>
                </a:solidFill>
              </a:rPr>
              <a:t>paper tests pass; no counterexample found</a:t>
            </a:r>
            <a:endParaRPr lang="en-US" sz="14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Working Chrome extension on a FastAPI backend</a:t>
            </a:r>
            <a:endParaRPr lang="en-US" sz="3000" dirty="0"/>
          </a:p>
        </p:txBody>
      </p:sp>
      <p:pic>
        <p:nvPicPr>
          <p:cNvPr id="3" name="extension screenshot top" descr="Extension side panel with input box and verdict summary">    </p:cNvPr>
          <p:cNvPicPr>
            <a:picLocks noChangeAspect="1"/>
          </p:cNvPicPr>
          <p:nvPr/>
        </p:nvPicPr>
        <p:blipFill>
          <a:blip r:embed="rId1"/>
          <a:stretch>
            <a:fillRect/>
          </a:stretch>
        </p:blipFill>
        <p:spPr>
          <a:xfrm>
            <a:off x="548640" y="1463040"/>
            <a:ext cx="2999232" cy="4709160"/>
          </a:xfrm>
          <a:prstGeom prst="rect">
            <a:avLst/>
          </a:prstGeom>
        </p:spPr>
      </p:pic>
      <p:sp>
        <p:nvSpPr>
          <p:cNvPr id="4" name="Text 1"/>
          <p:cNvSpPr txBox="1"/>
          <p:nvPr/>
        </p:nvSpPr>
        <p:spPr>
          <a:xfrm>
            <a:off x="548640" y="6199632"/>
            <a:ext cx="3108960" cy="228600"/>
          </a:xfrm>
          <a:prstGeom prst="rect">
            <a:avLst/>
          </a:prstGeom>
          <a:noFill/>
          <a:ln/>
        </p:spPr>
        <p:txBody>
          <a:bodyPr wrap="square" lIns="0" tIns="0" rIns="0" bIns="0" rtlCol="0" anchor="t"/>
          <a:lstStyle/>
          <a:p>
            <a:pPr indent="0" marL="0">
              <a:buNone/>
            </a:pPr>
            <a:r>
              <a:rPr lang="en-US" sz="1000" dirty="0">
                <a:solidFill>
                  <a:schemeClr val="accent4"/>
                </a:solidFill>
              </a:rPr>
              <a:t>Real Chrome 155 run with a stub backend (fixed demo data)</a:t>
            </a:r>
            <a:endParaRPr lang="en-US" sz="1000" dirty="0"/>
          </a:p>
        </p:txBody>
      </p:sp>
      <p:sp>
        <p:nvSpPr>
          <p:cNvPr id="5" name="Extension card"/>
          <p:cNvSpPr/>
          <p:nvPr/>
        </p:nvSpPr>
        <p:spPr>
          <a:xfrm>
            <a:off x="3931920" y="1463040"/>
            <a:ext cx="3703320" cy="3063240"/>
          </a:xfrm>
          <a:prstGeom prst="roundRect">
            <a:avLst>
              <a:gd name="adj" fmla="val 2388"/>
            </a:avLst>
          </a:prstGeom>
          <a:solidFill>
            <a:schemeClr val="bg2"/>
          </a:solidFill>
          <a:ln w="12700">
            <a:solidFill>
              <a:schemeClr val="bg2"/>
            </a:solidFill>
            <a:prstDash val="solid"/>
          </a:ln>
        </p:spPr>
      </p:sp>
      <p:sp>
        <p:nvSpPr>
          <p:cNvPr id="6" name="Text 3"/>
          <p:cNvSpPr txBox="1"/>
          <p:nvPr/>
        </p:nvSpPr>
        <p:spPr>
          <a:xfrm>
            <a:off x="4160520" y="1600200"/>
            <a:ext cx="3200400" cy="365760"/>
          </a:xfrm>
          <a:prstGeom prst="rect">
            <a:avLst/>
          </a:prstGeom>
          <a:noFill/>
          <a:ln/>
        </p:spPr>
        <p:txBody>
          <a:bodyPr wrap="square" lIns="0" tIns="0" rIns="0" bIns="0" rtlCol="0" anchor="t"/>
          <a:lstStyle/>
          <a:p>
            <a:pPr indent="0" marL="0">
              <a:buNone/>
            </a:pPr>
            <a:r>
              <a:rPr lang="en-US" sz="1800" b="1" dirty="0">
                <a:solidFill>
                  <a:schemeClr val="accent1"/>
                </a:solidFill>
              </a:rPr>
              <a:t>Extension</a:t>
            </a:r>
            <a:endParaRPr lang="en-US" sz="1800" dirty="0"/>
          </a:p>
        </p:txBody>
      </p:sp>
      <p:sp>
        <p:nvSpPr>
          <p:cNvPr id="7" name="Text 4"/>
          <p:cNvSpPr txBox="1"/>
          <p:nvPr/>
        </p:nvSpPr>
        <p:spPr>
          <a:xfrm>
            <a:off x="4160520" y="2057400"/>
            <a:ext cx="3291840" cy="237744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Popup and side panel</a:t>
            </a:r>
            <a:endParaRPr lang="en-US" sz="1500" dirty="0"/>
          </a:p>
          <a:p>
            <a:pPr marL="342900" indent="-342900">
              <a:spcAft>
                <a:spcPts val="500"/>
              </a:spcAft>
              <a:buSzPct val="100000"/>
              <a:buChar char="•"/>
            </a:pPr>
            <a:r>
              <a:rPr lang="en-US" sz="1500" dirty="0">
                <a:solidFill>
                  <a:schemeClr val="tx1"/>
                </a:solidFill>
              </a:rPr>
              <a:t>Right-click or Alt+Shift+S on any text</a:t>
            </a:r>
            <a:endParaRPr lang="en-US" sz="1500" dirty="0"/>
          </a:p>
          <a:p>
            <a:pPr marL="342900" indent="-342900">
              <a:spcAft>
                <a:spcPts val="500"/>
              </a:spcAft>
              <a:buSzPct val="100000"/>
              <a:buChar char="•"/>
            </a:pPr>
            <a:r>
              <a:rPr lang="en-US" sz="1500" dirty="0">
                <a:solidFill>
                  <a:schemeClr val="tx1"/>
                </a:solidFill>
              </a:rPr>
              <a:t>Claims stream in as each one finishes</a:t>
            </a:r>
            <a:endParaRPr lang="en-US" sz="1500" dirty="0"/>
          </a:p>
          <a:p>
            <a:pPr marL="342900" indent="-342900">
              <a:spcAft>
                <a:spcPts val="500"/>
              </a:spcAft>
              <a:buSzPct val="100000"/>
              <a:buChar char="•"/>
            </a:pPr>
            <a:r>
              <a:rPr lang="en-US" sz="1500" dirty="0">
                <a:solidFill>
                  <a:schemeClr val="tx1"/>
                </a:solidFill>
              </a:rPr>
              <a:t>Highlight claims on the page, no DOM changes</a:t>
            </a:r>
            <a:endParaRPr lang="en-US" sz="1500" dirty="0"/>
          </a:p>
          <a:p>
            <a:pPr marL="342900" indent="-342900">
              <a:spcAft>
                <a:spcPts val="500"/>
              </a:spcAft>
              <a:buSzPct val="100000"/>
              <a:buChar char="•"/>
            </a:pPr>
            <a:r>
              <a:rPr lang="en-US" sz="1500" dirty="0">
                <a:solidFill>
                  <a:schemeClr val="tx1"/>
                </a:solidFill>
              </a:rPr>
              <a:t>History, Markdown and JSON export</a:t>
            </a:r>
            <a:endParaRPr lang="en-US" sz="1500" dirty="0"/>
          </a:p>
        </p:txBody>
      </p:sp>
      <p:sp>
        <p:nvSpPr>
          <p:cNvPr id="8" name="Backend card"/>
          <p:cNvSpPr/>
          <p:nvPr/>
        </p:nvSpPr>
        <p:spPr>
          <a:xfrm>
            <a:off x="7818120" y="1463040"/>
            <a:ext cx="3703320" cy="3063240"/>
          </a:xfrm>
          <a:prstGeom prst="roundRect">
            <a:avLst>
              <a:gd name="adj" fmla="val 2388"/>
            </a:avLst>
          </a:prstGeom>
          <a:solidFill>
            <a:schemeClr val="bg2"/>
          </a:solidFill>
          <a:ln w="12700">
            <a:solidFill>
              <a:schemeClr val="bg2"/>
            </a:solidFill>
            <a:prstDash val="solid"/>
          </a:ln>
        </p:spPr>
      </p:sp>
      <p:sp>
        <p:nvSpPr>
          <p:cNvPr id="9" name="Text 6"/>
          <p:cNvSpPr txBox="1"/>
          <p:nvPr/>
        </p:nvSpPr>
        <p:spPr>
          <a:xfrm>
            <a:off x="8046720" y="1600200"/>
            <a:ext cx="3200400" cy="365760"/>
          </a:xfrm>
          <a:prstGeom prst="rect">
            <a:avLst/>
          </a:prstGeom>
          <a:noFill/>
          <a:ln/>
        </p:spPr>
        <p:txBody>
          <a:bodyPr wrap="square" lIns="0" tIns="0" rIns="0" bIns="0" rtlCol="0" anchor="t"/>
          <a:lstStyle/>
          <a:p>
            <a:pPr indent="0" marL="0">
              <a:buNone/>
            </a:pPr>
            <a:r>
              <a:rPr lang="en-US" sz="1800" b="1" dirty="0">
                <a:solidFill>
                  <a:schemeClr val="accent1"/>
                </a:solidFill>
              </a:rPr>
              <a:t>Backend</a:t>
            </a:r>
            <a:endParaRPr lang="en-US" sz="1800" dirty="0"/>
          </a:p>
        </p:txBody>
      </p:sp>
      <p:sp>
        <p:nvSpPr>
          <p:cNvPr id="10" name="Text 7"/>
          <p:cNvSpPr txBox="1"/>
          <p:nvPr/>
        </p:nvSpPr>
        <p:spPr>
          <a:xfrm>
            <a:off x="8046720" y="2057400"/>
            <a:ext cx="3291840" cy="237744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FastAPI, NDJSON streaming</a:t>
            </a:r>
            <a:endParaRPr lang="en-US" sz="1500" dirty="0"/>
          </a:p>
          <a:p>
            <a:pPr marL="342900" indent="-342900">
              <a:spcAft>
                <a:spcPts val="500"/>
              </a:spcAft>
              <a:buSzPct val="100000"/>
              <a:buChar char="•"/>
            </a:pPr>
            <a:r>
              <a:rPr lang="en-US" sz="1500" dirty="0">
                <a:solidFill>
                  <a:schemeClr val="tx1"/>
                </a:solidFill>
              </a:rPr>
              <a:t>Wikipedia and OpenAlex retrieval</a:t>
            </a:r>
            <a:endParaRPr lang="en-US" sz="1500" dirty="0"/>
          </a:p>
          <a:p>
            <a:pPr marL="342900" indent="-342900">
              <a:spcAft>
                <a:spcPts val="500"/>
              </a:spcAft>
              <a:buSzPct val="100000"/>
              <a:buChar char="•"/>
            </a:pPr>
            <a:r>
              <a:rPr lang="en-US" sz="1500" dirty="0">
                <a:solidFill>
                  <a:schemeClr val="tx1"/>
                </a:solidFill>
              </a:rPr>
              <a:t>gpt-4o-mini at temperature 0, JSON repair and retry</a:t>
            </a:r>
            <a:endParaRPr lang="en-US" sz="1500" dirty="0"/>
          </a:p>
          <a:p>
            <a:pPr marL="342900" indent="-342900">
              <a:spcAft>
                <a:spcPts val="500"/>
              </a:spcAft>
              <a:buSzPct val="100000"/>
              <a:buChar char="•"/>
            </a:pPr>
            <a:r>
              <a:rPr lang="en-US" sz="1500" dirty="0">
                <a:solidFill>
                  <a:schemeClr val="tx1"/>
                </a:solidFill>
              </a:rPr>
              <a:t>Result cache; typed API from OpenAPI</a:t>
            </a:r>
            <a:endParaRPr lang="en-US" sz="1500" dirty="0"/>
          </a:p>
          <a:p>
            <a:pPr marL="342900" indent="-342900">
              <a:spcAft>
                <a:spcPts val="500"/>
              </a:spcAft>
              <a:buSzPct val="100000"/>
              <a:buChar char="•"/>
            </a:pPr>
            <a:r>
              <a:rPr lang="en-US" sz="1500" dirty="0">
                <a:solidFill>
                  <a:schemeClr val="tx1"/>
                </a:solidFill>
              </a:rPr>
              <a:t>Budget errors reported, not hidden</a:t>
            </a:r>
            <a:endParaRPr lang="en-US" sz="1500" dirty="0"/>
          </a:p>
        </p:txBody>
      </p:sp>
      <p:sp>
        <p:nvSpPr>
          <p:cNvPr id="11" name="test stat 1"/>
          <p:cNvSpPr/>
          <p:nvPr/>
        </p:nvSpPr>
        <p:spPr>
          <a:xfrm>
            <a:off x="3931920" y="4754880"/>
            <a:ext cx="2423160" cy="1371600"/>
          </a:xfrm>
          <a:prstGeom prst="roundRect">
            <a:avLst>
              <a:gd name="adj" fmla="val 5333"/>
            </a:avLst>
          </a:prstGeom>
          <a:solidFill>
            <a:schemeClr val="tx1"/>
          </a:solidFill>
          <a:ln w="12700">
            <a:solidFill>
              <a:schemeClr val="tx1"/>
            </a:solidFill>
            <a:prstDash val="solid"/>
          </a:ln>
        </p:spPr>
      </p:sp>
      <p:sp>
        <p:nvSpPr>
          <p:cNvPr id="12" name="Text 9"/>
          <p:cNvSpPr txBox="1"/>
          <p:nvPr/>
        </p:nvSpPr>
        <p:spPr>
          <a:xfrm>
            <a:off x="4069080" y="4828032"/>
            <a:ext cx="2148840" cy="640080"/>
          </a:xfrm>
          <a:prstGeom prst="rect">
            <a:avLst/>
          </a:prstGeom>
          <a:noFill/>
          <a:ln/>
        </p:spPr>
        <p:txBody>
          <a:bodyPr wrap="square" lIns="0" tIns="0" rIns="0" bIns="0" rtlCol="0" anchor="ctr"/>
          <a:lstStyle/>
          <a:p>
            <a:pPr algn="ctr" indent="0" marL="0">
              <a:buNone/>
            </a:pPr>
            <a:r>
              <a:rPr lang="en-US" sz="3800" b="1" dirty="0">
                <a:solidFill>
                  <a:schemeClr val="accent1"/>
                </a:solidFill>
                <a:latin typeface="+mj-lt" pitchFamily="34" charset="0"/>
                <a:ea typeface="+mj-lt" pitchFamily="34" charset="-122"/>
                <a:cs typeface="+mj-lt" pitchFamily="34" charset="-120"/>
              </a:rPr>
              <a:t>117</a:t>
            </a:r>
            <a:endParaRPr lang="en-US" sz="3800" dirty="0"/>
          </a:p>
        </p:txBody>
      </p:sp>
      <p:sp>
        <p:nvSpPr>
          <p:cNvPr id="13" name="Text 10"/>
          <p:cNvSpPr txBox="1"/>
          <p:nvPr/>
        </p:nvSpPr>
        <p:spPr>
          <a:xfrm>
            <a:off x="4069080" y="5486400"/>
            <a:ext cx="2148840" cy="548640"/>
          </a:xfrm>
          <a:prstGeom prst="rect">
            <a:avLst/>
          </a:prstGeom>
          <a:noFill/>
          <a:ln/>
        </p:spPr>
        <p:txBody>
          <a:bodyPr wrap="square" lIns="0" tIns="0" rIns="0" bIns="0" rtlCol="0" anchor="t"/>
          <a:lstStyle/>
          <a:p>
            <a:pPr algn="ctr" indent="0" marL="0">
              <a:buNone/>
            </a:pPr>
            <a:r>
              <a:rPr lang="en-US" sz="1300" dirty="0">
                <a:solidFill>
                  <a:schemeClr val="bg1"/>
                </a:solidFill>
              </a:rPr>
              <a:t>backend tests pass</a:t>
            </a:r>
            <a:endParaRPr lang="en-US" sz="1300" dirty="0"/>
          </a:p>
        </p:txBody>
      </p:sp>
      <p:sp>
        <p:nvSpPr>
          <p:cNvPr id="14" name="test stat 2"/>
          <p:cNvSpPr/>
          <p:nvPr/>
        </p:nvSpPr>
        <p:spPr>
          <a:xfrm>
            <a:off x="6492240" y="4754880"/>
            <a:ext cx="2423160" cy="1371600"/>
          </a:xfrm>
          <a:prstGeom prst="roundRect">
            <a:avLst>
              <a:gd name="adj" fmla="val 5333"/>
            </a:avLst>
          </a:prstGeom>
          <a:solidFill>
            <a:schemeClr val="tx1"/>
          </a:solidFill>
          <a:ln w="12700">
            <a:solidFill>
              <a:schemeClr val="tx1"/>
            </a:solidFill>
            <a:prstDash val="solid"/>
          </a:ln>
        </p:spPr>
      </p:sp>
      <p:sp>
        <p:nvSpPr>
          <p:cNvPr id="15" name="Text 12"/>
          <p:cNvSpPr txBox="1"/>
          <p:nvPr/>
        </p:nvSpPr>
        <p:spPr>
          <a:xfrm>
            <a:off x="6629400" y="4828032"/>
            <a:ext cx="2148840" cy="640080"/>
          </a:xfrm>
          <a:prstGeom prst="rect">
            <a:avLst/>
          </a:prstGeom>
          <a:noFill/>
          <a:ln/>
        </p:spPr>
        <p:txBody>
          <a:bodyPr wrap="square" lIns="0" tIns="0" rIns="0" bIns="0" rtlCol="0" anchor="ctr"/>
          <a:lstStyle/>
          <a:p>
            <a:pPr algn="ctr" indent="0" marL="0">
              <a:buNone/>
            </a:pPr>
            <a:r>
              <a:rPr lang="en-US" sz="3800" b="1" dirty="0">
                <a:solidFill>
                  <a:schemeClr val="accent1"/>
                </a:solidFill>
                <a:latin typeface="+mj-lt" pitchFamily="34" charset="0"/>
                <a:ea typeface="+mj-lt" pitchFamily="34" charset="-122"/>
                <a:cs typeface="+mj-lt" pitchFamily="34" charset="-120"/>
              </a:rPr>
              <a:t>44</a:t>
            </a:r>
            <a:endParaRPr lang="en-US" sz="3800" dirty="0"/>
          </a:p>
        </p:txBody>
      </p:sp>
      <p:sp>
        <p:nvSpPr>
          <p:cNvPr id="16" name="Text 13"/>
          <p:cNvSpPr txBox="1"/>
          <p:nvPr/>
        </p:nvSpPr>
        <p:spPr>
          <a:xfrm>
            <a:off x="6629400" y="5486400"/>
            <a:ext cx="2148840" cy="548640"/>
          </a:xfrm>
          <a:prstGeom prst="rect">
            <a:avLst/>
          </a:prstGeom>
          <a:noFill/>
          <a:ln/>
        </p:spPr>
        <p:txBody>
          <a:bodyPr wrap="square" lIns="0" tIns="0" rIns="0" bIns="0" rtlCol="0" anchor="t"/>
          <a:lstStyle/>
          <a:p>
            <a:pPr algn="ctr" indent="0" marL="0">
              <a:buNone/>
            </a:pPr>
            <a:r>
              <a:rPr lang="en-US" sz="1300" dirty="0">
                <a:solidFill>
                  <a:schemeClr val="bg1"/>
                </a:solidFill>
              </a:rPr>
              <a:t>extension unit tests pass</a:t>
            </a:r>
            <a:endParaRPr lang="en-US" sz="1300" dirty="0"/>
          </a:p>
        </p:txBody>
      </p:sp>
      <p:sp>
        <p:nvSpPr>
          <p:cNvPr id="17" name="test stat 3"/>
          <p:cNvSpPr/>
          <p:nvPr/>
        </p:nvSpPr>
        <p:spPr>
          <a:xfrm>
            <a:off x="9052560" y="4754880"/>
            <a:ext cx="2423160" cy="1371600"/>
          </a:xfrm>
          <a:prstGeom prst="roundRect">
            <a:avLst>
              <a:gd name="adj" fmla="val 5333"/>
            </a:avLst>
          </a:prstGeom>
          <a:solidFill>
            <a:schemeClr val="tx1"/>
          </a:solidFill>
          <a:ln w="12700">
            <a:solidFill>
              <a:schemeClr val="tx1"/>
            </a:solidFill>
            <a:prstDash val="solid"/>
          </a:ln>
        </p:spPr>
      </p:sp>
      <p:sp>
        <p:nvSpPr>
          <p:cNvPr id="18" name="Text 15"/>
          <p:cNvSpPr txBox="1"/>
          <p:nvPr/>
        </p:nvSpPr>
        <p:spPr>
          <a:xfrm>
            <a:off x="9189720" y="4828032"/>
            <a:ext cx="2148840" cy="640080"/>
          </a:xfrm>
          <a:prstGeom prst="rect">
            <a:avLst/>
          </a:prstGeom>
          <a:noFill/>
          <a:ln/>
        </p:spPr>
        <p:txBody>
          <a:bodyPr wrap="square" lIns="0" tIns="0" rIns="0" bIns="0" rtlCol="0" anchor="ctr"/>
          <a:lstStyle/>
          <a:p>
            <a:pPr algn="ctr" indent="0" marL="0">
              <a:buNone/>
            </a:pPr>
            <a:r>
              <a:rPr lang="en-US" sz="3800" b="1" dirty="0">
                <a:solidFill>
                  <a:schemeClr val="accent1"/>
                </a:solidFill>
                <a:latin typeface="+mj-lt" pitchFamily="34" charset="0"/>
                <a:ea typeface="+mj-lt" pitchFamily="34" charset="-122"/>
                <a:cs typeface="+mj-lt" pitchFamily="34" charset="-120"/>
              </a:rPr>
              <a:t>35</a:t>
            </a:r>
            <a:endParaRPr lang="en-US" sz="3800" dirty="0"/>
          </a:p>
        </p:txBody>
      </p:sp>
      <p:sp>
        <p:nvSpPr>
          <p:cNvPr id="19" name="Text 16"/>
          <p:cNvSpPr txBox="1"/>
          <p:nvPr/>
        </p:nvSpPr>
        <p:spPr>
          <a:xfrm>
            <a:off x="9189720" y="5486400"/>
            <a:ext cx="2148840" cy="548640"/>
          </a:xfrm>
          <a:prstGeom prst="rect">
            <a:avLst/>
          </a:prstGeom>
          <a:noFill/>
          <a:ln/>
        </p:spPr>
        <p:txBody>
          <a:bodyPr wrap="square" lIns="0" tIns="0" rIns="0" bIns="0" rtlCol="0" anchor="t"/>
          <a:lstStyle/>
          <a:p>
            <a:pPr algn="ctr" indent="0" marL="0">
              <a:buNone/>
            </a:pPr>
            <a:r>
              <a:rPr lang="en-US" sz="1300" dirty="0">
                <a:solidFill>
                  <a:schemeClr val="bg1"/>
                </a:solidFill>
              </a:rPr>
              <a:t>real-Chrome end-to-end checks pass</a:t>
            </a:r>
            <a:endParaRPr lang="en-US" sz="13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Confusion matrices on 100 balanced FEVER claims</a:t>
            </a:r>
            <a:endParaRPr lang="en-US" sz="3000" dirty="0"/>
          </a:p>
        </p:txBody>
      </p:sp>
      <p:sp>
        <p:nvSpPr>
          <p:cNvPr id="3" name="setup chip 1"/>
          <p:cNvSpPr/>
          <p:nvPr/>
        </p:nvSpPr>
        <p:spPr>
          <a:xfrm>
            <a:off x="548640" y="1417320"/>
            <a:ext cx="2697480" cy="960120"/>
          </a:xfrm>
          <a:prstGeom prst="roundRect">
            <a:avLst>
              <a:gd name="adj" fmla="val 7619"/>
            </a:avLst>
          </a:prstGeom>
          <a:solidFill>
            <a:schemeClr val="bg2"/>
          </a:solidFill>
          <a:ln w="12700">
            <a:solidFill>
              <a:schemeClr val="bg2"/>
            </a:solidFill>
            <a:prstDash val="solid"/>
          </a:ln>
        </p:spPr>
      </p:sp>
      <p:sp>
        <p:nvSpPr>
          <p:cNvPr id="4" name="Text 2"/>
          <p:cNvSpPr txBox="1"/>
          <p:nvPr/>
        </p:nvSpPr>
        <p:spPr>
          <a:xfrm>
            <a:off x="685800" y="1463040"/>
            <a:ext cx="2423160"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100</a:t>
            </a:r>
            <a:endParaRPr lang="en-US" sz="2400" dirty="0"/>
          </a:p>
        </p:txBody>
      </p:sp>
      <p:sp>
        <p:nvSpPr>
          <p:cNvPr id="5" name="Text 3"/>
          <p:cNvSpPr txBox="1"/>
          <p:nvPr/>
        </p:nvSpPr>
        <p:spPr>
          <a:xfrm>
            <a:off x="685800" y="1965960"/>
            <a:ext cx="2423160" cy="365760"/>
          </a:xfrm>
          <a:prstGeom prst="rect">
            <a:avLst/>
          </a:prstGeom>
          <a:noFill/>
          <a:ln/>
        </p:spPr>
        <p:txBody>
          <a:bodyPr wrap="square" lIns="0" tIns="0" rIns="0" bIns="0" rtlCol="0" anchor="t"/>
          <a:lstStyle/>
          <a:p>
            <a:pPr algn="ctr" indent="0" marL="0">
              <a:buNone/>
            </a:pPr>
            <a:r>
              <a:rPr lang="en-US" sz="1300" dirty="0">
                <a:solidFill>
                  <a:schemeClr val="tx1"/>
                </a:solidFill>
              </a:rPr>
              <a:t>claims scored</a:t>
            </a:r>
            <a:endParaRPr lang="en-US" sz="1300" dirty="0"/>
          </a:p>
        </p:txBody>
      </p:sp>
      <p:sp>
        <p:nvSpPr>
          <p:cNvPr id="6" name="setup chip 2"/>
          <p:cNvSpPr/>
          <p:nvPr/>
        </p:nvSpPr>
        <p:spPr>
          <a:xfrm>
            <a:off x="3355848" y="1417320"/>
            <a:ext cx="2697480" cy="960120"/>
          </a:xfrm>
          <a:prstGeom prst="roundRect">
            <a:avLst>
              <a:gd name="adj" fmla="val 7619"/>
            </a:avLst>
          </a:prstGeom>
          <a:solidFill>
            <a:schemeClr val="bg2"/>
          </a:solidFill>
          <a:ln w="12700">
            <a:solidFill>
              <a:schemeClr val="bg2"/>
            </a:solidFill>
            <a:prstDash val="solid"/>
          </a:ln>
        </p:spPr>
      </p:sp>
      <p:sp>
        <p:nvSpPr>
          <p:cNvPr id="7" name="Text 5"/>
          <p:cNvSpPr txBox="1"/>
          <p:nvPr/>
        </p:nvSpPr>
        <p:spPr>
          <a:xfrm>
            <a:off x="3493008" y="1463040"/>
            <a:ext cx="2423160"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33 / 36 / 31</a:t>
            </a:r>
            <a:endParaRPr lang="en-US" sz="2400" dirty="0"/>
          </a:p>
        </p:txBody>
      </p:sp>
      <p:sp>
        <p:nvSpPr>
          <p:cNvPr id="8" name="Text 6"/>
          <p:cNvSpPr txBox="1"/>
          <p:nvPr/>
        </p:nvSpPr>
        <p:spPr>
          <a:xfrm>
            <a:off x="3493008" y="1965960"/>
            <a:ext cx="2423160" cy="365760"/>
          </a:xfrm>
          <a:prstGeom prst="rect">
            <a:avLst/>
          </a:prstGeom>
          <a:noFill/>
          <a:ln/>
        </p:spPr>
        <p:txBody>
          <a:bodyPr wrap="square" lIns="0" tIns="0" rIns="0" bIns="0" rtlCol="0" anchor="t"/>
          <a:lstStyle/>
          <a:p>
            <a:pPr algn="ctr" indent="0" marL="0">
              <a:buNone/>
            </a:pPr>
            <a:r>
              <a:rPr lang="en-US" sz="1300" dirty="0">
                <a:solidFill>
                  <a:schemeClr val="tx1"/>
                </a:solidFill>
              </a:rPr>
              <a:t>SUPPORTS / REFUTES / NEI</a:t>
            </a:r>
            <a:endParaRPr lang="en-US" sz="1300" dirty="0"/>
          </a:p>
        </p:txBody>
      </p:sp>
      <p:sp>
        <p:nvSpPr>
          <p:cNvPr id="9" name="setup chip 3"/>
          <p:cNvSpPr/>
          <p:nvPr/>
        </p:nvSpPr>
        <p:spPr>
          <a:xfrm>
            <a:off x="6163056" y="1417320"/>
            <a:ext cx="2697480" cy="960120"/>
          </a:xfrm>
          <a:prstGeom prst="roundRect">
            <a:avLst>
              <a:gd name="adj" fmla="val 7619"/>
            </a:avLst>
          </a:prstGeom>
          <a:solidFill>
            <a:schemeClr val="bg2"/>
          </a:solidFill>
          <a:ln w="12700">
            <a:solidFill>
              <a:schemeClr val="bg2"/>
            </a:solidFill>
            <a:prstDash val="solid"/>
          </a:ln>
        </p:spPr>
      </p:sp>
      <p:sp>
        <p:nvSpPr>
          <p:cNvPr id="10" name="Text 8"/>
          <p:cNvSpPr txBox="1"/>
          <p:nvPr/>
        </p:nvSpPr>
        <p:spPr>
          <a:xfrm>
            <a:off x="6300216" y="1463040"/>
            <a:ext cx="2423160"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3</a:t>
            </a:r>
            <a:endParaRPr lang="en-US" sz="2400" dirty="0"/>
          </a:p>
        </p:txBody>
      </p:sp>
      <p:sp>
        <p:nvSpPr>
          <p:cNvPr id="11" name="Text 9"/>
          <p:cNvSpPr txBox="1"/>
          <p:nvPr/>
        </p:nvSpPr>
        <p:spPr>
          <a:xfrm>
            <a:off x="6300216" y="1965960"/>
            <a:ext cx="2423160" cy="365760"/>
          </a:xfrm>
          <a:prstGeom prst="rect">
            <a:avLst/>
          </a:prstGeom>
          <a:noFill/>
          <a:ln/>
        </p:spPr>
        <p:txBody>
          <a:bodyPr wrap="square" lIns="0" tIns="0" rIns="0" bIns="0" rtlCol="0" anchor="t"/>
          <a:lstStyle/>
          <a:p>
            <a:pPr algn="ctr" indent="0" marL="0">
              <a:buNone/>
            </a:pPr>
            <a:r>
              <a:rPr lang="en-US" sz="1300" dirty="0">
                <a:solidFill>
                  <a:schemeClr val="tx1"/>
                </a:solidFill>
              </a:rPr>
              <a:t>variants, same claims</a:t>
            </a:r>
            <a:endParaRPr lang="en-US" sz="1300" dirty="0"/>
          </a:p>
        </p:txBody>
      </p:sp>
      <p:sp>
        <p:nvSpPr>
          <p:cNvPr id="12" name="setup chip 4"/>
          <p:cNvSpPr/>
          <p:nvPr/>
        </p:nvSpPr>
        <p:spPr>
          <a:xfrm>
            <a:off x="8970264" y="1417320"/>
            <a:ext cx="2697480" cy="960120"/>
          </a:xfrm>
          <a:prstGeom prst="roundRect">
            <a:avLst>
              <a:gd name="adj" fmla="val 7619"/>
            </a:avLst>
          </a:prstGeom>
          <a:solidFill>
            <a:schemeClr val="bg2"/>
          </a:solidFill>
          <a:ln w="12700">
            <a:solidFill>
              <a:schemeClr val="bg2"/>
            </a:solidFill>
            <a:prstDash val="solid"/>
          </a:ln>
        </p:spPr>
      </p:sp>
      <p:sp>
        <p:nvSpPr>
          <p:cNvPr id="13" name="Text 11"/>
          <p:cNvSpPr txBox="1"/>
          <p:nvPr/>
        </p:nvSpPr>
        <p:spPr>
          <a:xfrm>
            <a:off x="9107424" y="1463040"/>
            <a:ext cx="2423160"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seed 42</a:t>
            </a:r>
            <a:endParaRPr lang="en-US" sz="2400" dirty="0"/>
          </a:p>
        </p:txBody>
      </p:sp>
      <p:sp>
        <p:nvSpPr>
          <p:cNvPr id="14" name="Text 12"/>
          <p:cNvSpPr txBox="1"/>
          <p:nvPr/>
        </p:nvSpPr>
        <p:spPr>
          <a:xfrm>
            <a:off x="9107424" y="1965960"/>
            <a:ext cx="2423160" cy="365760"/>
          </a:xfrm>
          <a:prstGeom prst="rect">
            <a:avLst/>
          </a:prstGeom>
          <a:noFill/>
          <a:ln/>
        </p:spPr>
        <p:txBody>
          <a:bodyPr wrap="square" lIns="0" tIns="0" rIns="0" bIns="0" rtlCol="0" anchor="t"/>
          <a:lstStyle/>
          <a:p>
            <a:pPr algn="ctr" indent="0" marL="0">
              <a:buNone/>
            </a:pPr>
            <a:r>
              <a:rPr lang="en-US" sz="1300" dirty="0">
                <a:solidFill>
                  <a:schemeClr val="tx1"/>
                </a:solidFill>
              </a:rPr>
              <a:t>gpt-4o-mini, temp 0</a:t>
            </a:r>
            <a:endParaRPr lang="en-US" sz="1300" dirty="0"/>
          </a:p>
        </p:txBody>
      </p:sp>
      <p:sp>
        <p:nvSpPr>
          <p:cNvPr id="15" name="Text 13"/>
          <p:cNvSpPr txBox="1"/>
          <p:nvPr/>
        </p:nvSpPr>
        <p:spPr>
          <a:xfrm>
            <a:off x="548640" y="2606040"/>
            <a:ext cx="3566160" cy="365760"/>
          </a:xfrm>
          <a:prstGeom prst="rect">
            <a:avLst/>
          </a:prstGeom>
          <a:noFill/>
          <a:ln/>
        </p:spPr>
        <p:txBody>
          <a:bodyPr wrap="square" lIns="0" tIns="0" rIns="0" bIns="0" rtlCol="0" anchor="t"/>
          <a:lstStyle/>
          <a:p>
            <a:pPr indent="0" marL="0">
              <a:buNone/>
            </a:pPr>
            <a:r>
              <a:rPr lang="en-US" sz="1600" b="1" dirty="0">
                <a:solidFill>
                  <a:schemeClr val="tx1"/>
                </a:solidFill>
              </a:rPr>
              <a:t>Pooled + OpenAlex (baseline)</a:t>
            </a:r>
            <a:endParaRPr lang="en-US" sz="1600" dirty="0"/>
          </a:p>
        </p:txBody>
      </p:sp>
      <p:graphicFrame>
        <p:nvGraphicFramePr>
          <p:cNvPr id="12" name="confusion matrix 1"/>
          <p:cNvGraphicFramePr>
            <a:graphicFrameLocks noGrp="1"/>
          </p:cNvGraphicFramePr>
          <p:nvPr>
            <p:extLst>
              <p:ext uri="{D42A27DB-BD31-4B8C-83A1-F6EECF244321}">
                <p14:modId xmlns:p14="http://schemas.microsoft.com/office/powerpoint/2010/main" val="1579011935"/>
              </p:ext>
            </p:extLst>
          </p:nvPr>
        </p:nvGraphicFramePr>
        <p:xfrm>
          <a:off x="548640" y="3017520"/>
          <a:ext cx="3566160" cy="914400"/>
        </p:xfrm>
        <a:graphic>
          <a:graphicData uri="http://schemas.openxmlformats.org/drawingml/2006/table">
            <a:tbl>
              <a:tblPr/>
              <a:tblGrid>
                <a:gridCol w="1188720"/>
                <a:gridCol w="594360"/>
                <a:gridCol w="594360"/>
                <a:gridCol w="594360"/>
                <a:gridCol w="594360"/>
              </a:tblGrid>
              <a:tr h="658368">
                <a:tc>
                  <a:txBody>
                    <a:bodyPr/>
                    <a:lstStyle/>
                    <a:p>
                      <a:pPr algn="ctr" indent="0" marL="0">
                        <a:buNone/>
                      </a:pPr>
                      <a:r>
                        <a:rPr lang="en-US" sz="1200" b="1" dirty="0">
                          <a:solidFill>
                            <a:schemeClr val="bg1"/>
                          </a:solidFill>
                        </a:rPr>
                        <a:t>gold \ pred</a:t>
                      </a:r>
                      <a:endParaRPr lang="en-US" sz="12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c>
                  <a:txBody>
                    <a:bodyPr/>
                    <a:lstStyle/>
                    <a:p>
                      <a:pPr algn="ctr" indent="0" marL="0">
                        <a:buNone/>
                      </a:pPr>
                      <a:r>
                        <a:rPr lang="en-US" sz="1400" b="1" dirty="0">
                          <a:solidFill>
                            <a:schemeClr val="bg1"/>
                          </a:solidFill>
                        </a:rPr>
                        <a:t>S</a:t>
                      </a:r>
                      <a:endParaRPr lang="en-US" sz="14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c>
                  <a:txBody>
                    <a:bodyPr/>
                    <a:lstStyle/>
                    <a:p>
                      <a:pPr algn="ctr" indent="0" marL="0">
                        <a:buNone/>
                      </a:pPr>
                      <a:r>
                        <a:rPr lang="en-US" sz="1400" b="1" dirty="0">
                          <a:solidFill>
                            <a:schemeClr val="bg1"/>
                          </a:solidFill>
                        </a:rPr>
                        <a:t>R</a:t>
                      </a:r>
                      <a:endParaRPr lang="en-US" sz="14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c>
                  <a:txBody>
                    <a:bodyPr/>
                    <a:lstStyle/>
                    <a:p>
                      <a:pPr algn="ctr" indent="0" marL="0">
                        <a:buNone/>
                      </a:pPr>
                      <a:r>
                        <a:rPr lang="en-US" sz="1400" b="1" dirty="0">
                          <a:solidFill>
                            <a:schemeClr val="bg1"/>
                          </a:solidFill>
                        </a:rPr>
                        <a:t>N</a:t>
                      </a:r>
                      <a:endParaRPr lang="en-US" sz="14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c>
                  <a:txBody>
                    <a:bodyPr/>
                    <a:lstStyle/>
                    <a:p>
                      <a:pPr algn="ctr" indent="0" marL="0">
                        <a:buNone/>
                      </a:pPr>
                      <a:r>
                        <a:rPr lang="en-US" sz="1400" b="1" dirty="0">
                          <a:solidFill>
                            <a:schemeClr val="bg1"/>
                          </a:solidFill>
                        </a:rPr>
                        <a:t>M</a:t>
                      </a:r>
                      <a:endParaRPr lang="en-US" sz="14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r>
              <a:tr h="658368">
                <a:tc>
                  <a:txBody>
                    <a:bodyPr/>
                    <a:lstStyle/>
                    <a:p>
                      <a:pPr indent="0" marL="0">
                        <a:buNone/>
                      </a:pPr>
                      <a:r>
                        <a:rPr lang="en-US" sz="1300" b="1" dirty="0">
                          <a:solidFill>
                            <a:schemeClr val="tx1"/>
                          </a:solidFill>
                        </a:rPr>
                        <a:t>SUPPORTS</a:t>
                      </a:r>
                      <a:endParaRPr lang="en-US" sz="13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800" b="1" dirty="0">
                          <a:solidFill>
                            <a:schemeClr val="tx1"/>
                          </a:solidFill>
                        </a:rPr>
                        <a:t>15</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1C4C2"/>
                    </a:solidFill>
                  </a:tcPr>
                </a:tc>
                <a:tc>
                  <a:txBody>
                    <a:bodyPr/>
                    <a:lstStyle/>
                    <a:p>
                      <a:pPr algn="ctr" indent="0" marL="0">
                        <a:buNone/>
                      </a:pPr>
                      <a:r>
                        <a:rPr lang="en-US" sz="1800" b="1" dirty="0">
                          <a:solidFill>
                            <a:schemeClr val="tx1"/>
                          </a:solidFill>
                        </a:rPr>
                        <a:t>9</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C1BD"/>
                    </a:solidFill>
                  </a:tcPr>
                </a:tc>
                <a:tc>
                  <a:txBody>
                    <a:bodyPr/>
                    <a:lstStyle/>
                    <a:p>
                      <a:pPr algn="ctr" indent="0" marL="0">
                        <a:buNone/>
                      </a:pPr>
                      <a:r>
                        <a:rPr lang="en-US" sz="1800" b="1" dirty="0">
                          <a:solidFill>
                            <a:schemeClr val="tx1"/>
                          </a:solidFill>
                        </a:rPr>
                        <a:t>9</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C1BD"/>
                    </a:solidFill>
                  </a:tcPr>
                </a:tc>
                <a:tc>
                  <a:txBody>
                    <a:bodyPr/>
                    <a:lstStyle/>
                    <a:p>
                      <a:pPr algn="ctr" indent="0" marL="0">
                        <a:buNone/>
                      </a:pPr>
                      <a:r>
                        <a:rPr lang="en-US" sz="1800" b="1" dirty="0">
                          <a:solidFill>
                            <a:schemeClr val="tx1"/>
                          </a:solidFill>
                        </a:rPr>
                        <a:t>0</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chemeClr val="tx1"/>
                          </a:solidFill>
                        </a:rPr>
                        <a:t>REFUTES</a:t>
                      </a:r>
                      <a:endParaRPr lang="en-US" sz="13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800" b="1" dirty="0">
                          <a:solidFill>
                            <a:schemeClr val="tx1"/>
                          </a:solidFill>
                        </a:rPr>
                        <a:t>3</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9ECEB"/>
                    </a:solidFill>
                  </a:tcPr>
                </a:tc>
                <a:tc>
                  <a:txBody>
                    <a:bodyPr/>
                    <a:lstStyle/>
                    <a:p>
                      <a:pPr algn="ctr" indent="0" marL="0">
                        <a:buNone/>
                      </a:pPr>
                      <a:r>
                        <a:rPr lang="en-US" sz="1800" b="1" dirty="0">
                          <a:solidFill>
                            <a:schemeClr val="bg1"/>
                          </a:solidFill>
                        </a:rPr>
                        <a:t>31</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0908B"/>
                    </a:solidFill>
                  </a:tcPr>
                </a:tc>
                <a:tc>
                  <a:txBody>
                    <a:bodyPr/>
                    <a:lstStyle/>
                    <a:p>
                      <a:pPr algn="ctr" indent="0" marL="0">
                        <a:buNone/>
                      </a:pPr>
                      <a:r>
                        <a:rPr lang="en-US" sz="1800" b="1" dirty="0">
                          <a:solidFill>
                            <a:schemeClr val="tx1"/>
                          </a:solidFill>
                        </a:rPr>
                        <a:t>2</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BF2F1"/>
                    </a:solidFill>
                  </a:tcPr>
                </a:tc>
                <a:tc>
                  <a:txBody>
                    <a:bodyPr/>
                    <a:lstStyle/>
                    <a:p>
                      <a:pPr algn="ctr" indent="0" marL="0">
                        <a:buNone/>
                      </a:pPr>
                      <a:r>
                        <a:rPr lang="en-US" sz="1800" b="1" dirty="0">
                          <a:solidFill>
                            <a:schemeClr val="tx1"/>
                          </a:solidFill>
                        </a:rPr>
                        <a:t>0</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chemeClr val="tx1"/>
                          </a:solidFill>
                        </a:rPr>
                        <a:t>NEI</a:t>
                      </a:r>
                      <a:endParaRPr lang="en-US" sz="13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800" b="1" dirty="0">
                          <a:solidFill>
                            <a:schemeClr val="tx1"/>
                          </a:solidFill>
                        </a:rPr>
                        <a:t>2</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F0EF"/>
                    </a:solidFill>
                  </a:tcPr>
                </a:tc>
                <a:tc>
                  <a:txBody>
                    <a:bodyPr/>
                    <a:lstStyle/>
                    <a:p>
                      <a:pPr algn="ctr" indent="0" marL="0">
                        <a:buNone/>
                      </a:pPr>
                      <a:r>
                        <a:rPr lang="en-US" sz="1800" b="1" dirty="0">
                          <a:solidFill>
                            <a:schemeClr val="bg1"/>
                          </a:solidFill>
                        </a:rPr>
                        <a:t>24</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74F42"/>
                    </a:solidFill>
                  </a:tcPr>
                </a:tc>
                <a:tc>
                  <a:txBody>
                    <a:bodyPr/>
                    <a:lstStyle/>
                    <a:p>
                      <a:pPr algn="ctr" indent="0" marL="0">
                        <a:buNone/>
                      </a:pPr>
                      <a:r>
                        <a:rPr lang="en-US" sz="1800" b="1" dirty="0">
                          <a:solidFill>
                            <a:schemeClr val="tx1"/>
                          </a:solidFill>
                        </a:rPr>
                        <a:t>5</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2EAE9"/>
                    </a:solidFill>
                  </a:tcPr>
                </a:tc>
                <a:tc>
                  <a:txBody>
                    <a:bodyPr/>
                    <a:lstStyle/>
                    <a:p>
                      <a:pPr algn="ctr" indent="0" marL="0">
                        <a:buNone/>
                      </a:pPr>
                      <a:r>
                        <a:rPr lang="en-US" sz="1800" b="1" dirty="0">
                          <a:solidFill>
                            <a:schemeClr val="tx1"/>
                          </a:solidFill>
                        </a:rPr>
                        <a:t>0</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r>
            </a:tbl>
          </a:graphicData>
        </a:graphic>
      </p:graphicFrame>
      <p:sp>
        <p:nvSpPr>
          <p:cNvPr id="17" name="Text 14"/>
          <p:cNvSpPr txBox="1"/>
          <p:nvPr/>
        </p:nvSpPr>
        <p:spPr>
          <a:xfrm>
            <a:off x="4297680" y="2606040"/>
            <a:ext cx="3566160" cy="365760"/>
          </a:xfrm>
          <a:prstGeom prst="rect">
            <a:avLst/>
          </a:prstGeom>
          <a:noFill/>
          <a:ln/>
        </p:spPr>
        <p:txBody>
          <a:bodyPr wrap="square" lIns="0" tIns="0" rIns="0" bIns="0" rtlCol="0" anchor="t"/>
          <a:lstStyle/>
          <a:p>
            <a:pPr indent="0" marL="0">
              <a:buNone/>
            </a:pPr>
            <a:r>
              <a:rPr lang="en-US" sz="1600" b="1" dirty="0">
                <a:solidFill>
                  <a:schemeClr val="tx1"/>
                </a:solidFill>
              </a:rPr>
              <a:t>Pooled + Wikipedia</a:t>
            </a:r>
            <a:endParaRPr lang="en-US" sz="1600" dirty="0"/>
          </a:p>
        </p:txBody>
      </p:sp>
      <p:graphicFrame>
        <p:nvGraphicFramePr>
          <p:cNvPr id="23" name="confusion matrix 2"/>
          <p:cNvGraphicFramePr>
            <a:graphicFrameLocks noGrp="1"/>
          </p:cNvGraphicFramePr>
          <p:nvPr>
            <p:extLst>
              <p:ext uri="{D42A27DB-BD31-4B8C-83A1-F6EECF244321}">
                <p14:modId xmlns:p14="http://schemas.microsoft.com/office/powerpoint/2010/main" val="1579011935"/>
              </p:ext>
            </p:extLst>
          </p:nvPr>
        </p:nvGraphicFramePr>
        <p:xfrm>
          <a:off x="4297680" y="3017520"/>
          <a:ext cx="3566160" cy="914400"/>
        </p:xfrm>
        <a:graphic>
          <a:graphicData uri="http://schemas.openxmlformats.org/drawingml/2006/table">
            <a:tbl>
              <a:tblPr/>
              <a:tblGrid>
                <a:gridCol w="1188720"/>
                <a:gridCol w="594360"/>
                <a:gridCol w="594360"/>
                <a:gridCol w="594360"/>
                <a:gridCol w="594360"/>
              </a:tblGrid>
              <a:tr h="658368">
                <a:tc>
                  <a:txBody>
                    <a:bodyPr/>
                    <a:lstStyle/>
                    <a:p>
                      <a:pPr algn="ctr" indent="0" marL="0">
                        <a:buNone/>
                      </a:pPr>
                      <a:r>
                        <a:rPr lang="en-US" sz="1200" b="1" dirty="0">
                          <a:solidFill>
                            <a:schemeClr val="bg1"/>
                          </a:solidFill>
                        </a:rPr>
                        <a:t>gold \ pred</a:t>
                      </a:r>
                      <a:endParaRPr lang="en-US" sz="12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c>
                  <a:txBody>
                    <a:bodyPr/>
                    <a:lstStyle/>
                    <a:p>
                      <a:pPr algn="ctr" indent="0" marL="0">
                        <a:buNone/>
                      </a:pPr>
                      <a:r>
                        <a:rPr lang="en-US" sz="1400" b="1" dirty="0">
                          <a:solidFill>
                            <a:schemeClr val="bg1"/>
                          </a:solidFill>
                        </a:rPr>
                        <a:t>S</a:t>
                      </a:r>
                      <a:endParaRPr lang="en-US" sz="14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c>
                  <a:txBody>
                    <a:bodyPr/>
                    <a:lstStyle/>
                    <a:p>
                      <a:pPr algn="ctr" indent="0" marL="0">
                        <a:buNone/>
                      </a:pPr>
                      <a:r>
                        <a:rPr lang="en-US" sz="1400" b="1" dirty="0">
                          <a:solidFill>
                            <a:schemeClr val="bg1"/>
                          </a:solidFill>
                        </a:rPr>
                        <a:t>R</a:t>
                      </a:r>
                      <a:endParaRPr lang="en-US" sz="14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c>
                  <a:txBody>
                    <a:bodyPr/>
                    <a:lstStyle/>
                    <a:p>
                      <a:pPr algn="ctr" indent="0" marL="0">
                        <a:buNone/>
                      </a:pPr>
                      <a:r>
                        <a:rPr lang="en-US" sz="1400" b="1" dirty="0">
                          <a:solidFill>
                            <a:schemeClr val="bg1"/>
                          </a:solidFill>
                        </a:rPr>
                        <a:t>N</a:t>
                      </a:r>
                      <a:endParaRPr lang="en-US" sz="14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c>
                  <a:txBody>
                    <a:bodyPr/>
                    <a:lstStyle/>
                    <a:p>
                      <a:pPr algn="ctr" indent="0" marL="0">
                        <a:buNone/>
                      </a:pPr>
                      <a:r>
                        <a:rPr lang="en-US" sz="1400" b="1" dirty="0">
                          <a:solidFill>
                            <a:schemeClr val="bg1"/>
                          </a:solidFill>
                        </a:rPr>
                        <a:t>M</a:t>
                      </a:r>
                      <a:endParaRPr lang="en-US" sz="14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r>
              <a:tr h="658368">
                <a:tc>
                  <a:txBody>
                    <a:bodyPr/>
                    <a:lstStyle/>
                    <a:p>
                      <a:pPr indent="0" marL="0">
                        <a:buNone/>
                      </a:pPr>
                      <a:r>
                        <a:rPr lang="en-US" sz="1300" b="1" dirty="0">
                          <a:solidFill>
                            <a:schemeClr val="tx1"/>
                          </a:solidFill>
                        </a:rPr>
                        <a:t>SUPPORTS</a:t>
                      </a:r>
                      <a:endParaRPr lang="en-US" sz="13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800" b="1" dirty="0">
                          <a:solidFill>
                            <a:schemeClr val="bg1"/>
                          </a:solidFill>
                        </a:rPr>
                        <a:t>24</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5A19D"/>
                    </a:solidFill>
                  </a:tcPr>
                </a:tc>
                <a:tc>
                  <a:txBody>
                    <a:bodyPr/>
                    <a:lstStyle/>
                    <a:p>
                      <a:pPr algn="ctr" indent="0" marL="0">
                        <a:buNone/>
                      </a:pPr>
                      <a:r>
                        <a:rPr lang="en-US" sz="1800" b="1" dirty="0">
                          <a:solidFill>
                            <a:schemeClr val="tx1"/>
                          </a:solidFill>
                        </a:rPr>
                        <a:t>8</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DC8C4"/>
                    </a:solidFill>
                  </a:tcPr>
                </a:tc>
                <a:tc>
                  <a:txBody>
                    <a:bodyPr/>
                    <a:lstStyle/>
                    <a:p>
                      <a:pPr algn="ctr" indent="0" marL="0">
                        <a:buNone/>
                      </a:pPr>
                      <a:r>
                        <a:rPr lang="en-US" sz="1800" b="1" dirty="0">
                          <a:solidFill>
                            <a:schemeClr val="tx1"/>
                          </a:solidFill>
                        </a:rPr>
                        <a:t>1</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F8F8"/>
                    </a:solidFill>
                  </a:tcPr>
                </a:tc>
                <a:tc>
                  <a:txBody>
                    <a:bodyPr/>
                    <a:lstStyle/>
                    <a:p>
                      <a:pPr algn="ctr" indent="0" marL="0">
                        <a:buNone/>
                      </a:pPr>
                      <a:r>
                        <a:rPr lang="en-US" sz="1800" b="1" dirty="0">
                          <a:solidFill>
                            <a:schemeClr val="tx1"/>
                          </a:solidFill>
                        </a:rPr>
                        <a:t>0</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chemeClr val="tx1"/>
                          </a:solidFill>
                        </a:rPr>
                        <a:t>REFUTES</a:t>
                      </a:r>
                      <a:endParaRPr lang="en-US" sz="13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800" b="1" dirty="0">
                          <a:solidFill>
                            <a:schemeClr val="tx1"/>
                          </a:solidFill>
                        </a:rPr>
                        <a:t>4</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7E6E4"/>
                    </a:solidFill>
                  </a:tcPr>
                </a:tc>
                <a:tc>
                  <a:txBody>
                    <a:bodyPr/>
                    <a:lstStyle/>
                    <a:p>
                      <a:pPr algn="ctr" indent="0" marL="0">
                        <a:buNone/>
                      </a:pPr>
                      <a:r>
                        <a:rPr lang="en-US" sz="1800" b="1" dirty="0">
                          <a:solidFill>
                            <a:schemeClr val="bg1"/>
                          </a:solidFill>
                        </a:rPr>
                        <a:t>31</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0908B"/>
                    </a:solidFill>
                  </a:tcPr>
                </a:tc>
                <a:tc>
                  <a:txBody>
                    <a:bodyPr/>
                    <a:lstStyle/>
                    <a:p>
                      <a:pPr algn="ctr" indent="0" marL="0">
                        <a:buNone/>
                      </a:pPr>
                      <a:r>
                        <a:rPr lang="en-US" sz="1800" b="1" dirty="0">
                          <a:solidFill>
                            <a:schemeClr val="tx1"/>
                          </a:solidFill>
                        </a:rPr>
                        <a:t>1</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F9F8"/>
                    </a:solidFill>
                  </a:tcPr>
                </a:tc>
                <a:tc>
                  <a:txBody>
                    <a:bodyPr/>
                    <a:lstStyle/>
                    <a:p>
                      <a:pPr algn="ctr" indent="0" marL="0">
                        <a:buNone/>
                      </a:pPr>
                      <a:r>
                        <a:rPr lang="en-US" sz="1800" b="1" dirty="0">
                          <a:solidFill>
                            <a:schemeClr val="tx1"/>
                          </a:solidFill>
                        </a:rPr>
                        <a:t>0</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chemeClr val="tx1"/>
                          </a:solidFill>
                        </a:rPr>
                        <a:t>NEI</a:t>
                      </a:r>
                      <a:endParaRPr lang="en-US" sz="13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800" b="1" dirty="0">
                          <a:solidFill>
                            <a:schemeClr val="tx1"/>
                          </a:solidFill>
                        </a:rPr>
                        <a:t>6</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1D3D0"/>
                    </a:solidFill>
                  </a:tcPr>
                </a:tc>
                <a:tc>
                  <a:txBody>
                    <a:bodyPr/>
                    <a:lstStyle/>
                    <a:p>
                      <a:pPr algn="ctr" indent="0" marL="0">
                        <a:buNone/>
                      </a:pPr>
                      <a:r>
                        <a:rPr lang="en-US" sz="1800" b="1" dirty="0">
                          <a:solidFill>
                            <a:schemeClr val="bg1"/>
                          </a:solidFill>
                        </a:rPr>
                        <a:t>25</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5473A"/>
                    </a:solidFill>
                  </a:tcPr>
                </a:tc>
                <a:tc>
                  <a:txBody>
                    <a:bodyPr/>
                    <a:lstStyle/>
                    <a:p>
                      <a:pPr algn="ctr" indent="0" marL="0">
                        <a:buNone/>
                      </a:pPr>
                      <a:r>
                        <a:rPr lang="en-US" sz="1800" b="1" dirty="0">
                          <a:solidFill>
                            <a:schemeClr val="tx1"/>
                          </a:solidFill>
                        </a:rPr>
                        <a:t>0</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800" b="1" dirty="0">
                          <a:solidFill>
                            <a:schemeClr val="tx1"/>
                          </a:solidFill>
                        </a:rPr>
                        <a:t>0</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r>
            </a:tbl>
          </a:graphicData>
        </a:graphic>
      </p:graphicFrame>
      <p:sp>
        <p:nvSpPr>
          <p:cNvPr id="19" name="Text 15"/>
          <p:cNvSpPr txBox="1"/>
          <p:nvPr/>
        </p:nvSpPr>
        <p:spPr>
          <a:xfrm>
            <a:off x="8046720" y="2606040"/>
            <a:ext cx="3566160" cy="365760"/>
          </a:xfrm>
          <a:prstGeom prst="rect">
            <a:avLst/>
          </a:prstGeom>
          <a:noFill/>
          <a:ln/>
        </p:spPr>
        <p:txBody>
          <a:bodyPr wrap="square" lIns="0" tIns="0" rIns="0" bIns="0" rtlCol="0" anchor="t"/>
          <a:lstStyle/>
          <a:p>
            <a:pPr indent="0" marL="0">
              <a:buNone/>
            </a:pPr>
            <a:r>
              <a:rPr lang="en-US" sz="1600" b="1" dirty="0">
                <a:solidFill>
                  <a:schemeClr val="tx1"/>
                </a:solidFill>
              </a:rPr>
              <a:t>Stance + Wikipedia (first prompt)</a:t>
            </a:r>
            <a:endParaRPr lang="en-US" sz="1600" dirty="0"/>
          </a:p>
        </p:txBody>
      </p:sp>
      <p:graphicFrame>
        <p:nvGraphicFramePr>
          <p:cNvPr id="34" name="confusion matrix 3"/>
          <p:cNvGraphicFramePr>
            <a:graphicFrameLocks noGrp="1"/>
          </p:cNvGraphicFramePr>
          <p:nvPr>
            <p:extLst>
              <p:ext uri="{D42A27DB-BD31-4B8C-83A1-F6EECF244321}">
                <p14:modId xmlns:p14="http://schemas.microsoft.com/office/powerpoint/2010/main" val="1579011935"/>
              </p:ext>
            </p:extLst>
          </p:nvPr>
        </p:nvGraphicFramePr>
        <p:xfrm>
          <a:off x="8046720" y="3017520"/>
          <a:ext cx="3566160" cy="914400"/>
        </p:xfrm>
        <a:graphic>
          <a:graphicData uri="http://schemas.openxmlformats.org/drawingml/2006/table">
            <a:tbl>
              <a:tblPr/>
              <a:tblGrid>
                <a:gridCol w="1188720"/>
                <a:gridCol w="594360"/>
                <a:gridCol w="594360"/>
                <a:gridCol w="594360"/>
                <a:gridCol w="594360"/>
              </a:tblGrid>
              <a:tr h="658368">
                <a:tc>
                  <a:txBody>
                    <a:bodyPr/>
                    <a:lstStyle/>
                    <a:p>
                      <a:pPr algn="ctr" indent="0" marL="0">
                        <a:buNone/>
                      </a:pPr>
                      <a:r>
                        <a:rPr lang="en-US" sz="1200" b="1" dirty="0">
                          <a:solidFill>
                            <a:schemeClr val="bg1"/>
                          </a:solidFill>
                        </a:rPr>
                        <a:t>gold \ pred</a:t>
                      </a:r>
                      <a:endParaRPr lang="en-US" sz="12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c>
                  <a:txBody>
                    <a:bodyPr/>
                    <a:lstStyle/>
                    <a:p>
                      <a:pPr algn="ctr" indent="0" marL="0">
                        <a:buNone/>
                      </a:pPr>
                      <a:r>
                        <a:rPr lang="en-US" sz="1400" b="1" dirty="0">
                          <a:solidFill>
                            <a:schemeClr val="bg1"/>
                          </a:solidFill>
                        </a:rPr>
                        <a:t>S</a:t>
                      </a:r>
                      <a:endParaRPr lang="en-US" sz="14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c>
                  <a:txBody>
                    <a:bodyPr/>
                    <a:lstStyle/>
                    <a:p>
                      <a:pPr algn="ctr" indent="0" marL="0">
                        <a:buNone/>
                      </a:pPr>
                      <a:r>
                        <a:rPr lang="en-US" sz="1400" b="1" dirty="0">
                          <a:solidFill>
                            <a:schemeClr val="bg1"/>
                          </a:solidFill>
                        </a:rPr>
                        <a:t>R</a:t>
                      </a:r>
                      <a:endParaRPr lang="en-US" sz="14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c>
                  <a:txBody>
                    <a:bodyPr/>
                    <a:lstStyle/>
                    <a:p>
                      <a:pPr algn="ctr" indent="0" marL="0">
                        <a:buNone/>
                      </a:pPr>
                      <a:r>
                        <a:rPr lang="en-US" sz="1400" b="1" dirty="0">
                          <a:solidFill>
                            <a:schemeClr val="bg1"/>
                          </a:solidFill>
                        </a:rPr>
                        <a:t>N</a:t>
                      </a:r>
                      <a:endParaRPr lang="en-US" sz="14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c>
                  <a:txBody>
                    <a:bodyPr/>
                    <a:lstStyle/>
                    <a:p>
                      <a:pPr algn="ctr" indent="0" marL="0">
                        <a:buNone/>
                      </a:pPr>
                      <a:r>
                        <a:rPr lang="en-US" sz="1400" b="1" dirty="0">
                          <a:solidFill>
                            <a:schemeClr val="bg1"/>
                          </a:solidFill>
                        </a:rPr>
                        <a:t>M</a:t>
                      </a:r>
                      <a:endParaRPr lang="en-US" sz="14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F1B2D"/>
                    </a:solidFill>
                  </a:tcPr>
                </a:tc>
              </a:tr>
              <a:tr h="658368">
                <a:tc>
                  <a:txBody>
                    <a:bodyPr/>
                    <a:lstStyle/>
                    <a:p>
                      <a:pPr indent="0" marL="0">
                        <a:buNone/>
                      </a:pPr>
                      <a:r>
                        <a:rPr lang="en-US" sz="1300" b="1" dirty="0">
                          <a:solidFill>
                            <a:schemeClr val="tx1"/>
                          </a:solidFill>
                        </a:rPr>
                        <a:t>SUPPORTS</a:t>
                      </a:r>
                      <a:endParaRPr lang="en-US" sz="13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800" b="1" dirty="0">
                          <a:solidFill>
                            <a:schemeClr val="bg1"/>
                          </a:solidFill>
                        </a:rPr>
                        <a:t>22</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6A9A5"/>
                    </a:solidFill>
                  </a:tcPr>
                </a:tc>
                <a:tc>
                  <a:txBody>
                    <a:bodyPr/>
                    <a:lstStyle/>
                    <a:p>
                      <a:pPr algn="ctr" indent="0" marL="0">
                        <a:buNone/>
                      </a:pPr>
                      <a:r>
                        <a:rPr lang="en-US" sz="1800" b="1" dirty="0">
                          <a:solidFill>
                            <a:schemeClr val="tx1"/>
                          </a:solidFill>
                        </a:rPr>
                        <a:t>2</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BF1F0"/>
                    </a:solidFill>
                  </a:tcPr>
                </a:tc>
                <a:tc>
                  <a:txBody>
                    <a:bodyPr/>
                    <a:lstStyle/>
                    <a:p>
                      <a:pPr algn="ctr" indent="0" marL="0">
                        <a:buNone/>
                      </a:pPr>
                      <a:r>
                        <a:rPr lang="en-US" sz="1800" b="1" dirty="0">
                          <a:solidFill>
                            <a:schemeClr val="tx1"/>
                          </a:solidFill>
                        </a:rPr>
                        <a:t>8</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DC8C4"/>
                    </a:solidFill>
                  </a:tcPr>
                </a:tc>
                <a:tc>
                  <a:txBody>
                    <a:bodyPr/>
                    <a:lstStyle/>
                    <a:p>
                      <a:pPr algn="ctr" indent="0" marL="0">
                        <a:buNone/>
                      </a:pPr>
                      <a:r>
                        <a:rPr lang="en-US" sz="1800" b="1" dirty="0">
                          <a:solidFill>
                            <a:schemeClr val="tx1"/>
                          </a:solidFill>
                        </a:rPr>
                        <a:t>1</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F8F8"/>
                    </a:solidFill>
                  </a:tcPr>
                </a:tc>
              </a:tr>
              <a:tr h="658368">
                <a:tc>
                  <a:txBody>
                    <a:bodyPr/>
                    <a:lstStyle/>
                    <a:p>
                      <a:pPr indent="0" marL="0">
                        <a:buNone/>
                      </a:pPr>
                      <a:r>
                        <a:rPr lang="en-US" sz="1300" b="1" dirty="0">
                          <a:solidFill>
                            <a:schemeClr val="tx1"/>
                          </a:solidFill>
                        </a:rPr>
                        <a:t>REFUTES</a:t>
                      </a:r>
                      <a:endParaRPr lang="en-US" sz="13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800" b="1" dirty="0">
                          <a:solidFill>
                            <a:schemeClr val="tx1"/>
                          </a:solidFill>
                        </a:rPr>
                        <a:t>13</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5ADA7"/>
                    </a:solidFill>
                  </a:tcPr>
                </a:tc>
                <a:tc>
                  <a:txBody>
                    <a:bodyPr/>
                    <a:lstStyle/>
                    <a:p>
                      <a:pPr algn="ctr" indent="0" marL="0">
                        <a:buNone/>
                      </a:pPr>
                      <a:r>
                        <a:rPr lang="en-US" sz="1800" b="1" dirty="0">
                          <a:solidFill>
                            <a:schemeClr val="tx1"/>
                          </a:solidFill>
                        </a:rPr>
                        <a:t>12</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A3D4D2"/>
                    </a:solidFill>
                  </a:tcPr>
                </a:tc>
                <a:tc>
                  <a:txBody>
                    <a:bodyPr/>
                    <a:lstStyle/>
                    <a:p>
                      <a:pPr algn="ctr" indent="0" marL="0">
                        <a:buNone/>
                      </a:pPr>
                      <a:r>
                        <a:rPr lang="en-US" sz="1800" b="1" dirty="0">
                          <a:solidFill>
                            <a:schemeClr val="tx1"/>
                          </a:solidFill>
                        </a:rPr>
                        <a:t>10</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BC0BB"/>
                    </a:solidFill>
                  </a:tcPr>
                </a:tc>
                <a:tc>
                  <a:txBody>
                    <a:bodyPr/>
                    <a:lstStyle/>
                    <a:p>
                      <a:pPr algn="ctr" indent="0" marL="0">
                        <a:buNone/>
                      </a:pPr>
                      <a:r>
                        <a:rPr lang="en-US" sz="1800" b="1" dirty="0">
                          <a:solidFill>
                            <a:schemeClr val="tx1"/>
                          </a:solidFill>
                        </a:rPr>
                        <a:t>1</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F9F8"/>
                    </a:solidFill>
                  </a:tcPr>
                </a:tc>
              </a:tr>
              <a:tr h="658368">
                <a:tc>
                  <a:txBody>
                    <a:bodyPr/>
                    <a:lstStyle/>
                    <a:p>
                      <a:pPr indent="0" marL="0">
                        <a:buNone/>
                      </a:pPr>
                      <a:r>
                        <a:rPr lang="en-US" sz="1300" b="1" dirty="0">
                          <a:solidFill>
                            <a:schemeClr val="tx1"/>
                          </a:solidFill>
                        </a:rPr>
                        <a:t>NEI</a:t>
                      </a:r>
                      <a:endParaRPr lang="en-US" sz="13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800" b="1" dirty="0">
                          <a:solidFill>
                            <a:schemeClr val="tx1"/>
                          </a:solidFill>
                        </a:rPr>
                        <a:t>9</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ABDB8"/>
                    </a:solidFill>
                  </a:tcPr>
                </a:tc>
                <a:tc>
                  <a:txBody>
                    <a:bodyPr/>
                    <a:lstStyle/>
                    <a:p>
                      <a:pPr algn="ctr" indent="0" marL="0">
                        <a:buNone/>
                      </a:pPr>
                      <a:r>
                        <a:rPr lang="en-US" sz="1800" b="1" dirty="0">
                          <a:solidFill>
                            <a:schemeClr val="tx1"/>
                          </a:solidFill>
                        </a:rPr>
                        <a:t>3</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E9E7"/>
                    </a:solidFill>
                  </a:tcPr>
                </a:tc>
                <a:tc>
                  <a:txBody>
                    <a:bodyPr/>
                    <a:lstStyle/>
                    <a:p>
                      <a:pPr algn="ctr" indent="0" marL="0">
                        <a:buNone/>
                      </a:pPr>
                      <a:r>
                        <a:rPr lang="en-US" sz="1800" b="1" dirty="0">
                          <a:solidFill>
                            <a:schemeClr val="bg1"/>
                          </a:solidFill>
                        </a:rPr>
                        <a:t>19</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55B0AD"/>
                    </a:solidFill>
                  </a:tcPr>
                </a:tc>
                <a:tc>
                  <a:txBody>
                    <a:bodyPr/>
                    <a:lstStyle/>
                    <a:p>
                      <a:pPr algn="ctr" indent="0" marL="0">
                        <a:buNone/>
                      </a:pPr>
                      <a:r>
                        <a:rPr lang="en-US" sz="1800" b="1" dirty="0">
                          <a:solidFill>
                            <a:schemeClr val="tx1"/>
                          </a:solidFill>
                        </a:rPr>
                        <a:t>0</a:t>
                      </a:r>
                      <a:endParaRPr lang="en-US" sz="1800" dirty="0"/>
                    </a:p>
                  </a:txBody>
                  <a:tcPr marL="54864" marR="54864"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r>
            </a:tbl>
          </a:graphicData>
        </a:graphic>
      </p:graphicFrame>
      <p:sp>
        <p:nvSpPr>
          <p:cNvPr id="21" name="Text 16"/>
          <p:cNvSpPr txBox="1"/>
          <p:nvPr/>
        </p:nvSpPr>
        <p:spPr>
          <a:xfrm>
            <a:off x="548640" y="5943600"/>
            <a:ext cx="11064240" cy="411480"/>
          </a:xfrm>
          <a:prstGeom prst="rect">
            <a:avLst/>
          </a:prstGeom>
          <a:noFill/>
          <a:ln/>
        </p:spPr>
        <p:txBody>
          <a:bodyPr wrap="square" lIns="0" tIns="0" rIns="0" bIns="0" rtlCol="0" anchor="t"/>
          <a:lstStyle/>
          <a:p>
            <a:pPr indent="0" marL="0">
              <a:buNone/>
            </a:pPr>
            <a:r>
              <a:rPr lang="en-US" sz="1200" dirty="0">
                <a:solidFill>
                  <a:schemeClr val="accent4"/>
                </a:solidFill>
              </a:rPr>
              <a:t>Teal: correct cells. Red: wrong cells. Shade is the share of the gold row. S, R, N, M = SUPPORTS, REFUTES, NEI, MIXED. Rows sum to 33, 36, 31.</a:t>
            </a:r>
            <a:endParaRPr lang="en-US" sz="12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Results: retrieval helped, pooled never abstained</a:t>
            </a:r>
            <a:endParaRPr lang="en-US" sz="3000" dirty="0"/>
          </a:p>
        </p:txBody>
      </p:sp>
      <p:graphicFrame>
        <p:nvGraphicFramePr>
          <p:cNvPr id="3" name="Chart 0" descr=""/>
          <p:cNvGraphicFramePr/>
          <p:nvPr/>
        </p:nvGraphicFramePr>
        <p:xfrm>
          <a:off x="548640" y="1417320"/>
          <a:ext cx="5120640" cy="379476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results table"/>
          <p:cNvGraphicFramePr>
            <a:graphicFrameLocks noGrp="1"/>
          </p:cNvGraphicFramePr>
          <p:nvPr>
            <p:extLst>
              <p:ext uri="{D42A27DB-BD31-4B8C-83A1-F6EECF244321}">
                <p14:modId xmlns:p14="http://schemas.microsoft.com/office/powerpoint/2010/main" val="1579011935"/>
              </p:ext>
            </p:extLst>
          </p:nvPr>
        </p:nvGraphicFramePr>
        <p:xfrm>
          <a:off x="5943600" y="1463040"/>
          <a:ext cx="5669280" cy="914400"/>
        </p:xfrm>
        <a:graphic>
          <a:graphicData uri="http://schemas.openxmlformats.org/drawingml/2006/table">
            <a:tbl>
              <a:tblPr/>
              <a:tblGrid>
                <a:gridCol w="1188720"/>
                <a:gridCol w="1417320"/>
                <a:gridCol w="731520"/>
                <a:gridCol w="1417320"/>
                <a:gridCol w="914400"/>
              </a:tblGrid>
              <a:tr h="713232">
                <a:tc>
                  <a:txBody>
                    <a:bodyPr/>
                    <a:lstStyle/>
                    <a:p>
                      <a:pPr indent="0" marL="0">
                        <a:buNone/>
                      </a:pPr>
                      <a:r>
                        <a:rPr lang="en-US" sz="1300" b="1" dirty="0">
                          <a:solidFill>
                            <a:schemeClr val="bg1"/>
                          </a:solidFill>
                        </a:rPr>
                        <a:t>Variant</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300" b="1" dirty="0">
                          <a:solidFill>
                            <a:schemeClr val="bg1"/>
                          </a:solidFill>
                        </a:rPr>
                        <a:t>Accuracy (95% CI)</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300" b="1" dirty="0">
                          <a:solidFill>
                            <a:schemeClr val="bg1"/>
                          </a:solidFill>
                        </a:rPr>
                        <a:t>Macro-F1</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300" b="1" dirty="0">
                          <a:solidFill>
                            <a:schemeClr val="bg1"/>
                          </a:solidFill>
                        </a:rPr>
                        <a:t>Decisive (95% CI)</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300" b="1" dirty="0">
                          <a:solidFill>
                            <a:schemeClr val="bg1"/>
                          </a:solidFill>
                        </a:rPr>
                        <a:t>NEI recall</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r>
              <a:tr h="713232">
                <a:tc>
                  <a:txBody>
                    <a:bodyPr/>
                    <a:lstStyle/>
                    <a:p>
                      <a:pPr indent="0" marL="0">
                        <a:buNone/>
                      </a:pPr>
                      <a:r>
                        <a:rPr lang="en-US" sz="1300" b="1" dirty="0">
                          <a:solidFill>
                            <a:srgbClr val="000000"/>
                          </a:solidFill>
                        </a:rPr>
                        <a:t>Pooled + OpenAlex</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51.0 (41.3–60.6)</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0.466</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66.7 (54.9–76.6)</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16.1%</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000000"/>
                          </a:solidFill>
                        </a:rPr>
                        <a:t>Pooled + Wikipedia</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c>
                  <a:txBody>
                    <a:bodyPr/>
                    <a:lstStyle/>
                    <a:p>
                      <a:pPr indent="0" marL="0">
                        <a:buNone/>
                      </a:pPr>
                      <a:r>
                        <a:rPr lang="en-US" sz="1300" dirty="0">
                          <a:solidFill>
                            <a:srgbClr val="000000"/>
                          </a:solidFill>
                        </a:rPr>
                        <a:t>55.0 (45.2–64.4)</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c>
                  <a:txBody>
                    <a:bodyPr/>
                    <a:lstStyle/>
                    <a:p>
                      <a:pPr indent="0" marL="0">
                        <a:buNone/>
                      </a:pPr>
                      <a:r>
                        <a:rPr lang="en-US" sz="1300" dirty="0">
                          <a:solidFill>
                            <a:srgbClr val="000000"/>
                          </a:solidFill>
                        </a:rPr>
                        <a:t>0.445</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c>
                  <a:txBody>
                    <a:bodyPr/>
                    <a:lstStyle/>
                    <a:p>
                      <a:pPr indent="0" marL="0">
                        <a:buNone/>
                      </a:pPr>
                      <a:r>
                        <a:rPr lang="en-US" sz="1300" dirty="0">
                          <a:solidFill>
                            <a:srgbClr val="000000"/>
                          </a:solidFill>
                        </a:rPr>
                        <a:t>79.7 (68.8–87.5)</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c>
                  <a:txBody>
                    <a:bodyPr/>
                    <a:lstStyle/>
                    <a:p>
                      <a:pPr indent="0" marL="0">
                        <a:buNone/>
                      </a:pPr>
                      <a:r>
                        <a:rPr lang="en-US" sz="1300" dirty="0">
                          <a:solidFill>
                            <a:srgbClr val="000000"/>
                          </a:solidFill>
                        </a:rPr>
                        <a:t>0.0%</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r>
              <a:tr h="713232">
                <a:tc>
                  <a:txBody>
                    <a:bodyPr/>
                    <a:lstStyle/>
                    <a:p>
                      <a:pPr indent="0" marL="0">
                        <a:buNone/>
                      </a:pPr>
                      <a:r>
                        <a:rPr lang="en-US" sz="1300" b="1" dirty="0">
                          <a:solidFill>
                            <a:srgbClr val="000000"/>
                          </a:solidFill>
                        </a:rPr>
                        <a:t>Stance + Wikipedia</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53.0 (43.3–62.5)</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0.528</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49.3 (37.8–60.8)</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61.3%</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943600" y="4389120"/>
            <a:ext cx="5669280" cy="457200"/>
          </a:xfrm>
          <a:prstGeom prst="rect">
            <a:avLst/>
          </a:prstGeom>
          <a:noFill/>
          <a:ln/>
        </p:spPr>
        <p:txBody>
          <a:bodyPr wrap="square" lIns="0" tIns="0" rIns="0" bIns="0" rtlCol="0" anchor="t"/>
          <a:lstStyle/>
          <a:p>
            <a:pPr indent="0" marL="0">
              <a:buNone/>
            </a:pPr>
            <a:r>
              <a:rPr lang="en-US" sz="1200" dirty="0">
                <a:solidFill>
                  <a:schemeClr val="accent4"/>
                </a:solidFill>
              </a:rPr>
              <a:t>Percent except macro-F1. Decisive = the 69 SUPPORTS and REFUTES claims.</a:t>
            </a:r>
            <a:endParaRPr lang="en-US" sz="1200" dirty="0"/>
          </a:p>
        </p:txBody>
      </p:sp>
      <p:sp>
        <p:nvSpPr>
          <p:cNvPr id="6" name="callout 1"/>
          <p:cNvSpPr/>
          <p:nvPr/>
        </p:nvSpPr>
        <p:spPr>
          <a:xfrm>
            <a:off x="548640" y="5349240"/>
            <a:ext cx="5440680" cy="960120"/>
          </a:xfrm>
          <a:prstGeom prst="roundRect">
            <a:avLst>
              <a:gd name="adj" fmla="val 7619"/>
            </a:avLst>
          </a:prstGeom>
          <a:solidFill>
            <a:schemeClr val="tx1"/>
          </a:solidFill>
          <a:ln w="12700">
            <a:solidFill>
              <a:schemeClr val="tx1"/>
            </a:solidFill>
            <a:prstDash val="solid"/>
          </a:ln>
        </p:spPr>
      </p:sp>
      <p:sp>
        <p:nvSpPr>
          <p:cNvPr id="7" name="Text 3"/>
          <p:cNvSpPr txBox="1"/>
          <p:nvPr/>
        </p:nvSpPr>
        <p:spPr>
          <a:xfrm>
            <a:off x="731520" y="5349240"/>
            <a:ext cx="2377440" cy="96012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66.7 → 79.7%</a:t>
            </a:r>
            <a:endParaRPr lang="en-US" sz="2600" dirty="0"/>
          </a:p>
        </p:txBody>
      </p:sp>
      <p:sp>
        <p:nvSpPr>
          <p:cNvPr id="8" name="Text 4"/>
          <p:cNvSpPr txBox="1"/>
          <p:nvPr/>
        </p:nvSpPr>
        <p:spPr>
          <a:xfrm>
            <a:off x="3154680" y="5349240"/>
            <a:ext cx="2697480" cy="960120"/>
          </a:xfrm>
          <a:prstGeom prst="rect">
            <a:avLst/>
          </a:prstGeom>
          <a:noFill/>
          <a:ln/>
        </p:spPr>
        <p:txBody>
          <a:bodyPr wrap="square" lIns="0" tIns="0" rIns="0" bIns="0" rtlCol="0" anchor="ctr"/>
          <a:lstStyle/>
          <a:p>
            <a:pPr indent="0" marL="0">
              <a:buNone/>
            </a:pPr>
            <a:r>
              <a:rPr lang="en-US" sz="1400" dirty="0">
                <a:solidFill>
                  <a:schemeClr val="bg1"/>
                </a:solidFill>
              </a:rPr>
              <a:t>decisive accuracy with Wikipedia (suggestive, p = 0.064)</a:t>
            </a:r>
            <a:endParaRPr lang="en-US" sz="1400" dirty="0"/>
          </a:p>
        </p:txBody>
      </p:sp>
      <p:sp>
        <p:nvSpPr>
          <p:cNvPr id="9" name="callout 2"/>
          <p:cNvSpPr/>
          <p:nvPr/>
        </p:nvSpPr>
        <p:spPr>
          <a:xfrm>
            <a:off x="6172200" y="5349240"/>
            <a:ext cx="5440680" cy="960120"/>
          </a:xfrm>
          <a:prstGeom prst="roundRect">
            <a:avLst>
              <a:gd name="adj" fmla="val 7619"/>
            </a:avLst>
          </a:prstGeom>
          <a:solidFill>
            <a:schemeClr val="tx1"/>
          </a:solidFill>
          <a:ln w="12700">
            <a:solidFill>
              <a:schemeClr val="tx1"/>
            </a:solidFill>
            <a:prstDash val="solid"/>
          </a:ln>
        </p:spPr>
      </p:sp>
      <p:sp>
        <p:nvSpPr>
          <p:cNvPr id="10" name="Text 6"/>
          <p:cNvSpPr txBox="1"/>
          <p:nvPr/>
        </p:nvSpPr>
        <p:spPr>
          <a:xfrm>
            <a:off x="6355080" y="5349240"/>
            <a:ext cx="2377440" cy="960120"/>
          </a:xfrm>
          <a:prstGeom prst="rect">
            <a:avLst/>
          </a:prstGeom>
          <a:noFill/>
          <a:ln/>
        </p:spPr>
        <p:txBody>
          <a:bodyPr wrap="square" lIns="0" tIns="0" rIns="0" bIns="0" rtlCol="0" anchor="ctr"/>
          <a:lstStyle/>
          <a:p>
            <a:pPr indent="0" marL="0">
              <a:buNone/>
            </a:pPr>
            <a:r>
              <a:rPr lang="en-US" sz="2600" b="1" dirty="0">
                <a:solidFill>
                  <a:schemeClr val="accent2"/>
                </a:solidFill>
                <a:latin typeface="+mj-lt" pitchFamily="34" charset="0"/>
                <a:ea typeface="+mj-lt" pitchFamily="34" charset="-122"/>
                <a:cs typeface="+mj-lt" pitchFamily="34" charset="-120"/>
              </a:rPr>
              <a:t>0%  vs  61.3%</a:t>
            </a:r>
            <a:endParaRPr lang="en-US" sz="2600" dirty="0"/>
          </a:p>
        </p:txBody>
      </p:sp>
      <p:sp>
        <p:nvSpPr>
          <p:cNvPr id="11" name="Text 7"/>
          <p:cNvSpPr txBox="1"/>
          <p:nvPr/>
        </p:nvSpPr>
        <p:spPr>
          <a:xfrm>
            <a:off x="8778240" y="5349240"/>
            <a:ext cx="2697480" cy="960120"/>
          </a:xfrm>
          <a:prstGeom prst="rect">
            <a:avLst/>
          </a:prstGeom>
          <a:noFill/>
          <a:ln/>
        </p:spPr>
        <p:txBody>
          <a:bodyPr wrap="square" lIns="0" tIns="0" rIns="0" bIns="0" rtlCol="0" anchor="ctr"/>
          <a:lstStyle/>
          <a:p>
            <a:pPr indent="0" marL="0">
              <a:buNone/>
            </a:pPr>
            <a:r>
              <a:rPr lang="en-US" sz="1400" dirty="0">
                <a:solidFill>
                  <a:schemeClr val="bg1"/>
                </a:solidFill>
              </a:rPr>
              <a:t>NEI recall: pooled score vs stance variant</a:t>
            </a:r>
            <a:endParaRPr lang="en-US" sz="14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Comparison: retrieval mattered more than the rule</a:t>
            </a:r>
            <a:endParaRPr lang="en-US" sz="3000" dirty="0"/>
          </a:p>
        </p:txBody>
      </p:sp>
      <p:sp>
        <p:nvSpPr>
          <p:cNvPr id="3" name="Text 1"/>
          <p:cNvSpPr txBox="1"/>
          <p:nvPr/>
        </p:nvSpPr>
        <p:spPr>
          <a:xfrm>
            <a:off x="548640" y="1417320"/>
            <a:ext cx="5852160" cy="365760"/>
          </a:xfrm>
          <a:prstGeom prst="rect">
            <a:avLst/>
          </a:prstGeom>
          <a:noFill/>
          <a:ln/>
        </p:spPr>
        <p:txBody>
          <a:bodyPr wrap="square" lIns="0" tIns="0" rIns="0" bIns="0" rtlCol="0" anchor="t"/>
          <a:lstStyle/>
          <a:p>
            <a:pPr indent="0" marL="0">
              <a:buNone/>
            </a:pPr>
            <a:r>
              <a:rPr lang="en-US" sz="1600" b="1" dirty="0">
                <a:solidFill>
                  <a:schemeClr val="tx1"/>
                </a:solidFill>
              </a:rPr>
              <a:t>Paired tests on the same claims (exact McNemar)</a:t>
            </a:r>
            <a:endParaRPr lang="en-US" sz="1600" dirty="0"/>
          </a:p>
        </p:txBody>
      </p:sp>
      <p:graphicFrame>
        <p:nvGraphicFramePr>
          <p:cNvPr id="14" name="paired tests table"/>
          <p:cNvGraphicFramePr>
            <a:graphicFrameLocks noGrp="1"/>
          </p:cNvGraphicFramePr>
          <p:nvPr>
            <p:extLst>
              <p:ext uri="{D42A27DB-BD31-4B8C-83A1-F6EECF244321}">
                <p14:modId xmlns:p14="http://schemas.microsoft.com/office/powerpoint/2010/main" val="1579011935"/>
              </p:ext>
            </p:extLst>
          </p:nvPr>
        </p:nvGraphicFramePr>
        <p:xfrm>
          <a:off x="548640" y="1828800"/>
          <a:ext cx="5943600" cy="914400"/>
        </p:xfrm>
        <a:graphic>
          <a:graphicData uri="http://schemas.openxmlformats.org/drawingml/2006/table">
            <a:tbl>
              <a:tblPr/>
              <a:tblGrid>
                <a:gridCol w="1005840"/>
                <a:gridCol w="960120"/>
                <a:gridCol w="1188720"/>
                <a:gridCol w="2057400"/>
                <a:gridCol w="731520"/>
              </a:tblGrid>
              <a:tr h="502920">
                <a:tc>
                  <a:txBody>
                    <a:bodyPr/>
                    <a:lstStyle/>
                    <a:p>
                      <a:pPr indent="0" marL="0">
                        <a:buNone/>
                      </a:pPr>
                      <a:r>
                        <a:rPr lang="en-US" sz="1300" b="1" dirty="0">
                          <a:solidFill>
                            <a:schemeClr val="bg1"/>
                          </a:solidFill>
                        </a:rPr>
                        <a:t>A vs B</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300" b="1" dirty="0">
                          <a:solidFill>
                            <a:schemeClr val="bg1"/>
                          </a:solidFill>
                        </a:rPr>
                        <a:t>Claims</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300" b="1" dirty="0">
                          <a:solidFill>
                            <a:schemeClr val="bg1"/>
                          </a:solidFill>
                        </a:rPr>
                        <a:t>A only / B only</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300" b="1" dirty="0">
                          <a:solidFill>
                            <a:schemeClr val="bg1"/>
                          </a:solidFill>
                        </a:rPr>
                        <a:t>Diff, points (95% CI)</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300" b="1" dirty="0">
                          <a:solidFill>
                            <a:schemeClr val="bg1"/>
                          </a:solidFill>
                        </a:rPr>
                        <a:t>p</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r>
              <a:tr h="502920">
                <a:tc>
                  <a:txBody>
                    <a:bodyPr/>
                    <a:lstStyle/>
                    <a:p>
                      <a:pPr indent="0" marL="0">
                        <a:buNone/>
                      </a:pPr>
                      <a:r>
                        <a:rPr lang="en-US" sz="1300" b="1" dirty="0">
                          <a:solidFill>
                            <a:srgbClr val="000000"/>
                          </a:solidFill>
                        </a:rPr>
                        <a:t>PW vs PO</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decisive 69</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14 / 5</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+13.0 (+1.4, +24.6)</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0.064</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000000"/>
                          </a:solidFill>
                        </a:rPr>
                        <a:t>SW vs PW</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c>
                  <a:txBody>
                    <a:bodyPr/>
                    <a:lstStyle/>
                    <a:p>
                      <a:pPr indent="0" marL="0">
                        <a:buNone/>
                      </a:pPr>
                      <a:r>
                        <a:rPr lang="en-US" sz="1300" dirty="0">
                          <a:solidFill>
                            <a:srgbClr val="000000"/>
                          </a:solidFill>
                        </a:rPr>
                        <a:t>decisive 69</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c>
                  <a:txBody>
                    <a:bodyPr/>
                    <a:lstStyle/>
                    <a:p>
                      <a:pPr indent="0" marL="0">
                        <a:buNone/>
                      </a:pPr>
                      <a:r>
                        <a:rPr lang="en-US" sz="1300" dirty="0">
                          <a:solidFill>
                            <a:srgbClr val="000000"/>
                          </a:solidFill>
                        </a:rPr>
                        <a:t>5 / 26</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c>
                  <a:txBody>
                    <a:bodyPr/>
                    <a:lstStyle/>
                    <a:p>
                      <a:pPr indent="0" marL="0">
                        <a:buNone/>
                      </a:pPr>
                      <a:r>
                        <a:rPr lang="en-US" sz="1300" dirty="0">
                          <a:solidFill>
                            <a:srgbClr val="000000"/>
                          </a:solidFill>
                        </a:rPr>
                        <a:t>−30.4 (−44.9, −15.9)</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c>
                  <a:txBody>
                    <a:bodyPr/>
                    <a:lstStyle/>
                    <a:p>
                      <a:pPr indent="0" marL="0">
                        <a:buNone/>
                      </a:pPr>
                      <a:r>
                        <a:rPr lang="en-US" sz="1300" b="1" dirty="0">
                          <a:solidFill>
                            <a:srgbClr val="000000"/>
                          </a:solidFill>
                        </a:rPr>
                        <a:t>0.0002</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r>
              <a:tr h="502920">
                <a:tc>
                  <a:txBody>
                    <a:bodyPr/>
                    <a:lstStyle/>
                    <a:p>
                      <a:pPr indent="0" marL="0">
                        <a:buNone/>
                      </a:pPr>
                      <a:r>
                        <a:rPr lang="en-US" sz="1300" b="1" dirty="0">
                          <a:solidFill>
                            <a:srgbClr val="000000"/>
                          </a:solidFill>
                        </a:rPr>
                        <a:t>SW vs PO</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decisive 69</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11 / 23</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−17.4 (−33.3, 0.0)</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0.058</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000000"/>
                          </a:solidFill>
                        </a:rPr>
                        <a:t>SW vs PW</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all 100</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24 / 26</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−2.0 (−16.0, +12.0)</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0.888</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434840"/>
            <a:ext cx="5943600" cy="685800"/>
          </a:xfrm>
          <a:prstGeom prst="rect">
            <a:avLst/>
          </a:prstGeom>
          <a:noFill/>
          <a:ln/>
        </p:spPr>
        <p:txBody>
          <a:bodyPr wrap="square" lIns="0" tIns="0" rIns="0" bIns="0" rtlCol="0" anchor="t"/>
          <a:lstStyle/>
          <a:p>
            <a:pPr indent="0" marL="0">
              <a:buNone/>
            </a:pPr>
            <a:r>
              <a:rPr lang="en-US" sz="1200" dirty="0">
                <a:solidFill>
                  <a:schemeClr val="accent4"/>
                </a:solidFill>
              </a:rPr>
              <a:t>PO pooled + OpenAlex; PW pooled + Wikipedia; SW stance + Wikipedia. Six tests were run; the Bonferroni threshold is 0.0083, which only the shaded row meets.</a:t>
            </a:r>
            <a:endParaRPr lang="en-US" sz="1200" dirty="0"/>
          </a:p>
        </p:txBody>
      </p:sp>
      <p:sp>
        <p:nvSpPr>
          <p:cNvPr id="6" name="comparison takeaway"/>
          <p:cNvSpPr/>
          <p:nvPr/>
        </p:nvSpPr>
        <p:spPr>
          <a:xfrm>
            <a:off x="548640" y="5212080"/>
            <a:ext cx="5943600" cy="868680"/>
          </a:xfrm>
          <a:prstGeom prst="roundRect">
            <a:avLst>
              <a:gd name="adj" fmla="val 8421"/>
            </a:avLst>
          </a:prstGeom>
          <a:solidFill>
            <a:schemeClr val="accent1"/>
          </a:solidFill>
          <a:ln w="12700">
            <a:solidFill>
              <a:schemeClr val="accent1"/>
            </a:solidFill>
            <a:prstDash val="solid"/>
          </a:ln>
        </p:spPr>
      </p:sp>
      <p:sp>
        <p:nvSpPr>
          <p:cNvPr id="7" name="Text 4"/>
          <p:cNvSpPr txBox="1"/>
          <p:nvPr/>
        </p:nvSpPr>
        <p:spPr>
          <a:xfrm>
            <a:off x="777240" y="5212080"/>
            <a:ext cx="5486400" cy="868680"/>
          </a:xfrm>
          <a:prstGeom prst="rect">
            <a:avLst/>
          </a:prstGeom>
          <a:noFill/>
          <a:ln/>
        </p:spPr>
        <p:txBody>
          <a:bodyPr wrap="square" lIns="0" tIns="0" rIns="0" bIns="0" rtlCol="0" anchor="ctr"/>
          <a:lstStyle/>
          <a:p>
            <a:pPr indent="0" marL="0">
              <a:buNone/>
            </a:pPr>
            <a:r>
              <a:rPr lang="en-US" sz="1500" b="1" dirty="0">
                <a:solidFill>
                  <a:schemeClr val="bg1"/>
                </a:solidFill>
              </a:rPr>
              <a:t>The aggregation rule changed decisive accuracy significantly only for the first stance prompt, and for the worse.</a:t>
            </a:r>
            <a:endParaRPr lang="en-US" sz="1500" dirty="0"/>
          </a:p>
        </p:txBody>
      </p:sp>
      <p:sp>
        <p:nvSpPr>
          <p:cNvPr id="8" name="Text 5"/>
          <p:cNvSpPr txBox="1"/>
          <p:nvPr/>
        </p:nvSpPr>
        <p:spPr>
          <a:xfrm>
            <a:off x="6766560" y="1417320"/>
            <a:ext cx="4846320" cy="365760"/>
          </a:xfrm>
          <a:prstGeom prst="rect">
            <a:avLst/>
          </a:prstGeom>
          <a:noFill/>
          <a:ln/>
        </p:spPr>
        <p:txBody>
          <a:bodyPr wrap="square" lIns="0" tIns="0" rIns="0" bIns="0" rtlCol="0" anchor="t"/>
          <a:lstStyle/>
          <a:p>
            <a:pPr indent="0" marL="0">
              <a:buNone/>
            </a:pPr>
            <a:r>
              <a:rPr lang="en-US" sz="1600" b="1" dirty="0">
                <a:solidFill>
                  <a:schemeClr val="tx1"/>
                </a:solidFill>
              </a:rPr>
              <a:t>Design comparison with related audits</a:t>
            </a:r>
            <a:endParaRPr lang="en-US" sz="1600" dirty="0"/>
          </a:p>
        </p:txBody>
      </p:sp>
      <p:graphicFrame>
        <p:nvGraphicFramePr>
          <p:cNvPr id="27" name="design comparison table"/>
          <p:cNvGraphicFramePr>
            <a:graphicFrameLocks noGrp="1"/>
          </p:cNvGraphicFramePr>
          <p:nvPr>
            <p:extLst>
              <p:ext uri="{D42A27DB-BD31-4B8C-83A1-F6EECF244321}">
                <p14:modId xmlns:p14="http://schemas.microsoft.com/office/powerpoint/2010/main" val="1579011935"/>
              </p:ext>
            </p:extLst>
          </p:nvPr>
        </p:nvGraphicFramePr>
        <p:xfrm>
          <a:off x="6766560" y="1828800"/>
          <a:ext cx="4846320" cy="914400"/>
        </p:xfrm>
        <a:graphic>
          <a:graphicData uri="http://schemas.openxmlformats.org/drawingml/2006/table">
            <a:tbl>
              <a:tblPr/>
              <a:tblGrid>
                <a:gridCol w="1280160"/>
                <a:gridCol w="1188720"/>
                <a:gridCol w="1143000"/>
                <a:gridCol w="1234440"/>
              </a:tblGrid>
              <a:tr h="566928">
                <a:tc>
                  <a:txBody>
                    <a:bodyPr/>
                    <a:lstStyle/>
                    <a:p>
                      <a:pPr indent="0" marL="0">
                        <a:buNone/>
                      </a:pP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300" b="1" dirty="0">
                          <a:solidFill>
                            <a:schemeClr val="bg1"/>
                          </a:solidFill>
                        </a:rPr>
                        <a:t>SelfCheckGPT</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300" b="1" dirty="0">
                          <a:solidFill>
                            <a:schemeClr val="bg1"/>
                          </a:solidFill>
                        </a:rPr>
                        <a:t>FActScore</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c>
                  <a:txBody>
                    <a:bodyPr/>
                    <a:lstStyle/>
                    <a:p>
                      <a:pPr indent="0" marL="0">
                        <a:buNone/>
                      </a:pPr>
                      <a:r>
                        <a:rPr lang="en-US" sz="1300" b="1" dirty="0">
                          <a:solidFill>
                            <a:schemeClr val="bg1"/>
                          </a:solidFill>
                        </a:rPr>
                        <a:t>This work</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0F1B2D"/>
                    </a:solidFill>
                  </a:tcPr>
                </a:tc>
              </a:tr>
              <a:tr h="566928">
                <a:tc>
                  <a:txBody>
                    <a:bodyPr/>
                    <a:lstStyle/>
                    <a:p>
                      <a:pPr indent="0" marL="0">
                        <a:buNone/>
                      </a:pPr>
                      <a:r>
                        <a:rPr lang="en-US" sz="1300" b="1" dirty="0">
                          <a:solidFill>
                            <a:srgbClr val="000000"/>
                          </a:solidFill>
                        </a:rPr>
                        <a:t>External evidence</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No</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Yes</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Yes</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r>
              <a:tr h="566928">
                <a:tc>
                  <a:txBody>
                    <a:bodyPr/>
                    <a:lstStyle/>
                    <a:p>
                      <a:pPr indent="0" marL="0">
                        <a:buNone/>
                      </a:pPr>
                      <a:r>
                        <a:rPr lang="en-US" sz="1300" b="1" dirty="0">
                          <a:solidFill>
                            <a:srgbClr val="000000"/>
                          </a:solidFill>
                        </a:rPr>
                        <a:t>Unit checked</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Sentence</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Atomic fact</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Claim</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r>
              <a:tr h="566928">
                <a:tc>
                  <a:txBody>
                    <a:bodyPr/>
                    <a:lstStyle/>
                    <a:p>
                      <a:pPr indent="0" marL="0">
                        <a:buNone/>
                      </a:pPr>
                      <a:r>
                        <a:rPr lang="en-US" sz="1300" b="1" dirty="0">
                          <a:solidFill>
                            <a:srgbClr val="000000"/>
                          </a:solidFill>
                        </a:rPr>
                        <a:t>Output</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Consistency score</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Share supported</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indent="0" marL="0">
                        <a:buNone/>
                      </a:pPr>
                      <a:r>
                        <a:rPr lang="en-US" sz="1300" b="1" dirty="0">
                          <a:solidFill>
                            <a:srgbClr val="000000"/>
                          </a:solidFill>
                        </a:rPr>
                        <a:t>Verdict plus quote</a:t>
                      </a:r>
                      <a:endParaRPr lang="en-US" sz="1300" dirty="0"/>
                    </a:p>
                  </a:txBody>
                  <a:tcPr marL="54864" marR="54864"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DDEFEF"/>
                    </a:solidFill>
                  </a:tcPr>
                </a:tc>
              </a:tr>
            </a:tbl>
          </a:graphicData>
        </a:graphic>
      </p:graphicFrame>
      <p:sp>
        <p:nvSpPr>
          <p:cNvPr id="10" name="Text 6"/>
          <p:cNvSpPr txBox="1"/>
          <p:nvPr/>
        </p:nvSpPr>
        <p:spPr>
          <a:xfrm>
            <a:off x="6766560" y="4251960"/>
            <a:ext cx="4846320" cy="640080"/>
          </a:xfrm>
          <a:prstGeom prst="rect">
            <a:avLst/>
          </a:prstGeom>
          <a:noFill/>
          <a:ln/>
        </p:spPr>
        <p:txBody>
          <a:bodyPr wrap="square" lIns="0" tIns="0" rIns="0" bIns="0" rtlCol="0" anchor="t"/>
          <a:lstStyle/>
          <a:p>
            <a:pPr indent="0" marL="0">
              <a:buNone/>
            </a:pPr>
            <a:r>
              <a:rPr lang="en-US" sz="1200" dirty="0">
                <a:solidFill>
                  <a:schemeClr val="accent4"/>
                </a:solidFill>
              </a:rPr>
              <a:t>Not compared numerically: the methods use different data and tasks. We claim a difference in design, not in accuracy.</a:t>
            </a:r>
            <a:endParaRPr lang="en-US" sz="1200" dirty="0"/>
          </a:p>
        </p:txBody>
      </p:sp>
      <p:sp>
        <p:nvSpPr>
          <p:cNvPr id="11" name="earlier work comparison"/>
          <p:cNvSpPr/>
          <p:nvPr/>
        </p:nvSpPr>
        <p:spPr>
          <a:xfrm>
            <a:off x="6766560" y="4937760"/>
            <a:ext cx="4846320" cy="1143000"/>
          </a:xfrm>
          <a:prstGeom prst="roundRect">
            <a:avLst>
              <a:gd name="adj" fmla="val 6400"/>
            </a:avLst>
          </a:prstGeom>
          <a:solidFill>
            <a:schemeClr val="bg2"/>
          </a:solidFill>
          <a:ln w="12700">
            <a:solidFill>
              <a:schemeClr val="bg2"/>
            </a:solidFill>
            <a:prstDash val="solid"/>
          </a:ln>
        </p:spPr>
      </p:sp>
      <p:sp>
        <p:nvSpPr>
          <p:cNvPr id="12" name="Text 8"/>
          <p:cNvSpPr txBox="1"/>
          <p:nvPr/>
        </p:nvSpPr>
        <p:spPr>
          <a:xfrm>
            <a:off x="6949440" y="4983480"/>
            <a:ext cx="4480560" cy="1051560"/>
          </a:xfrm>
          <a:prstGeom prst="rect">
            <a:avLst/>
          </a:prstGeom>
          <a:noFill/>
          <a:ln/>
        </p:spPr>
        <p:txBody>
          <a:bodyPr wrap="square" lIns="0" tIns="0" rIns="0" bIns="0" rtlCol="0" anchor="ctr"/>
          <a:lstStyle/>
          <a:p>
            <a:pPr indent="0" marL="0">
              <a:buNone/>
            </a:pPr>
            <a:r>
              <a:rPr lang="en-US" sz="1400" b="1" dirty="0">
                <a:solidFill>
                  <a:schemeClr val="accent1"/>
                </a:solidFill>
              </a:rPr>
              <a:t>Against our earlier density signal</a:t>
            </a:r>
            <a:endParaRPr lang="en-US" sz="1400" dirty="0"/>
          </a:p>
          <a:p>
            <a:pPr indent="0" marL="0">
              <a:buNone/>
            </a:pPr>
            <a:r>
              <a:rPr lang="en-US" sz="1400" dirty="0">
                <a:solidFill>
                  <a:schemeClr val="tx1"/>
                </a:solidFill>
              </a:rPr>
              <a:t>AUROC 0.546 (FEVER) and 0.275 (AVeriTeC) there; here, verdicts that carry quotes.</a:t>
            </a:r>
            <a:endParaRPr lang="en-US" sz="14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Analysis: what we found, and what we got wrong</a:t>
            </a:r>
            <a:endParaRPr lang="en-US" sz="3000" dirty="0"/>
          </a:p>
        </p:txBody>
      </p:sp>
      <p:sp>
        <p:nvSpPr>
          <p:cNvPr id="3" name="finding card 1"/>
          <p:cNvSpPr/>
          <p:nvPr/>
        </p:nvSpPr>
        <p:spPr>
          <a:xfrm>
            <a:off x="548640" y="1463040"/>
            <a:ext cx="3566160" cy="2606040"/>
          </a:xfrm>
          <a:prstGeom prst="roundRect">
            <a:avLst>
              <a:gd name="adj" fmla="val 2807"/>
            </a:avLst>
          </a:prstGeom>
          <a:solidFill>
            <a:schemeClr val="bg2"/>
          </a:solidFill>
          <a:ln w="12700">
            <a:solidFill>
              <a:schemeClr val="bg2"/>
            </a:solidFill>
            <a:prstDash val="solid"/>
          </a:ln>
        </p:spPr>
      </p:sp>
      <p:sp>
        <p:nvSpPr>
          <p:cNvPr id="4" name="Text 2"/>
          <p:cNvSpPr txBox="1"/>
          <p:nvPr/>
        </p:nvSpPr>
        <p:spPr>
          <a:xfrm>
            <a:off x="777240" y="1554480"/>
            <a:ext cx="3108960" cy="73152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+13.0 pts</a:t>
            </a:r>
            <a:endParaRPr lang="en-US" sz="3400" dirty="0"/>
          </a:p>
        </p:txBody>
      </p:sp>
      <p:sp>
        <p:nvSpPr>
          <p:cNvPr id="5" name="Text 3"/>
          <p:cNvSpPr txBox="1"/>
          <p:nvPr/>
        </p:nvSpPr>
        <p:spPr>
          <a:xfrm>
            <a:off x="777240" y="2286000"/>
            <a:ext cx="3108960" cy="365760"/>
          </a:xfrm>
          <a:prstGeom prst="rect">
            <a:avLst/>
          </a:prstGeom>
          <a:noFill/>
          <a:ln/>
        </p:spPr>
        <p:txBody>
          <a:bodyPr wrap="square" lIns="0" tIns="0" rIns="0" bIns="0" rtlCol="0" anchor="t"/>
          <a:lstStyle/>
          <a:p>
            <a:pPr indent="0" marL="0">
              <a:buNone/>
            </a:pPr>
            <a:r>
              <a:rPr lang="en-US" sz="1700" b="1" dirty="0">
                <a:solidFill>
                  <a:schemeClr val="tx1"/>
                </a:solidFill>
              </a:rPr>
              <a:t>Retrieval source</a:t>
            </a:r>
            <a:endParaRPr lang="en-US" sz="1700" dirty="0"/>
          </a:p>
        </p:txBody>
      </p:sp>
      <p:sp>
        <p:nvSpPr>
          <p:cNvPr id="6" name="Text 4"/>
          <p:cNvSpPr txBox="1"/>
          <p:nvPr/>
        </p:nvSpPr>
        <p:spPr>
          <a:xfrm>
            <a:off x="777240" y="2697480"/>
            <a:ext cx="3108960" cy="1325880"/>
          </a:xfrm>
          <a:prstGeom prst="rect">
            <a:avLst/>
          </a:prstGeom>
          <a:noFill/>
          <a:ln/>
        </p:spPr>
        <p:txBody>
          <a:bodyPr wrap="square" lIns="0" tIns="0" rIns="0" bIns="0" rtlCol="0" anchor="t"/>
          <a:lstStyle/>
          <a:p>
            <a:pPr indent="0" marL="0">
              <a:buNone/>
            </a:pPr>
            <a:r>
              <a:rPr lang="en-US" sz="1600" dirty="0">
                <a:solidFill>
                  <a:schemeClr val="tx1"/>
                </a:solidFill>
              </a:rPr>
              <a:t>Wikipedia over OpenAlex on decisive claims. Suggestive (p = 0.064); FEVER is Wikipedia-derived.</a:t>
            </a:r>
            <a:endParaRPr lang="en-US" sz="1600" dirty="0"/>
          </a:p>
        </p:txBody>
      </p:sp>
      <p:sp>
        <p:nvSpPr>
          <p:cNvPr id="7" name="finding card 2"/>
          <p:cNvSpPr/>
          <p:nvPr/>
        </p:nvSpPr>
        <p:spPr>
          <a:xfrm>
            <a:off x="4297680" y="1463040"/>
            <a:ext cx="3566160" cy="2606040"/>
          </a:xfrm>
          <a:prstGeom prst="roundRect">
            <a:avLst>
              <a:gd name="adj" fmla="val 2807"/>
            </a:avLst>
          </a:prstGeom>
          <a:solidFill>
            <a:schemeClr val="bg2"/>
          </a:solidFill>
          <a:ln w="12700">
            <a:solidFill>
              <a:schemeClr val="bg2"/>
            </a:solidFill>
            <a:prstDash val="solid"/>
          </a:ln>
        </p:spPr>
      </p:sp>
      <p:sp>
        <p:nvSpPr>
          <p:cNvPr id="8" name="Text 6"/>
          <p:cNvSpPr txBox="1"/>
          <p:nvPr/>
        </p:nvSpPr>
        <p:spPr>
          <a:xfrm>
            <a:off x="4526280" y="1554480"/>
            <a:ext cx="3108960" cy="73152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0% recall</a:t>
            </a:r>
            <a:endParaRPr lang="en-US" sz="3400" dirty="0"/>
          </a:p>
        </p:txBody>
      </p:sp>
      <p:sp>
        <p:nvSpPr>
          <p:cNvPr id="9" name="Text 7"/>
          <p:cNvSpPr txBox="1"/>
          <p:nvPr/>
        </p:nvSpPr>
        <p:spPr>
          <a:xfrm>
            <a:off x="4526280" y="2286000"/>
            <a:ext cx="3108960" cy="365760"/>
          </a:xfrm>
          <a:prstGeom prst="rect">
            <a:avLst/>
          </a:prstGeom>
          <a:noFill/>
          <a:ln/>
        </p:spPr>
        <p:txBody>
          <a:bodyPr wrap="square" lIns="0" tIns="0" rIns="0" bIns="0" rtlCol="0" anchor="t"/>
          <a:lstStyle/>
          <a:p>
            <a:pPr indent="0" marL="0">
              <a:buNone/>
            </a:pPr>
            <a:r>
              <a:rPr lang="en-US" sz="1700" b="1" dirty="0">
                <a:solidFill>
                  <a:schemeClr val="tx1"/>
                </a:solidFill>
              </a:rPr>
              <a:t>Pooled score cannot abstain</a:t>
            </a:r>
            <a:endParaRPr lang="en-US" sz="1700" dirty="0"/>
          </a:p>
        </p:txBody>
      </p:sp>
      <p:sp>
        <p:nvSpPr>
          <p:cNvPr id="10" name="Text 8"/>
          <p:cNvSpPr txBox="1"/>
          <p:nvPr/>
        </p:nvSpPr>
        <p:spPr>
          <a:xfrm>
            <a:off x="4526280" y="2697480"/>
            <a:ext cx="3108960" cy="1325880"/>
          </a:xfrm>
          <a:prstGeom prst="rect">
            <a:avLst/>
          </a:prstGeom>
          <a:noFill/>
          <a:ln/>
        </p:spPr>
        <p:txBody>
          <a:bodyPr wrap="square" lIns="0" tIns="0" rIns="0" bIns="0" rtlCol="0" anchor="t"/>
          <a:lstStyle/>
          <a:p>
            <a:pPr indent="0" marL="0">
              <a:buNone/>
            </a:pPr>
            <a:r>
              <a:rPr lang="en-US" sz="1600" dirty="0">
                <a:solidFill>
                  <a:schemeClr val="tx1"/>
                </a:solidFill>
              </a:rPr>
              <a:t>It called 25 of 31 NEI claims refuted. One score cannot split “not mentioned” from “contradicted”.</a:t>
            </a:r>
            <a:endParaRPr lang="en-US" sz="1600" dirty="0"/>
          </a:p>
        </p:txBody>
      </p:sp>
      <p:sp>
        <p:nvSpPr>
          <p:cNvPr id="11" name="finding card 3"/>
          <p:cNvSpPr/>
          <p:nvPr/>
        </p:nvSpPr>
        <p:spPr>
          <a:xfrm>
            <a:off x="8046720" y="1463040"/>
            <a:ext cx="3566160" cy="2606040"/>
          </a:xfrm>
          <a:prstGeom prst="roundRect">
            <a:avLst>
              <a:gd name="adj" fmla="val 2807"/>
            </a:avLst>
          </a:prstGeom>
          <a:solidFill>
            <a:schemeClr val="bg2"/>
          </a:solidFill>
          <a:ln w="12700">
            <a:solidFill>
              <a:schemeClr val="bg2"/>
            </a:solidFill>
            <a:prstDash val="solid"/>
          </a:ln>
        </p:spPr>
      </p:sp>
      <p:sp>
        <p:nvSpPr>
          <p:cNvPr id="12" name="Text 10"/>
          <p:cNvSpPr txBox="1"/>
          <p:nvPr/>
        </p:nvSpPr>
        <p:spPr>
          <a:xfrm>
            <a:off x="8275320" y="1554480"/>
            <a:ext cx="3108960" cy="73152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p = 0.0002</a:t>
            </a:r>
            <a:endParaRPr lang="en-US" sz="3400" dirty="0"/>
          </a:p>
        </p:txBody>
      </p:sp>
      <p:sp>
        <p:nvSpPr>
          <p:cNvPr id="13" name="Text 11"/>
          <p:cNvSpPr txBox="1"/>
          <p:nvPr/>
        </p:nvSpPr>
        <p:spPr>
          <a:xfrm>
            <a:off x="8275320" y="2286000"/>
            <a:ext cx="3108960" cy="365760"/>
          </a:xfrm>
          <a:prstGeom prst="rect">
            <a:avLst/>
          </a:prstGeom>
          <a:noFill/>
          <a:ln/>
        </p:spPr>
        <p:txBody>
          <a:bodyPr wrap="square" lIns="0" tIns="0" rIns="0" bIns="0" rtlCol="0" anchor="t"/>
          <a:lstStyle/>
          <a:p>
            <a:pPr indent="0" marL="0">
              <a:buNone/>
            </a:pPr>
            <a:r>
              <a:rPr lang="en-US" sz="1700" b="1" dirty="0">
                <a:solidFill>
                  <a:schemeClr val="tx1"/>
                </a:solidFill>
              </a:rPr>
              <a:t>First stance prompt</a:t>
            </a:r>
            <a:endParaRPr lang="en-US" sz="1700" dirty="0"/>
          </a:p>
        </p:txBody>
      </p:sp>
      <p:sp>
        <p:nvSpPr>
          <p:cNvPr id="14" name="Text 12"/>
          <p:cNvSpPr txBox="1"/>
          <p:nvPr/>
        </p:nvSpPr>
        <p:spPr>
          <a:xfrm>
            <a:off x="8275320" y="2697480"/>
            <a:ext cx="3108960" cy="1325880"/>
          </a:xfrm>
          <a:prstGeom prst="rect">
            <a:avLst/>
          </a:prstGeom>
          <a:noFill/>
          <a:ln/>
        </p:spPr>
        <p:txBody>
          <a:bodyPr wrap="square" lIns="0" tIns="0" rIns="0" bIns="0" rtlCol="0" anchor="t"/>
          <a:lstStyle/>
          <a:p>
            <a:pPr indent="0" marL="0">
              <a:buNone/>
            </a:pPr>
            <a:r>
              <a:rPr lang="en-US" sz="1600" dirty="0">
                <a:solidFill>
                  <a:schemeClr val="tx1"/>
                </a:solidFill>
              </a:rPr>
              <a:t>Abstains (61.3% NEI recall) but is much worse on decisive claims than the pooled score.</a:t>
            </a:r>
            <a:endParaRPr lang="en-US" sz="1600" dirty="0"/>
          </a:p>
        </p:txBody>
      </p:sp>
      <p:sp>
        <p:nvSpPr>
          <p:cNvPr id="15" name="diagnosis card"/>
          <p:cNvSpPr/>
          <p:nvPr/>
        </p:nvSpPr>
        <p:spPr>
          <a:xfrm>
            <a:off x="548640" y="4297680"/>
            <a:ext cx="11064240" cy="1783080"/>
          </a:xfrm>
          <a:prstGeom prst="roundRect">
            <a:avLst>
              <a:gd name="adj" fmla="val 4103"/>
            </a:avLst>
          </a:prstGeom>
          <a:solidFill>
            <a:schemeClr val="tx1"/>
          </a:solidFill>
          <a:ln w="12700">
            <a:solidFill>
              <a:schemeClr val="tx1"/>
            </a:solidFill>
            <a:prstDash val="solid"/>
          </a:ln>
        </p:spPr>
      </p:sp>
      <p:sp>
        <p:nvSpPr>
          <p:cNvPr id="16" name="Text 14"/>
          <p:cNvSpPr txBox="1"/>
          <p:nvPr/>
        </p:nvSpPr>
        <p:spPr>
          <a:xfrm>
            <a:off x="822960" y="4389120"/>
            <a:ext cx="10515600" cy="1600200"/>
          </a:xfrm>
          <a:prstGeom prst="rect">
            <a:avLst/>
          </a:prstGeom>
          <a:noFill/>
          <a:ln/>
        </p:spPr>
        <p:txBody>
          <a:bodyPr wrap="square" lIns="0" tIns="0" rIns="0" bIns="0" rtlCol="0" anchor="ctr"/>
          <a:lstStyle/>
          <a:p>
            <a:pPr indent="0" marL="0">
              <a:spcAft>
                <a:spcPts val="400"/>
              </a:spcAft>
              <a:buNone/>
            </a:pPr>
            <a:r>
              <a:rPr lang="en-US" sz="1700" b="1" dirty="0">
                <a:solidFill>
                  <a:schemeClr val="accent2"/>
                </a:solidFill>
              </a:rPr>
              <a:t>Failure analysis: 13 of 36 REFUTES claims were called supported</a:t>
            </a:r>
            <a:endParaRPr lang="en-US" sz="1400" dirty="0"/>
          </a:p>
          <a:p>
            <a:pPr marL="342900" indent="-342900">
              <a:buSzPct val="100000"/>
              <a:buChar char="•"/>
            </a:pPr>
            <a:r>
              <a:rPr lang="en-US" sz="1400" dirty="0">
                <a:solidFill>
                  <a:schemeClr val="bg1"/>
                </a:solidFill>
              </a:rPr>
              <a:t>Cause 1: the stance call judged the normalised claim, which had dropped the detail that made it false.</a:t>
            </a:r>
            <a:endParaRPr lang="en-US" sz="1400" dirty="0"/>
          </a:p>
          <a:p>
            <a:pPr marL="342900" indent="-342900">
              <a:buSzPct val="100000"/>
              <a:buChar char="•"/>
            </a:pPr>
            <a:r>
              <a:rPr lang="en-US" sz="1400" dirty="0">
                <a:solidFill>
                  <a:schemeClr val="bg1"/>
                </a:solidFill>
              </a:rPr>
              <a:t>Cause 2: the prompt accepted near misses (1945 for 1946; a TV series for a radio station).</a:t>
            </a:r>
            <a:endParaRPr lang="en-US" sz="1400" dirty="0"/>
          </a:p>
          <a:p>
            <a:pPr marL="342900" indent="-342900">
              <a:buSzPct val="100000"/>
              <a:buChar char="•"/>
            </a:pPr>
            <a:r>
              <a:rPr lang="en-US" sz="1400" b="1" dirty="0">
                <a:solidFill>
                  <a:schemeClr val="bg1"/>
                </a:solidFill>
              </a:rPr>
              <a:t>Both fixed with a regression test. The corrected variant is not yet shown to beat pooled, so the default stays pooled.</a:t>
            </a:r>
            <a:endParaRPr lang="en-US" sz="14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chemeClr val="bg1"/>
                </a:solidFill>
              </a:rPr>
              <a:t>Conclusion, limits and next steps</a:t>
            </a:r>
            <a:endParaRPr lang="en-US" sz="3000" dirty="0"/>
          </a:p>
        </p:txBody>
      </p:sp>
      <p:sp>
        <p:nvSpPr>
          <p:cNvPr id="3" name="Text 1"/>
          <p:cNvSpPr txBox="1"/>
          <p:nvPr/>
        </p:nvSpPr>
        <p:spPr>
          <a:xfrm>
            <a:off x="548640" y="1463040"/>
            <a:ext cx="11064240" cy="822960"/>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Every verdict traces to a quoted sentence, and absence is kept apart from failure.</a:t>
            </a:r>
            <a:endParaRPr lang="en-US" sz="2200" dirty="0"/>
          </a:p>
        </p:txBody>
      </p:sp>
      <p:sp>
        <p:nvSpPr>
          <p:cNvPr id="4" name="Limits card"/>
          <p:cNvSpPr/>
          <p:nvPr/>
        </p:nvSpPr>
        <p:spPr>
          <a:xfrm>
            <a:off x="548640" y="2560320"/>
            <a:ext cx="5440680" cy="3017520"/>
          </a:xfrm>
          <a:prstGeom prst="roundRect">
            <a:avLst>
              <a:gd name="adj" fmla="val 2424"/>
            </a:avLst>
          </a:prstGeom>
          <a:solidFill>
            <a:schemeClr val="tx2"/>
          </a:solidFill>
          <a:ln w="12700">
            <a:solidFill>
              <a:schemeClr val="tx2"/>
            </a:solidFill>
            <a:prstDash val="solid"/>
          </a:ln>
        </p:spPr>
      </p:sp>
      <p:sp>
        <p:nvSpPr>
          <p:cNvPr id="5" name="Limits marker"/>
          <p:cNvSpPr/>
          <p:nvPr/>
        </p:nvSpPr>
        <p:spPr>
          <a:xfrm>
            <a:off x="822960" y="2788920"/>
            <a:ext cx="256032" cy="256032"/>
          </a:xfrm>
          <a:prstGeom prst="ellipse">
            <a:avLst/>
          </a:prstGeom>
          <a:solidFill>
            <a:schemeClr val="accent3"/>
          </a:solidFill>
          <a:ln w="12700">
            <a:solidFill>
              <a:schemeClr val="accent3"/>
            </a:solidFill>
            <a:prstDash val="solid"/>
          </a:ln>
        </p:spPr>
      </p:sp>
      <p:sp>
        <p:nvSpPr>
          <p:cNvPr id="6" name="Text 4"/>
          <p:cNvSpPr txBox="1"/>
          <p:nvPr/>
        </p:nvSpPr>
        <p:spPr>
          <a:xfrm>
            <a:off x="1234440" y="2724912"/>
            <a:ext cx="4114800" cy="384048"/>
          </a:xfrm>
          <a:prstGeom prst="rect">
            <a:avLst/>
          </a:prstGeom>
          <a:noFill/>
          <a:ln/>
        </p:spPr>
        <p:txBody>
          <a:bodyPr wrap="square" lIns="0" tIns="0" rIns="0" bIns="0" rtlCol="0" anchor="ctr"/>
          <a:lstStyle/>
          <a:p>
            <a:pPr indent="0" marL="0">
              <a:buNone/>
            </a:pPr>
            <a:r>
              <a:rPr lang="en-US" sz="2000" b="1" dirty="0">
                <a:solidFill>
                  <a:schemeClr val="bg1"/>
                </a:solidFill>
              </a:rPr>
              <a:t>Limits</a:t>
            </a:r>
            <a:endParaRPr lang="en-US" sz="2000" dirty="0"/>
          </a:p>
        </p:txBody>
      </p:sp>
      <p:sp>
        <p:nvSpPr>
          <p:cNvPr id="7" name="Text 5"/>
          <p:cNvSpPr txBox="1"/>
          <p:nvPr/>
        </p:nvSpPr>
        <p:spPr>
          <a:xfrm>
            <a:off x="822960" y="3291840"/>
            <a:ext cx="4937760" cy="21945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chemeClr val="bg1"/>
                </a:solidFill>
              </a:rPr>
              <a:t>100 claims: intervals about ±10 points</a:t>
            </a:r>
            <a:endParaRPr lang="en-US" sz="1600" dirty="0"/>
          </a:p>
          <a:p>
            <a:pPr marL="342900" indent="-342900">
              <a:spcAft>
                <a:spcPts val="700"/>
              </a:spcAft>
              <a:buSzPct val="100000"/>
              <a:buChar char="•"/>
            </a:pPr>
            <a:r>
              <a:rPr lang="en-US" sz="1600" dirty="0">
                <a:solidFill>
                  <a:schemeClr val="bg1"/>
                </a:solidFill>
              </a:rPr>
              <a:t>FEVER is Wikipedia-derived: compare variants, not absolutes</a:t>
            </a:r>
            <a:endParaRPr lang="en-US" sz="1600" dirty="0"/>
          </a:p>
          <a:p>
            <a:pPr marL="342900" indent="-342900">
              <a:spcAft>
                <a:spcPts val="700"/>
              </a:spcAft>
              <a:buSzPct val="100000"/>
              <a:buChar char="•"/>
            </a:pPr>
            <a:r>
              <a:rPr lang="en-US" sz="1600" dirty="0">
                <a:solidFill>
                  <a:schemeClr val="bg1"/>
                </a:solidFill>
              </a:rPr>
              <a:t>Corrected stance prompt not yet evaluated</a:t>
            </a:r>
            <a:endParaRPr lang="en-US" sz="1600" dirty="0"/>
          </a:p>
          <a:p>
            <a:pPr marL="342900" indent="-342900">
              <a:spcAft>
                <a:spcPts val="700"/>
              </a:spcAft>
              <a:buSzPct val="100000"/>
              <a:buChar char="•"/>
            </a:pPr>
            <a:r>
              <a:rPr lang="en-US" sz="1600" dirty="0">
                <a:solidFill>
                  <a:schemeClr val="bg1"/>
                </a:solidFill>
              </a:rPr>
              <a:t>Cross-model audit specified, not run (API credit)</a:t>
            </a:r>
            <a:endParaRPr lang="en-US" sz="1600" dirty="0"/>
          </a:p>
        </p:txBody>
      </p:sp>
      <p:sp>
        <p:nvSpPr>
          <p:cNvPr id="8" name="Next steps card"/>
          <p:cNvSpPr/>
          <p:nvPr/>
        </p:nvSpPr>
        <p:spPr>
          <a:xfrm>
            <a:off x="6172200" y="2560320"/>
            <a:ext cx="5440680" cy="3017520"/>
          </a:xfrm>
          <a:prstGeom prst="roundRect">
            <a:avLst>
              <a:gd name="adj" fmla="val 2424"/>
            </a:avLst>
          </a:prstGeom>
          <a:solidFill>
            <a:schemeClr val="tx2"/>
          </a:solidFill>
          <a:ln w="12700">
            <a:solidFill>
              <a:schemeClr val="tx2"/>
            </a:solidFill>
            <a:prstDash val="solid"/>
          </a:ln>
        </p:spPr>
      </p:sp>
      <p:sp>
        <p:nvSpPr>
          <p:cNvPr id="9" name="Next steps marker"/>
          <p:cNvSpPr/>
          <p:nvPr/>
        </p:nvSpPr>
        <p:spPr>
          <a:xfrm>
            <a:off x="6446520" y="2788920"/>
            <a:ext cx="256032" cy="256032"/>
          </a:xfrm>
          <a:prstGeom prst="ellipse">
            <a:avLst/>
          </a:prstGeom>
          <a:solidFill>
            <a:schemeClr val="accent1"/>
          </a:solidFill>
          <a:ln w="12700">
            <a:solidFill>
              <a:schemeClr val="accent1"/>
            </a:solidFill>
            <a:prstDash val="solid"/>
          </a:ln>
        </p:spPr>
      </p:sp>
      <p:sp>
        <p:nvSpPr>
          <p:cNvPr id="10" name="Text 8"/>
          <p:cNvSpPr txBox="1"/>
          <p:nvPr/>
        </p:nvSpPr>
        <p:spPr>
          <a:xfrm>
            <a:off x="6858000" y="2724912"/>
            <a:ext cx="4114800" cy="384048"/>
          </a:xfrm>
          <a:prstGeom prst="rect">
            <a:avLst/>
          </a:prstGeom>
          <a:noFill/>
          <a:ln/>
        </p:spPr>
        <p:txBody>
          <a:bodyPr wrap="square" lIns="0" tIns="0" rIns="0" bIns="0" rtlCol="0" anchor="ctr"/>
          <a:lstStyle/>
          <a:p>
            <a:pPr indent="0" marL="0">
              <a:buNone/>
            </a:pPr>
            <a:r>
              <a:rPr lang="en-US" sz="2000" b="1" dirty="0">
                <a:solidFill>
                  <a:schemeClr val="bg1"/>
                </a:solidFill>
              </a:rPr>
              <a:t>Next steps</a:t>
            </a:r>
            <a:endParaRPr lang="en-US" sz="2000" dirty="0"/>
          </a:p>
        </p:txBody>
      </p:sp>
      <p:sp>
        <p:nvSpPr>
          <p:cNvPr id="11" name="Text 9"/>
          <p:cNvSpPr txBox="1"/>
          <p:nvPr/>
        </p:nvSpPr>
        <p:spPr>
          <a:xfrm>
            <a:off x="6446520" y="3291840"/>
            <a:ext cx="4937760" cy="21945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chemeClr val="bg1"/>
                </a:solidFill>
              </a:rPr>
              <a:t>Evaluate the corrected prompt on a 150-claim fresh sample</a:t>
            </a:r>
            <a:endParaRPr lang="en-US" sz="1600" dirty="0"/>
          </a:p>
          <a:p>
            <a:pPr marL="342900" indent="-342900">
              <a:spcAft>
                <a:spcPts val="700"/>
              </a:spcAft>
              <a:buSzPct val="100000"/>
              <a:buChar char="•"/>
            </a:pPr>
            <a:r>
              <a:rPr lang="en-US" sz="1600" dirty="0">
                <a:solidFill>
                  <a:schemeClr val="bg1"/>
                </a:solidFill>
              </a:rPr>
              <a:t>Run the 40-prompt audit on seven commercial models (about US$1.6)</a:t>
            </a:r>
            <a:endParaRPr lang="en-US" sz="1600" dirty="0"/>
          </a:p>
          <a:p>
            <a:pPr marL="342900" indent="-342900">
              <a:spcAft>
                <a:spcPts val="700"/>
              </a:spcAft>
              <a:buSzPct val="100000"/>
              <a:buChar char="•"/>
            </a:pPr>
            <a:r>
              <a:rPr lang="en-US" sz="1600" dirty="0">
                <a:solidFill>
                  <a:schemeClr val="bg1"/>
                </a:solidFill>
              </a:rPr>
              <a:t>Compare verdicts with human judgements</a:t>
            </a:r>
            <a:endParaRPr lang="en-US" sz="1600" dirty="0"/>
          </a:p>
          <a:p>
            <a:pPr marL="342900" indent="-342900">
              <a:spcAft>
                <a:spcPts val="700"/>
              </a:spcAft>
              <a:buSzPct val="100000"/>
              <a:buChar char="•"/>
            </a:pPr>
            <a:r>
              <a:rPr lang="en-US" sz="1600" dirty="0">
                <a:solidFill>
                  <a:schemeClr val="bg1"/>
                </a:solidFill>
              </a:rPr>
              <a:t>Fit the conformal calibration interface (not fitted today)</a:t>
            </a:r>
            <a:endParaRPr lang="en-US" sz="1600" dirty="0"/>
          </a:p>
        </p:txBody>
      </p:sp>
      <p:sp>
        <p:nvSpPr>
          <p:cNvPr id="12" name="Text 10"/>
          <p:cNvSpPr txBox="1"/>
          <p:nvPr/>
        </p:nvSpPr>
        <p:spPr>
          <a:xfrm>
            <a:off x="548640" y="5760720"/>
            <a:ext cx="11064240" cy="548640"/>
          </a:xfrm>
          <a:prstGeom prst="rect">
            <a:avLst/>
          </a:prstGeom>
          <a:noFill/>
          <a:ln/>
        </p:spPr>
        <p:txBody>
          <a:bodyPr wrap="square" lIns="0" tIns="0" rIns="0" bIns="0" rtlCol="0" anchor="ctr"/>
          <a:lstStyle/>
          <a:p>
            <a:pPr indent="0" marL="0">
              <a:buNone/>
            </a:pPr>
            <a:r>
              <a:rPr lang="en-US" sz="2200" b="1" dirty="0">
                <a:solidFill>
                  <a:schemeClr val="bg1"/>
                </a:solidFill>
              </a:rPr>
              <a:t>Thank you. Questions?</a:t>
            </a:r>
            <a:endParaRPr lang="en-US" sz="22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Synthetic Silence">
  <a:themeElements>
    <a:clrScheme name="Synthetic Silence">
      <a:dk1>
        <a:srgbClr val="0F1B2D"/>
      </a:dk1>
      <a:lt1>
        <a:srgbClr val="FFFFFF"/>
      </a:lt1>
      <a:dk2>
        <a:srgbClr val="1B2B45"/>
      </a:dk2>
      <a:lt2>
        <a:srgbClr val="EEF3F7"/>
      </a:lt2>
      <a:accent1>
        <a:srgbClr val="0E8F8A"/>
      </a:accent1>
      <a:accent2>
        <a:srgbClr val="D98E04"/>
      </a:accent2>
      <a:accent3>
        <a:srgbClr val="C0392B"/>
      </a:accent3>
      <a:accent4>
        <a:srgbClr val="5B6B80"/>
      </a:accent4>
      <a:accent5>
        <a:srgbClr val="3C7DD9"/>
      </a:accent5>
      <a:accent6>
        <a:srgbClr val="7A5CB5"/>
      </a:accent6>
      <a:hlink>
        <a:srgbClr val="0E8F8A"/>
      </a:hlink>
      <a:folHlink>
        <a:srgbClr val="5B6B80"/>
      </a:folHlink>
    </a:clrScheme>
    <a:fontScheme name="Synthetic Sil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Department of Computer Science, Christ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Synthetic Silence 2.0: Research Implementation Review 1</dc:title>
  <dc:subject>PptxGenJS Presentation</dc:subject>
  <dc:creator>Piush Kole, Thrilok M</dc:creator>
  <cp:lastModifiedBy>Piush Kole, Thrilok M</cp:lastModifiedBy>
  <cp:revision>1</cp:revision>
  <dcterms:created xsi:type="dcterms:W3CDTF">2026-10-27T17:36:31Z</dcterms:created>
  <dcterms:modified xsi:type="dcterms:W3CDTF">2026-10-27T17:36:31Z</dcterms:modified>
</cp:coreProperties>
</file>