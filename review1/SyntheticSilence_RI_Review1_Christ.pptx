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4"/>
  </p:sldMasterIdLst>
  <p:notesMasterIdLst>
    <p:notesMasterId r:id="rId5"/>
  </p:notesMasterIdLst>
  <p:sldIdLst>
    <p:sldId id="256" r:id="rId16"/>
    <p:sldId id="257" r:id="rId15"/>
    <p:sldId id="258" r:id="rId14"/>
    <p:sldId id="259" r:id="rId13"/>
    <p:sldId id="260" r:id="rId12"/>
    <p:sldId id="261" r:id="rId11"/>
    <p:sldId id="262" r:id="rId10"/>
    <p:sldId id="263" r:id="rId9"/>
    <p:sldId id="264" r:id="rId8"/>
    <p:sldId id="265" r:id="rId7"/>
    <p:sldId id="266" r:id="rId6"/>
    <p:sldId id="267" r:id="rId34"/>
    <p:sldId id="268" r:id="rId35"/>
    <p:sldId id="269" r:id="rId36"/>
    <p:sldId id="270" r:id="rId37"/>
    <p:sldId id="271" r:id="rId38"/>
    <p:sldId id="272" r:id="rId39"/>
  </p:sldIdLst>
  <p:sldSz cy="6858000" cx="12192000"/>
  <p:notesSz cx="6858000" cy="9144000"/>
  <p:embeddedFontLst>
    <p:embeddedFont>
      <p:font typeface="Archivo Narrow"/>
      <p:regular r:id="rId17"/>
      <p:bold r:id="rId18"/>
      <p:italic r:id="rId19"/>
      <p:boldItalic r:id="rId20"/>
    </p:embeddedFont>
    <p:embeddedFont>
      <p:font typeface="Yellowtail"/>
      <p:regular r:id="rId21"/>
    </p:embeddedFont>
    <p:embeddedFont>
      <p:font typeface="Urbanist"/>
      <p:regular r:id="rId22"/>
      <p:bold r:id="rId23"/>
      <p:italic r:id="rId24"/>
      <p:boldItalic r:id="rId25"/>
    </p:embeddedFont>
    <p:embeddedFont>
      <p:font typeface="Archivo Narrow Medium"/>
      <p:regular r:id="rId26"/>
      <p:bold r:id="rId27"/>
      <p:italic r:id="rId28"/>
      <p:boldItalic r:id="rId29"/>
    </p:embeddedFont>
    <p:embeddedFont>
      <p:font typeface="IBM Plex Sans Condensed"/>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7450A8-7816-4568-9575-8C4FB02F0241}">
  <a:tblStyle styleId="{367450A8-7816-4568-9575-8C4FB02F0241}"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rgbClr val="FFFFFF"/>
      </a:tcTxStyle>
      <a:tcStyle>
        <a:fill>
          <a:solidFill>
            <a:srgbClr val="4F81BD"/>
          </a:solidFill>
        </a:fill>
      </a:tcStyle>
    </a:lastCol>
    <a:firstCol>
      <a:tcTxStyle b="on" i="off">
        <a:font>
          <a:latin typeface="Calibri"/>
          <a:ea typeface="Calibri"/>
          <a:cs typeface="Calibri"/>
        </a:font>
        <a:srgbClr val="FFFFFF"/>
      </a:tcTxStyle>
      <a:tcStyle>
        <a:fill>
          <a:solidFill>
            <a:srgbClr val="4F81BD"/>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F81BD"/>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F81BD"/>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1.xml"/><Relationship Id="rId7" Type="http://schemas.openxmlformats.org/officeDocument/2006/relationships/slide" Target="slides/slide10.xml"/><Relationship Id="rId8" Type="http://schemas.openxmlformats.org/officeDocument/2006/relationships/slide" Target="slides/slide9.xml"/><Relationship Id="rId9" Type="http://schemas.openxmlformats.org/officeDocument/2006/relationships/slide" Target="slides/slide8.xml"/><Relationship Id="rId10" Type="http://schemas.openxmlformats.org/officeDocument/2006/relationships/slide" Target="slides/slide7.xml"/><Relationship Id="rId11" Type="http://schemas.openxmlformats.org/officeDocument/2006/relationships/slide" Target="slides/slide6.xml"/><Relationship Id="rId12" Type="http://schemas.openxmlformats.org/officeDocument/2006/relationships/slide" Target="slides/slide5.xml"/><Relationship Id="rId13" Type="http://schemas.openxmlformats.org/officeDocument/2006/relationships/slide" Target="slides/slide4.xml"/><Relationship Id="rId14" Type="http://schemas.openxmlformats.org/officeDocument/2006/relationships/slide" Target="slides/slide3.xml"/><Relationship Id="rId15" Type="http://schemas.openxmlformats.org/officeDocument/2006/relationships/slide" Target="slides/slide2.xml"/><Relationship Id="rId16" Type="http://schemas.openxmlformats.org/officeDocument/2006/relationships/slide" Target="slides/slide1.xml"/><Relationship Id="rId17" Type="http://schemas.openxmlformats.org/officeDocument/2006/relationships/font" Target="fonts/ArchivoNarrow-regular.fntdata"/><Relationship Id="rId18" Type="http://schemas.openxmlformats.org/officeDocument/2006/relationships/font" Target="fonts/ArchivoNarrow-bold.fntdata"/><Relationship Id="rId19" Type="http://schemas.openxmlformats.org/officeDocument/2006/relationships/font" Target="fonts/ArchivoNarrow-italic.fntdata"/><Relationship Id="rId20" Type="http://schemas.openxmlformats.org/officeDocument/2006/relationships/font" Target="fonts/ArchivoNarrow-boldItalic.fntdata"/><Relationship Id="rId21" Type="http://schemas.openxmlformats.org/officeDocument/2006/relationships/font" Target="fonts/Yellowtail-regular.fntdata"/><Relationship Id="rId22" Type="http://schemas.openxmlformats.org/officeDocument/2006/relationships/font" Target="fonts/Urbanist-regular.fntdata"/><Relationship Id="rId23" Type="http://schemas.openxmlformats.org/officeDocument/2006/relationships/font" Target="fonts/Urbanist-bold.fntdata"/><Relationship Id="rId24" Type="http://schemas.openxmlformats.org/officeDocument/2006/relationships/font" Target="fonts/Urbanist-italic.fntdata"/><Relationship Id="rId25" Type="http://schemas.openxmlformats.org/officeDocument/2006/relationships/font" Target="fonts/Urbanist-boldItalic.fntdata"/><Relationship Id="rId26" Type="http://schemas.openxmlformats.org/officeDocument/2006/relationships/font" Target="fonts/ArchivoNarrowMedium-regular.fntdata"/><Relationship Id="rId27" Type="http://schemas.openxmlformats.org/officeDocument/2006/relationships/font" Target="fonts/ArchivoNarrowMedium-bold.fntdata"/><Relationship Id="rId28" Type="http://schemas.openxmlformats.org/officeDocument/2006/relationships/font" Target="fonts/ArchivoNarrowMedium-italic.fntdata"/><Relationship Id="rId29" Type="http://schemas.openxmlformats.org/officeDocument/2006/relationships/font" Target="fonts/ArchivoNarrowMedium-boldItalic.fntdata"/><Relationship Id="rId30" Type="http://schemas.openxmlformats.org/officeDocument/2006/relationships/font" Target="fonts/IBMPlexSansCondensed-regular.fntdata"/><Relationship Id="rId31" Type="http://schemas.openxmlformats.org/officeDocument/2006/relationships/font" Target="fonts/IBMPlexSansCondensed-bold.fntdata"/><Relationship Id="rId32" Type="http://schemas.openxmlformats.org/officeDocument/2006/relationships/font" Target="fonts/IBMPlexSansCondensed-italic.fntdata"/><Relationship Id="rId33" Type="http://schemas.openxmlformats.org/officeDocument/2006/relationships/font" Target="fonts/IBMPlexSansCondensed-boldItalic.fntdata"/><Relationship Id="rId34" Type="http://schemas.openxmlformats.org/officeDocument/2006/relationships/slide" Target="slides/slide12.xml"/><Relationship Id="rId35" Type="http://schemas.openxmlformats.org/officeDocument/2006/relationships/slide" Target="slides/slide13.xml"/><Relationship Id="rId36" Type="http://schemas.openxmlformats.org/officeDocument/2006/relationships/slide" Target="slides/slide14.xml"/><Relationship Id="rId37" Type="http://schemas.openxmlformats.org/officeDocument/2006/relationships/slide" Target="slides/slide15.xml"/><Relationship Id="rId38" Type="http://schemas.openxmlformats.org/officeDocument/2006/relationships/slide" Target="slides/slide16.xml"/><Relationship Id="rId39"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C5394"/>
                </a:solidFill>
                <a:latin typeface="Urbanist"/>
              </a:rPr>
              <a:t>AUROC of the density signal for evidence insufficiency</a:t>
            </a:r>
          </a:p>
        </c:rich>
      </c:tx>
      <c:layout/>
      <c:overlay val="0"/>
    </c:title>
    <c:autoTitleDeleted val="0"/>
    <c:plotArea>
      <c:barChart>
        <c:barDir val="col"/>
        <c:grouping val="clustered"/>
        <c:varyColors val="0"/>
        <c:ser>
          <c:idx val="0"/>
          <c:order val="0"/>
          <c:tx>
            <c:strRef>
              <c:f>Sheet1!$B$1</c:f>
              <c:strCache>
                <c:ptCount val="1"/>
                <c:pt idx="0">
                  <c:v>AUROC</c:v>
                </c:pt>
              </c:strCache>
            </c:strRef>
          </c:tx>
          <c:dPt>
            <c:idx val="0"/>
            <c:spPr>
              <a:solidFill>
                <a:srgbClr val="0C5394"/>
              </a:solidFill>
            </c:spPr>
          </c:dPt>
          <c:dPt>
            <c:idx val="1"/>
            <c:spPr>
              <a:solidFill>
                <a:srgbClr val="C0392B"/>
              </a:solidFill>
            </c:spPr>
          </c:dPt>
          <c:dPt>
            <c:idx val="2"/>
            <c:spPr>
              <a:solidFill>
                <a:srgbClr val="C0392B"/>
              </a:solidFill>
            </c:spPr>
          </c:dPt>
          <c:dPt>
            <c:idx val="3"/>
            <c:spPr>
              <a:solidFill>
                <a:srgbClr val="C0392B"/>
              </a:solidFill>
            </c:spPr>
          </c:dPt>
          <c:dPt>
            <c:idx val="4"/>
            <c:spPr>
              <a:solidFill>
                <a:srgbClr val="64748B"/>
              </a:solidFill>
            </c:spPr>
          </c:dPt>
          <c:cat>
            <c:strRef>
              <c:f>Sheet1!$A$2:$A$6</c:f>
              <c:strCache>
                <c:ptCount val="5"/>
                <c:pt idx="0">
                  <c:v>FEVER (E0)</c:v>
                </c:pt>
                <c:pt idx="1">
                  <c:v>AVeriTeC overall</c:v>
                </c:pt>
                <c:pt idx="2">
                  <c:v>AVeriTeC insufficiency</c:v>
                </c:pt>
                <c:pt idx="3">
                  <c:v>Matched controls (F2)</c:v>
                </c:pt>
                <c:pt idx="4">
                  <c:v>Chance level</c:v>
                </c:pt>
              </c:strCache>
            </c:strRef>
          </c:cat>
          <c:val>
            <c:numRef>
              <c:f>Sheet1!$B$2:$B$6</c:f>
              <c:numCache>
                <c:formatCode>General</c:formatCode>
                <c:ptCount val="5"/>
                <c:pt idx="0">
                  <c:v>0.546</c:v>
                </c:pt>
                <c:pt idx="1">
                  <c:v>0.355</c:v>
                </c:pt>
                <c:pt idx="2">
                  <c:v>0.275</c:v>
                </c:pt>
                <c:pt idx="3">
                  <c:v>0.335</c:v>
                </c:pt>
                <c:pt idx="4">
                  <c:v>0.5</c:v>
                </c:pt>
              </c:numCache>
            </c:numRef>
          </c:val>
        </c:ser>
        <c:dLbls>
          <c:numFmt formatCode="0.000" sourceLinked="0"/>
          <c:txPr>
            <a:bodyPr/>
            <a:lstStyle/>
            <a:p>
              <a:pPr>
                <a:defRPr sz="1300" b="1">
                  <a:latin typeface="Urbanist"/>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D5DEE8"/>
            </a:solidFill>
          </a:ln>
        </c:spPr>
        <c:txPr>
          <a:bodyPr/>
          <a:lstStyle/>
          <a:p>
            <a:pPr>
              <a:defRPr sz="1200"/>
            </a:pPr>
          </a:p>
        </c:txPr>
        <c:crossAx val="-2113994440"/>
        <c:crosses val="autoZero"/>
        <c:auto val="1"/>
        <c:lblAlgn val="ctr"/>
        <c:lblOffset val="100"/>
        <c:noMultiLvlLbl val="0"/>
      </c:catAx>
      <c:valAx>
        <c:axId val="-2113994440"/>
        <c:scaling>
          <c:max val="1.0"/>
          <c:min val="0.0"/>
        </c:scaling>
        <c:delete val="0"/>
        <c:axPos val="l"/>
        <c:majorGridlines>
          <c:spPr>
            <a:ln>
              <a:solidFill>
                <a:srgbClr val="D5DEE8"/>
              </a:solidFill>
            </a:ln>
          </c:spPr>
        </c:majorGridlines>
        <c:numFmt formatCode="0.00" sourceLinked="0"/>
        <c:majorTickMark val="out"/>
        <c:minorTickMark val="none"/>
        <c:tickLblPos val="nextTo"/>
        <c:spPr>
          <a:ln>
            <a:noFill/>
          </a:ln>
        </c:spPr>
        <c:txPr>
          <a:bodyPr/>
          <a:lstStyle/>
          <a:p>
            <a:pPr>
              <a:defRPr sz="1200">
                <a:solidFill>
                  <a:srgbClr val="5B6B80"/>
                </a:solidFill>
              </a:defRPr>
            </a:pPr>
          </a:p>
        </c:txPr>
        <c:crossAx val="-2068027336"/>
        <c:crosses val="autoZero"/>
        <c:majorUnit val="0.25"/>
      </c:valAx>
    </c:plotArea>
    <c:dispBlanksAs val="gap"/>
  </c:chart>
  <c:txPr>
    <a:bodyPr/>
    <a:lstStyle/>
    <a:p>
      <a:pPr>
        <a:defRPr sz="1200">
          <a:solidFill>
            <a:srgbClr val="1A2332"/>
          </a:solidFill>
          <a:latin typeface="Urbanis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C5394"/>
                </a:solidFill>
                <a:latin typeface="Urbanist"/>
              </a:rPr>
              <a:t>Accuracy (%) on 100 FEVER claims</a:t>
            </a:r>
          </a:p>
        </c:rich>
      </c:tx>
      <c:layout/>
      <c:overlay val="0"/>
    </c:title>
    <c:autoTitleDeleted val="0"/>
    <c:plotArea>
      <c:barChart>
        <c:barDir val="col"/>
        <c:grouping val="clustered"/>
        <c:ser>
          <c:idx val="0"/>
          <c:order val="0"/>
          <c:tx>
            <c:strRef>
              <c:f>Sheet1!$B$1</c:f>
              <c:strCache>
                <c:ptCount val="1"/>
                <c:pt idx="0">
                  <c:v>Overall accuracy</c:v>
                </c:pt>
              </c:strCache>
            </c:strRef>
          </c:tx>
          <c:spPr>
            <a:solidFill>
              <a:srgbClr val="64748B"/>
            </a:solidFill>
          </c:spPr>
          <c:cat>
            <c:strRef>
              <c:f>Sheet1!$A$2:$A$4</c:f>
              <c:strCache>
                <c:ptCount val="3"/>
                <c:pt idx="0">
                  <c:v>Pooled + OpenAlex</c:v>
                </c:pt>
                <c:pt idx="1">
                  <c:v>Pooled + Wikipedia</c:v>
                </c:pt>
                <c:pt idx="2">
                  <c:v>Stance + Wikipedia</c:v>
                </c:pt>
              </c:strCache>
            </c:strRef>
          </c:cat>
          <c:val>
            <c:numRef>
              <c:f>Sheet1!$B$2:$B$4</c:f>
              <c:numCache>
                <c:formatCode>General</c:formatCode>
                <c:ptCount val="3"/>
                <c:pt idx="0">
                  <c:v>51.0</c:v>
                </c:pt>
                <c:pt idx="1">
                  <c:v>55.0</c:v>
                </c:pt>
                <c:pt idx="2">
                  <c:v>53.0</c:v>
                </c:pt>
              </c:numCache>
            </c:numRef>
          </c:val>
        </c:ser>
        <c:ser>
          <c:idx val="1"/>
          <c:order val="1"/>
          <c:tx>
            <c:strRef>
              <c:f>Sheet1!$C$1</c:f>
              <c:strCache>
                <c:ptCount val="1"/>
                <c:pt idx="0">
                  <c:v>SUPPORTS/REFUTES accuracy</c:v>
                </c:pt>
              </c:strCache>
            </c:strRef>
          </c:tx>
          <c:spPr>
            <a:solidFill>
              <a:srgbClr val="0C5394"/>
            </a:solidFill>
          </c:spPr>
          <c:cat>
            <c:strRef>
              <c:f>Sheet1!$A$2:$A$4</c:f>
              <c:strCache>
                <c:ptCount val="3"/>
                <c:pt idx="0">
                  <c:v>Pooled + OpenAlex</c:v>
                </c:pt>
                <c:pt idx="1">
                  <c:v>Pooled + Wikipedia</c:v>
                </c:pt>
                <c:pt idx="2">
                  <c:v>Stance + Wikipedia</c:v>
                </c:pt>
              </c:strCache>
            </c:strRef>
          </c:cat>
          <c:val>
            <c:numRef>
              <c:f>Sheet1!$C$2:$C$4</c:f>
              <c:numCache>
                <c:formatCode>General</c:formatCode>
                <c:ptCount val="3"/>
                <c:pt idx="0">
                  <c:v>66.7</c:v>
                </c:pt>
                <c:pt idx="1">
                  <c:v>79.7</c:v>
                </c:pt>
                <c:pt idx="2">
                  <c:v>49.3</c:v>
                </c:pt>
              </c:numCache>
            </c:numRef>
          </c:val>
        </c:ser>
        <c:dLbls>
          <c:numFmt formatCode="0.0" sourceLinked="0"/>
          <c:txPr>
            <a:bodyPr/>
            <a:lstStyle/>
            <a:p>
              <a:pPr>
                <a:defRPr sz="1200" b="1">
                  <a:latin typeface="Urbanist"/>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D5DEE8"/>
            </a:solidFill>
          </a:ln>
        </c:spPr>
        <c:txPr>
          <a:bodyPr/>
          <a:lstStyle/>
          <a:p>
            <a:pPr>
              <a:defRPr sz="1100"/>
            </a:pPr>
          </a:p>
        </c:txPr>
        <c:crossAx val="-2113994440"/>
        <c:crosses val="autoZero"/>
        <c:auto val="1"/>
        <c:lblAlgn val="ctr"/>
        <c:lblOffset val="100"/>
        <c:noMultiLvlLbl val="0"/>
      </c:catAx>
      <c:valAx>
        <c:axId val="-2113994440"/>
        <c:scaling>
          <c:max val="100.0"/>
          <c:min val="0.0"/>
        </c:scaling>
        <c:delete val="0"/>
        <c:axPos val="l"/>
        <c:majorGridlines>
          <c:spPr>
            <a:ln>
              <a:solidFill>
                <a:srgbClr val="D5DEE8"/>
              </a:solidFill>
            </a:ln>
          </c:spPr>
        </c:majorGridlines>
        <c:numFmt formatCode="0" sourceLinked="0"/>
        <c:majorTickMark val="out"/>
        <c:minorTickMark val="none"/>
        <c:tickLblPos val="nextTo"/>
        <c:spPr>
          <a:ln>
            <a:noFill/>
          </a:ln>
        </c:spPr>
        <c:txPr>
          <a:bodyPr/>
          <a:lstStyle/>
          <a:p>
            <a:pPr>
              <a:defRPr sz="1100">
                <a:solidFill>
                  <a:srgbClr val="5B6B80"/>
                </a:solidFill>
              </a:defRPr>
            </a:pPr>
          </a:p>
        </c:txPr>
        <c:crossAx val="-2068027336"/>
        <c:crosses val="autoZero"/>
        <c:majorUnit val="25.0"/>
      </c:valAx>
    </c:plotArea>
    <c:legend>
      <c:legendPos val="b"/>
      <c:overlay val="0"/>
      <c:txPr>
        <a:bodyPr/>
        <a:lstStyle/>
        <a:p>
          <a:pPr>
            <a:defRPr sz="1100">
              <a:latin typeface="Urbanist"/>
            </a:defRPr>
          </a:pPr>
        </a:p>
      </c:txPr>
    </c:legend>
    <c:dispBlanksAs val="gap"/>
  </c:chart>
  <c:txPr>
    <a:bodyPr/>
    <a:lstStyle/>
    <a:p>
      <a:pPr>
        <a:defRPr sz="1100">
          <a:solidFill>
            <a:srgbClr val="1A2332"/>
          </a:solidFill>
          <a:latin typeface="Urbanis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About 30 seconds. Introduce the team and the one-line idea: we turn an LLM answer into per-claim verdicts, and every true or false verdict points to a quoted sentence in a source. Today: problem, literature, method, statistics, implementation, results, comparison.</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About 1 minute. Three points. One: fluent specifics look true. Two: the reader has no marker. Three: when a checker fails silently, silence looks like 'no problem found'. Our problem statement is the dark box: per-claim verdict, traceable to a quote, with failure kept separate from absence.</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About 1 minute. Five objectives map to the five contributions in the paper. The three research questions on the right are answered later by the FEVER validation and by the propositions: RQ1 and RQ2 empirically, RQ3 by proof plus the earlier study.</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About 1.5 minutes. Walk down the table. The survey gives the pipeline. FEVER and AVeriTeC give labelled data. SelfCheckGPT and FActScore are the closest work on LLM factuality: one uses no evidence, the other returns a score. None returns a verdict with a quote the reader can find. The last row is our own earlier study, which motivates the change of approach on the next slide. LLM-as-judge bias (Zheng et al., 2023) is why we hold the checker fixed.</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About 1 minute. This is the research gap, from our own earlier work. The density signal had AUROC 0.546 on FEVER, which is weak, then 0.275 on AVeriTeC, which is inverted, and 0.335 even with matched controls. Cross-manifold tests collapsed to chance. So a density score is not a safe basis for telling a reader whether a claim is supported. We keep it in research mode and build the verdict from source stance.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About 1.5 minutes. Walk left to right. Extraction keeps names, numbers and dates as written. Two retrievers run together. Ranking uses sentence-embedding cosine similarity and keeps six. The stance call returns one stance, a confidence and a quote per source; a stance without a verbatim quote is downgraded to neutral. Then five deterministic rules. The dashed box is the earlier research signal, shown only in research mode. The red box is the failure rule: outage is an error, not silence.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About 1 minute. Counted sets P and N need confidence at least 0.5 and a verified quote. Q says when a side qualifies: two counted sources, or one with confidence 0.8. The five rules are tried in order. The figure shows the regions. The practical point: a single weak source can never produce 'supported'.</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About 1 minute. Eight tools, two groups. The top row is the modelling side: cosine ranking, kNN plus Mahalanobis density with Ledoit-Wolf shrinkage, and softmax entropy. The bottom row is the evaluation side: confusion matrix with macro-F1, Wilson intervals, exact McNemar test on paired claims, and a paired bootstrap, with a Bonferroni threshold of 0.0083 because we ran six comparisons.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About 1 minute. Each property is proved in the paper. Theorem 1 is the audit property: the system cannot assert true, false or disputed without a quote in a source. Props 2 to 4 explain why the earlier scores behave as they do: entropy rewards redundancy, and the single-query density collapses to a nearest-neighbour distance. We also test every statement against the deployed code, so the proofs and the code cannot drift apart. These checks are not proofs; they are drift alarms.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About 1.5 minutes. Show the extension live if the review allows: paste text, press Ctrl+Enter, watch claims stream in. Left: real screenshot from our end-to-end run in real Chrome, with a stub backend so the output is deterministic. The demo claims show all three states: backed up, could not be checked because the search budget was used up, and no sources found. The last two are different states on purpose. Tests: backend 117, extension unit 44, and the real-Chrome end-to-end run. Live verdicts with the real model need OpenRouter credit.</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About 1 minute. Same 100 claims for every variant; they come from the FEVER development split, balanced, seed 42. The baseline OpenAlex run scored 100 of 150 sampled claims because the anonymous OpenAlex budget ran out, so all variants are reported on those 100. Read the matrices by row. Pooled with Wikipedia gets the SUPPORTS and REFUTES rows mostly right but puts 25 of 31 NEI claims in REFUTES. The stance variant spreads NEI correctly but loses REFUTES: 13 of 36 called SUPPORTS.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About 1.5 minutes. Overall accuracy is flat, between 51 and 55 percent, and the intervals overlap heavily; with 100 claims that is about plus or minus 10 points. The interesting differences are in the decisive claims and in abstention. Wikipedia retrieval lifts decisive accuracy from 66.7 to 79.7, but the paired test gives p = 0.064, so we call it suggestive, and FEVER is built from Wikipedia so a Wikipedia retriever is expected to help. The pooled score never says not enough info; the per-source variant does 61 percent of the time.</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About 1.5 minutes. Left: the paired comparisons, which are the fair way to compare variants on the same claims. Only one passes the Bonferroni threshold: the first stance prompt is worse than the pooled score on decisive claims. Wikipedia against OpenAlex is suggestive but not significant. Right: a design comparison with the two closest related methods. We do not claim better accuracy than them; we did not run them on the same data. The claim is about design: external evidence, claim-level unit, verdict with a quote.</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About 1 minute. Three findings, one admission. Retrieval source mattered; the pooled score cannot abstain; the first per-source prompt abstains but is worse on decisive claims. We inspected the 13 refuted claims called supported and found two causes that were ours: the stance call saw the normalised claim, and the prompt was too lenient. We fixed both and added a regression test, but a re-run on a fresh sample was cut off when the API account ran out of credit, so we draw no conclusion about the corrected prompt and keep pooled as the default.</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About 30 seconds. One-sentence conclusion first. Then be direct about the limits: small sample, Wikipedia-derived benchmark, corrected prompt not evaluated, cross-model audit built and tested but not run because of API credit. Next steps are concrete. Invite questions. Likely questions: why FEVER, why not a bigger sample, why keep the density score, how are quotes verified. Answers are in the paper: Sections 4, 5 and 6 and the Limitations section.</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 presented. Full bibliography is in the journal article.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
          <p:cNvSpPr txBox="1"/>
          <p:nvPr>
            <p:ph type="ctrTitle"/>
          </p:nvPr>
        </p:nvSpPr>
        <p:spPr>
          <a:xfrm>
            <a:off x="415600" y="1886797"/>
            <a:ext cx="11360700" cy="1842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1" name="Google Shape;21;p2"/>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22" name="Google Shape;22;p2"/>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23" name="Google Shape;23;p2"/>
          <p:cNvSpPr/>
          <p:nvPr/>
        </p:nvSpPr>
        <p:spPr>
          <a:xfrm>
            <a:off x="-9450" y="-30350"/>
            <a:ext cx="12209100" cy="737100"/>
          </a:xfrm>
          <a:prstGeom prst="rect">
            <a:avLst/>
          </a:prstGeom>
          <a:solidFill>
            <a:srgbClr val="0C5394"/>
          </a:solidFill>
          <a:ln cap="flat" cmpd="sng" w="9525">
            <a:solidFill>
              <a:srgbClr val="0C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24" name="Google Shape;24;p2"/>
          <p:cNvSpPr/>
          <p:nvPr/>
        </p:nvSpPr>
        <p:spPr>
          <a:xfrm>
            <a:off x="-9325" y="154075"/>
            <a:ext cx="12216600" cy="1282500"/>
          </a:xfrm>
          <a:prstGeom prst="roundRect">
            <a:avLst>
              <a:gd fmla="val 10177" name="adj"/>
            </a:avLst>
          </a:prstGeom>
          <a:solidFill>
            <a:srgbClr val="0C5394"/>
          </a:solidFill>
          <a:ln cap="flat" cmpd="sng" w="9525">
            <a:solidFill>
              <a:srgbClr val="0C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25" name="Google Shape;25;p2"/>
          <p:cNvSpPr/>
          <p:nvPr/>
        </p:nvSpPr>
        <p:spPr>
          <a:xfrm>
            <a:off x="10763550" y="-30350"/>
            <a:ext cx="868800" cy="1467000"/>
          </a:xfrm>
          <a:prstGeom prst="parallelogram">
            <a:avLst>
              <a:gd fmla="val 57856" name="adj"/>
            </a:avLst>
          </a:prstGeom>
          <a:solidFill>
            <a:srgbClr val="D2AE6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26" name="Google Shape;26;p2"/>
          <p:cNvSpPr/>
          <p:nvPr/>
        </p:nvSpPr>
        <p:spPr>
          <a:xfrm>
            <a:off x="7714000" y="-30350"/>
            <a:ext cx="3841800" cy="1488900"/>
          </a:xfrm>
          <a:prstGeom prst="parallelogram">
            <a:avLst>
              <a:gd fmla="val 33925"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27" name="Google Shape;27;p2"/>
          <p:cNvSpPr/>
          <p:nvPr/>
        </p:nvSpPr>
        <p:spPr>
          <a:xfrm>
            <a:off x="-9325" y="6604519"/>
            <a:ext cx="12216600" cy="259800"/>
          </a:xfrm>
          <a:prstGeom prst="rect">
            <a:avLst/>
          </a:prstGeom>
          <a:solidFill>
            <a:srgbClr val="0C5394"/>
          </a:solidFill>
          <a:ln cap="flat" cmpd="sng" w="9525">
            <a:solidFill>
              <a:srgbClr val="0C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28" name="Google Shape;28;p2"/>
          <p:cNvSpPr/>
          <p:nvPr/>
        </p:nvSpPr>
        <p:spPr>
          <a:xfrm>
            <a:off x="-9325" y="5899575"/>
            <a:ext cx="12216600" cy="737100"/>
          </a:xfrm>
          <a:prstGeom prst="roundRect">
            <a:avLst>
              <a:gd fmla="val 10177" name="adj"/>
            </a:avLst>
          </a:prstGeom>
          <a:solidFill>
            <a:srgbClr val="0C5394"/>
          </a:solidFill>
          <a:ln cap="flat" cmpd="sng" w="9525">
            <a:solidFill>
              <a:srgbClr val="0C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29" name="Google Shape;29;p2"/>
          <p:cNvSpPr txBox="1"/>
          <p:nvPr/>
        </p:nvSpPr>
        <p:spPr>
          <a:xfrm>
            <a:off x="381000" y="5899575"/>
            <a:ext cx="3810000" cy="969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1" i="0" lang="en-GB" sz="1500" u="none" cap="none" strike="noStrike">
                <a:solidFill>
                  <a:srgbClr val="D2AE6C"/>
                </a:solidFill>
                <a:latin typeface="Archivo Narrow"/>
                <a:ea typeface="Archivo Narrow"/>
                <a:cs typeface="Archivo Narrow"/>
                <a:sym typeface="Archivo Narrow"/>
              </a:rPr>
              <a:t>Mission</a:t>
            </a:r>
            <a:endParaRPr b="1" i="0" sz="1500" u="none" cap="none" strike="noStrike">
              <a:solidFill>
                <a:srgbClr val="D2AE6C"/>
              </a:solidFill>
              <a:latin typeface="Archivo Narrow"/>
              <a:ea typeface="Archivo Narrow"/>
              <a:cs typeface="Archivo Narrow"/>
              <a:sym typeface="Archivo Narrow"/>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Archivo Narrow Medium"/>
                <a:ea typeface="Archivo Narrow Medium"/>
                <a:cs typeface="Archivo Narrow Medium"/>
                <a:sym typeface="Archivo Narrow Medium"/>
              </a:rPr>
              <a:t>Christ University is a nurturing ground for an individual’s holistic development to make effective contribution</a:t>
            </a:r>
            <a:endParaRPr b="0" i="0" sz="1200" u="none" cap="none" strike="noStrike">
              <a:solidFill>
                <a:schemeClr val="lt1"/>
              </a:solidFill>
              <a:latin typeface="Archivo Narrow Medium"/>
              <a:ea typeface="Archivo Narrow Medium"/>
              <a:cs typeface="Archivo Narrow Medium"/>
              <a:sym typeface="Archivo Narrow Medium"/>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Archivo Narrow Medium"/>
                <a:ea typeface="Archivo Narrow Medium"/>
                <a:cs typeface="Archivo Narrow Medium"/>
                <a:sym typeface="Archivo Narrow Medium"/>
              </a:rPr>
              <a:t>to the society in a dynamic environment</a:t>
            </a:r>
            <a:endParaRPr b="0" i="0" sz="1200" u="none" cap="none" strike="noStrike">
              <a:solidFill>
                <a:schemeClr val="lt1"/>
              </a:solidFill>
              <a:latin typeface="Archivo Narrow Medium"/>
              <a:ea typeface="Archivo Narrow Medium"/>
              <a:cs typeface="Archivo Narrow Medium"/>
              <a:sym typeface="Archivo Narrow Medium"/>
            </a:endParaRPr>
          </a:p>
        </p:txBody>
      </p:sp>
      <p:sp>
        <p:nvSpPr>
          <p:cNvPr id="30" name="Google Shape;30;p2"/>
          <p:cNvSpPr txBox="1"/>
          <p:nvPr/>
        </p:nvSpPr>
        <p:spPr>
          <a:xfrm>
            <a:off x="4191000" y="5899575"/>
            <a:ext cx="3810000" cy="600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1" i="0" lang="en-GB" sz="1500" u="none" cap="none" strike="noStrike">
                <a:solidFill>
                  <a:srgbClr val="D2AE6C"/>
                </a:solidFill>
                <a:latin typeface="Archivo Narrow"/>
                <a:ea typeface="Archivo Narrow"/>
                <a:cs typeface="Archivo Narrow"/>
                <a:sym typeface="Archivo Narrow"/>
              </a:rPr>
              <a:t>Vision</a:t>
            </a:r>
            <a:endParaRPr b="1" i="0" sz="1500" u="none" cap="none" strike="noStrike">
              <a:solidFill>
                <a:srgbClr val="D2AE6C"/>
              </a:solidFill>
              <a:latin typeface="Archivo Narrow"/>
              <a:ea typeface="Archivo Narrow"/>
              <a:cs typeface="Archivo Narrow"/>
              <a:sym typeface="Archivo Narrow"/>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Archivo Narrow Medium"/>
                <a:ea typeface="Archivo Narrow Medium"/>
                <a:cs typeface="Archivo Narrow Medium"/>
                <a:sym typeface="Archivo Narrow Medium"/>
              </a:rPr>
              <a:t>Excellence and Service</a:t>
            </a:r>
            <a:endParaRPr b="0" i="0" sz="1200" u="none" cap="none" strike="noStrike">
              <a:solidFill>
                <a:schemeClr val="lt1"/>
              </a:solidFill>
              <a:latin typeface="Archivo Narrow Medium"/>
              <a:ea typeface="Archivo Narrow Medium"/>
              <a:cs typeface="Archivo Narrow Medium"/>
              <a:sym typeface="Archivo Narrow Medium"/>
            </a:endParaRPr>
          </a:p>
        </p:txBody>
      </p:sp>
      <p:sp>
        <p:nvSpPr>
          <p:cNvPr id="31" name="Google Shape;31;p2"/>
          <p:cNvSpPr txBox="1"/>
          <p:nvPr/>
        </p:nvSpPr>
        <p:spPr>
          <a:xfrm>
            <a:off x="8572600" y="5899575"/>
            <a:ext cx="2983200" cy="969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1" i="0" lang="en-GB" sz="1500" u="none" cap="none" strike="noStrike">
                <a:solidFill>
                  <a:srgbClr val="D2AE6C"/>
                </a:solidFill>
                <a:latin typeface="Archivo Narrow"/>
                <a:ea typeface="Archivo Narrow"/>
                <a:cs typeface="Archivo Narrow"/>
                <a:sym typeface="Archivo Narrow"/>
              </a:rPr>
              <a:t>Core Values</a:t>
            </a:r>
            <a:endParaRPr b="1" i="0" sz="1500" u="none" cap="none" strike="noStrike">
              <a:solidFill>
                <a:srgbClr val="D2AE6C"/>
              </a:solidFill>
              <a:latin typeface="Archivo Narrow"/>
              <a:ea typeface="Archivo Narrow"/>
              <a:cs typeface="Archivo Narrow"/>
              <a:sym typeface="Archivo Narrow"/>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Archivo Narrow Medium"/>
                <a:ea typeface="Archivo Narrow Medium"/>
                <a:cs typeface="Archivo Narrow Medium"/>
                <a:sym typeface="Archivo Narrow Medium"/>
              </a:rPr>
              <a:t>Faith in God |  Moral Uprightness</a:t>
            </a:r>
            <a:endParaRPr b="0" i="0" sz="1200" u="none" cap="none" strike="noStrike">
              <a:solidFill>
                <a:schemeClr val="lt1"/>
              </a:solidFill>
              <a:latin typeface="Archivo Narrow Medium"/>
              <a:ea typeface="Archivo Narrow Medium"/>
              <a:cs typeface="Archivo Narrow Medium"/>
              <a:sym typeface="Archivo Narrow Medium"/>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Archivo Narrow Medium"/>
                <a:ea typeface="Archivo Narrow Medium"/>
                <a:cs typeface="Archivo Narrow Medium"/>
                <a:sym typeface="Archivo Narrow Medium"/>
              </a:rPr>
              <a:t> Love of Fellow Beings |  Social Responsibility</a:t>
            </a:r>
            <a:br>
              <a:rPr b="0" i="0" lang="en-GB" sz="1200" u="none" cap="none" strike="noStrike">
                <a:solidFill>
                  <a:schemeClr val="lt1"/>
                </a:solidFill>
                <a:latin typeface="Archivo Narrow Medium"/>
                <a:ea typeface="Archivo Narrow Medium"/>
                <a:cs typeface="Archivo Narrow Medium"/>
                <a:sym typeface="Archivo Narrow Medium"/>
              </a:rPr>
            </a:br>
            <a:r>
              <a:rPr b="0" i="0" lang="en-GB" sz="1200" u="none" cap="none" strike="noStrike">
                <a:solidFill>
                  <a:schemeClr val="lt1"/>
                </a:solidFill>
                <a:latin typeface="Archivo Narrow Medium"/>
                <a:ea typeface="Archivo Narrow Medium"/>
                <a:cs typeface="Archivo Narrow Medium"/>
                <a:sym typeface="Archivo Narrow Medium"/>
              </a:rPr>
              <a:t>Pursuit of Excellence</a:t>
            </a:r>
            <a:endParaRPr b="0" i="0" sz="1200" u="none" cap="none" strike="noStrike">
              <a:solidFill>
                <a:schemeClr val="lt1"/>
              </a:solidFill>
              <a:latin typeface="Archivo Narrow Medium"/>
              <a:ea typeface="Archivo Narrow Medium"/>
              <a:cs typeface="Archivo Narrow Medium"/>
              <a:sym typeface="Archivo Narrow Medium"/>
            </a:endParaRPr>
          </a:p>
        </p:txBody>
      </p:sp>
      <p:pic>
        <p:nvPicPr>
          <p:cNvPr id="32" name="Google Shape;32;p2" title="CU logo GBT_25.png"/>
          <p:cNvPicPr preferRelativeResize="0"/>
          <p:nvPr/>
        </p:nvPicPr>
        <p:blipFill rotWithShape="1">
          <a:blip r:embed="rId2">
            <a:alphaModFix/>
          </a:blip>
          <a:srcRect b="0" l="0" r="0" t="0"/>
          <a:stretch/>
        </p:blipFill>
        <p:spPr>
          <a:xfrm>
            <a:off x="7954061" y="329612"/>
            <a:ext cx="3118595" cy="10569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 name="Shape 33"/>
        <p:cNvGrpSpPr/>
        <p:nvPr/>
      </p:nvGrpSpPr>
      <p:grpSpPr>
        <a:xfrm>
          <a:off x="0" y="0"/>
          <a:ext cx="0" cy="0"/>
          <a:chOff x="0" y="0"/>
          <a:chExt cx="0" cy="0"/>
        </a:xfrm>
      </p:grpSpPr>
      <p:sp>
        <p:nvSpPr>
          <p:cNvPr id="34" name="Google Shape;34;p3"/>
          <p:cNvSpPr txBox="1"/>
          <p:nvPr>
            <p:ph type="title"/>
          </p:nvPr>
        </p:nvSpPr>
        <p:spPr>
          <a:xfrm>
            <a:off x="415600" y="4917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200"/>
              <a:buFont typeface="IBM Plex Sans Condensed"/>
              <a:buNone/>
              <a:defRPr>
                <a:latin typeface="IBM Plex Sans Condensed"/>
                <a:ea typeface="IBM Plex Sans Condensed"/>
                <a:cs typeface="IBM Plex Sans Condensed"/>
                <a:sym typeface="IBM Plex Sans Condensed"/>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35" name="Google Shape;35;p3"/>
          <p:cNvSpPr txBox="1"/>
          <p:nvPr>
            <p:ph idx="1" type="body"/>
          </p:nvPr>
        </p:nvSpPr>
        <p:spPr>
          <a:xfrm>
            <a:off x="415600" y="1419388"/>
            <a:ext cx="11360700" cy="4672200"/>
          </a:xfrm>
          <a:prstGeom prst="rect">
            <a:avLst/>
          </a:prstGeom>
          <a:noFill/>
          <a:ln>
            <a:noFill/>
          </a:ln>
        </p:spPr>
        <p:txBody>
          <a:bodyPr anchorCtr="0" anchor="t" bIns="121900" lIns="121900" spcFirstLastPara="1" rIns="121900" wrap="square" tIns="121900">
            <a:noAutofit/>
          </a:bodyPr>
          <a:lstStyle>
            <a:lvl1pPr indent="-406400" lvl="0" marL="457200" algn="l">
              <a:lnSpc>
                <a:spcPct val="100000"/>
              </a:lnSpc>
              <a:spcBef>
                <a:spcPts val="0"/>
              </a:spcBef>
              <a:spcAft>
                <a:spcPts val="0"/>
              </a:spcAft>
              <a:buSzPts val="2800"/>
              <a:buFont typeface="IBM Plex Sans Condensed"/>
              <a:buChar char="●"/>
              <a:defRPr>
                <a:latin typeface="IBM Plex Sans Condensed"/>
                <a:ea typeface="IBM Plex Sans Condensed"/>
                <a:cs typeface="IBM Plex Sans Condensed"/>
                <a:sym typeface="IBM Plex Sans Condensed"/>
              </a:defRPr>
            </a:lvl1pPr>
            <a:lvl2pPr indent="-393700" lvl="1" marL="914400" algn="l">
              <a:lnSpc>
                <a:spcPct val="100000"/>
              </a:lnSpc>
              <a:spcBef>
                <a:spcPts val="800"/>
              </a:spcBef>
              <a:spcAft>
                <a:spcPts val="0"/>
              </a:spcAft>
              <a:buSzPts val="2600"/>
              <a:buFont typeface="IBM Plex Sans Condensed"/>
              <a:buChar char="○"/>
              <a:defRPr>
                <a:latin typeface="IBM Plex Sans Condensed"/>
                <a:ea typeface="IBM Plex Sans Condensed"/>
                <a:cs typeface="IBM Plex Sans Condensed"/>
                <a:sym typeface="IBM Plex Sans Condensed"/>
              </a:defRPr>
            </a:lvl2pPr>
            <a:lvl3pPr indent="-381000" lvl="2" marL="13716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3pPr>
            <a:lvl4pPr indent="-381000" lvl="3" marL="18288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4pPr>
            <a:lvl5pPr indent="-381000" lvl="4" marL="2286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5pPr>
            <a:lvl6pPr indent="-381000" lvl="5" marL="27432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6pPr>
            <a:lvl7pPr indent="-381000" lvl="6" marL="32004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7pPr>
            <a:lvl8pPr indent="-381000" lvl="7" marL="36576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8pPr>
            <a:lvl9pPr indent="-381000" lvl="8" marL="4114800" algn="l">
              <a:lnSpc>
                <a:spcPct val="100000"/>
              </a:lnSpc>
              <a:spcBef>
                <a:spcPts val="800"/>
              </a:spcBef>
              <a:spcAft>
                <a:spcPts val="800"/>
              </a:spcAft>
              <a:buSzPts val="2400"/>
              <a:buFont typeface="IBM Plex Sans Condensed"/>
              <a:buChar char="■"/>
              <a:defRPr>
                <a:latin typeface="IBM Plex Sans Condensed"/>
                <a:ea typeface="IBM Plex Sans Condensed"/>
                <a:cs typeface="IBM Plex Sans Condensed"/>
                <a:sym typeface="IBM Plex Sans Condensed"/>
              </a:defRPr>
            </a:lvl9pPr>
          </a:lstStyle>
          <a:p/>
        </p:txBody>
      </p:sp>
      <p:sp>
        <p:nvSpPr>
          <p:cNvPr id="36" name="Google Shape;36;p3"/>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37" name="Google Shape;37;p3"/>
          <p:cNvSpPr txBox="1"/>
          <p:nvPr/>
        </p:nvSpPr>
        <p:spPr>
          <a:xfrm>
            <a:off x="11585175" y="6515100"/>
            <a:ext cx="532800" cy="290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FFFFFF"/>
              </a:solidFill>
              <a:latin typeface="Georgia"/>
              <a:ea typeface="Georgia"/>
              <a:cs typeface="Georgia"/>
              <a:sym typeface="Georgi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4"/>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40" name="Google Shape;40;p4"/>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1" name="Shape 41"/>
        <p:cNvGrpSpPr/>
        <p:nvPr/>
      </p:nvGrpSpPr>
      <p:grpSpPr>
        <a:xfrm>
          <a:off x="0" y="0"/>
          <a:ext cx="0" cy="0"/>
          <a:chOff x="0" y="0"/>
          <a:chExt cx="0" cy="0"/>
        </a:xfrm>
      </p:grpSpPr>
      <p:sp>
        <p:nvSpPr>
          <p:cNvPr id="42" name="Google Shape;42;p5"/>
          <p:cNvSpPr txBox="1"/>
          <p:nvPr>
            <p:ph type="title"/>
          </p:nvPr>
        </p:nvSpPr>
        <p:spPr>
          <a:xfrm>
            <a:off x="415600" y="5171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43" name="Google Shape;43;p5"/>
          <p:cNvSpPr txBox="1"/>
          <p:nvPr>
            <p:ph idx="1" type="body"/>
          </p:nvPr>
        </p:nvSpPr>
        <p:spPr>
          <a:xfrm>
            <a:off x="415600" y="1536625"/>
            <a:ext cx="5333100" cy="47517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sz="1900"/>
            </a:lvl1pPr>
            <a:lvl2pPr indent="-330200" lvl="1" marL="914400" algn="l">
              <a:lnSpc>
                <a:spcPct val="100000"/>
              </a:lnSpc>
              <a:spcBef>
                <a:spcPts val="800"/>
              </a:spcBef>
              <a:spcAft>
                <a:spcPts val="0"/>
              </a:spcAft>
              <a:buSzPts val="1600"/>
              <a:buChar char="○"/>
              <a:defRPr sz="1600"/>
            </a:lvl2pPr>
            <a:lvl3pPr indent="-330200" lvl="2" marL="1371600" algn="l">
              <a:lnSpc>
                <a:spcPct val="100000"/>
              </a:lnSpc>
              <a:spcBef>
                <a:spcPts val="800"/>
              </a:spcBef>
              <a:spcAft>
                <a:spcPts val="0"/>
              </a:spcAft>
              <a:buSzPts val="1600"/>
              <a:buChar char="■"/>
              <a:defRPr sz="1600"/>
            </a:lvl3pPr>
            <a:lvl4pPr indent="-330200" lvl="3" marL="1828800" algn="l">
              <a:lnSpc>
                <a:spcPct val="100000"/>
              </a:lnSpc>
              <a:spcBef>
                <a:spcPts val="800"/>
              </a:spcBef>
              <a:spcAft>
                <a:spcPts val="0"/>
              </a:spcAft>
              <a:buSzPts val="1600"/>
              <a:buChar char="●"/>
              <a:defRPr sz="1600"/>
            </a:lvl4pPr>
            <a:lvl5pPr indent="-330200" lvl="4" marL="2286000" algn="l">
              <a:lnSpc>
                <a:spcPct val="100000"/>
              </a:lnSpc>
              <a:spcBef>
                <a:spcPts val="800"/>
              </a:spcBef>
              <a:spcAft>
                <a:spcPts val="0"/>
              </a:spcAft>
              <a:buSzPts val="1600"/>
              <a:buChar char="○"/>
              <a:defRPr sz="1600"/>
            </a:lvl5pPr>
            <a:lvl6pPr indent="-330200" lvl="5" marL="2743200" algn="l">
              <a:lnSpc>
                <a:spcPct val="100000"/>
              </a:lnSpc>
              <a:spcBef>
                <a:spcPts val="800"/>
              </a:spcBef>
              <a:spcAft>
                <a:spcPts val="0"/>
              </a:spcAft>
              <a:buSzPts val="1600"/>
              <a:buChar char="■"/>
              <a:defRPr sz="1600"/>
            </a:lvl6pPr>
            <a:lvl7pPr indent="-330200" lvl="6" marL="3200400" algn="l">
              <a:lnSpc>
                <a:spcPct val="100000"/>
              </a:lnSpc>
              <a:spcBef>
                <a:spcPts val="800"/>
              </a:spcBef>
              <a:spcAft>
                <a:spcPts val="0"/>
              </a:spcAft>
              <a:buSzPts val="1600"/>
              <a:buChar char="●"/>
              <a:defRPr sz="1600"/>
            </a:lvl7pPr>
            <a:lvl8pPr indent="-330200" lvl="7" marL="3657600" algn="l">
              <a:lnSpc>
                <a:spcPct val="100000"/>
              </a:lnSpc>
              <a:spcBef>
                <a:spcPts val="800"/>
              </a:spcBef>
              <a:spcAft>
                <a:spcPts val="0"/>
              </a:spcAft>
              <a:buSzPts val="1600"/>
              <a:buChar char="○"/>
              <a:defRPr sz="1600"/>
            </a:lvl8pPr>
            <a:lvl9pPr indent="-330200" lvl="8" marL="4114800" algn="l">
              <a:lnSpc>
                <a:spcPct val="100000"/>
              </a:lnSpc>
              <a:spcBef>
                <a:spcPts val="800"/>
              </a:spcBef>
              <a:spcAft>
                <a:spcPts val="800"/>
              </a:spcAft>
              <a:buSzPts val="1600"/>
              <a:buChar char="■"/>
              <a:defRPr sz="1600"/>
            </a:lvl9pPr>
          </a:lstStyle>
          <a:p/>
        </p:txBody>
      </p:sp>
      <p:sp>
        <p:nvSpPr>
          <p:cNvPr id="44" name="Google Shape;44;p5"/>
          <p:cNvSpPr txBox="1"/>
          <p:nvPr>
            <p:ph idx="2" type="body"/>
          </p:nvPr>
        </p:nvSpPr>
        <p:spPr>
          <a:xfrm>
            <a:off x="6443200" y="1536625"/>
            <a:ext cx="5333100" cy="47517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sz="1900"/>
            </a:lvl1pPr>
            <a:lvl2pPr indent="-330200" lvl="1" marL="914400" algn="l">
              <a:lnSpc>
                <a:spcPct val="100000"/>
              </a:lnSpc>
              <a:spcBef>
                <a:spcPts val="800"/>
              </a:spcBef>
              <a:spcAft>
                <a:spcPts val="0"/>
              </a:spcAft>
              <a:buSzPts val="1600"/>
              <a:buChar char="○"/>
              <a:defRPr sz="1600"/>
            </a:lvl2pPr>
            <a:lvl3pPr indent="-330200" lvl="2" marL="1371600" algn="l">
              <a:lnSpc>
                <a:spcPct val="100000"/>
              </a:lnSpc>
              <a:spcBef>
                <a:spcPts val="800"/>
              </a:spcBef>
              <a:spcAft>
                <a:spcPts val="0"/>
              </a:spcAft>
              <a:buSzPts val="1600"/>
              <a:buChar char="■"/>
              <a:defRPr sz="1600"/>
            </a:lvl3pPr>
            <a:lvl4pPr indent="-330200" lvl="3" marL="1828800" algn="l">
              <a:lnSpc>
                <a:spcPct val="100000"/>
              </a:lnSpc>
              <a:spcBef>
                <a:spcPts val="800"/>
              </a:spcBef>
              <a:spcAft>
                <a:spcPts val="0"/>
              </a:spcAft>
              <a:buSzPts val="1600"/>
              <a:buChar char="●"/>
              <a:defRPr sz="1600"/>
            </a:lvl4pPr>
            <a:lvl5pPr indent="-330200" lvl="4" marL="2286000" algn="l">
              <a:lnSpc>
                <a:spcPct val="100000"/>
              </a:lnSpc>
              <a:spcBef>
                <a:spcPts val="800"/>
              </a:spcBef>
              <a:spcAft>
                <a:spcPts val="0"/>
              </a:spcAft>
              <a:buSzPts val="1600"/>
              <a:buChar char="○"/>
              <a:defRPr sz="1600"/>
            </a:lvl5pPr>
            <a:lvl6pPr indent="-330200" lvl="5" marL="2743200" algn="l">
              <a:lnSpc>
                <a:spcPct val="100000"/>
              </a:lnSpc>
              <a:spcBef>
                <a:spcPts val="800"/>
              </a:spcBef>
              <a:spcAft>
                <a:spcPts val="0"/>
              </a:spcAft>
              <a:buSzPts val="1600"/>
              <a:buChar char="■"/>
              <a:defRPr sz="1600"/>
            </a:lvl6pPr>
            <a:lvl7pPr indent="-330200" lvl="6" marL="3200400" algn="l">
              <a:lnSpc>
                <a:spcPct val="100000"/>
              </a:lnSpc>
              <a:spcBef>
                <a:spcPts val="800"/>
              </a:spcBef>
              <a:spcAft>
                <a:spcPts val="0"/>
              </a:spcAft>
              <a:buSzPts val="1600"/>
              <a:buChar char="●"/>
              <a:defRPr sz="1600"/>
            </a:lvl7pPr>
            <a:lvl8pPr indent="-330200" lvl="7" marL="3657600" algn="l">
              <a:lnSpc>
                <a:spcPct val="100000"/>
              </a:lnSpc>
              <a:spcBef>
                <a:spcPts val="800"/>
              </a:spcBef>
              <a:spcAft>
                <a:spcPts val="0"/>
              </a:spcAft>
              <a:buSzPts val="1600"/>
              <a:buChar char="○"/>
              <a:defRPr sz="1600"/>
            </a:lvl8pPr>
            <a:lvl9pPr indent="-330200" lvl="8" marL="4114800" algn="l">
              <a:lnSpc>
                <a:spcPct val="100000"/>
              </a:lnSpc>
              <a:spcBef>
                <a:spcPts val="800"/>
              </a:spcBef>
              <a:spcAft>
                <a:spcPts val="800"/>
              </a:spcAft>
              <a:buSzPts val="1600"/>
              <a:buChar char="■"/>
              <a:defRPr sz="1600"/>
            </a:lvl9pPr>
          </a:lstStyle>
          <a:p/>
        </p:txBody>
      </p:sp>
      <p:sp>
        <p:nvSpPr>
          <p:cNvPr id="45" name="Google Shape;45;p5"/>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46" name="Google Shape;46;p5"/>
          <p:cNvSpPr/>
          <p:nvPr/>
        </p:nvSpPr>
        <p:spPr>
          <a:xfrm rot="10800000">
            <a:off x="-2833" y="-25"/>
            <a:ext cx="12206700" cy="364800"/>
          </a:xfrm>
          <a:prstGeom prst="round2SameRect">
            <a:avLst>
              <a:gd fmla="val 12503" name="adj1"/>
              <a:gd fmla="val 0" name="adj2"/>
            </a:avLst>
          </a:prstGeom>
          <a:solidFill>
            <a:srgbClr val="0B5394"/>
          </a:solidFill>
          <a:ln cap="flat" cmpd="sng" w="19050">
            <a:solidFill>
              <a:srgbClr val="0B5394"/>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6"/>
          <p:cNvSpPr txBox="1"/>
          <p:nvPr>
            <p:ph type="title"/>
          </p:nvPr>
        </p:nvSpPr>
        <p:spPr>
          <a:xfrm>
            <a:off x="415600" y="5171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49" name="Google Shape;49;p6"/>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0" name="Shape 50"/>
        <p:cNvGrpSpPr/>
        <p:nvPr/>
      </p:nvGrpSpPr>
      <p:grpSpPr>
        <a:xfrm>
          <a:off x="0" y="0"/>
          <a:ext cx="0" cy="0"/>
          <a:chOff x="0" y="0"/>
          <a:chExt cx="0" cy="0"/>
        </a:xfrm>
      </p:grpSpPr>
      <p:sp>
        <p:nvSpPr>
          <p:cNvPr id="51" name="Google Shape;51;p7"/>
          <p:cNvSpPr txBox="1"/>
          <p:nvPr>
            <p:ph type="title"/>
          </p:nvPr>
        </p:nvSpPr>
        <p:spPr>
          <a:xfrm>
            <a:off x="415600" y="740800"/>
            <a:ext cx="7078200" cy="1007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52" name="Google Shape;52;p7"/>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Autofit/>
          </a:bodyPr>
          <a:lstStyle>
            <a:lvl1pPr indent="-330200" lvl="0" marL="457200" algn="l">
              <a:lnSpc>
                <a:spcPct val="100000"/>
              </a:lnSpc>
              <a:spcBef>
                <a:spcPts val="0"/>
              </a:spcBef>
              <a:spcAft>
                <a:spcPts val="0"/>
              </a:spcAft>
              <a:buSzPts val="1600"/>
              <a:buChar char="●"/>
              <a:defRPr sz="1600"/>
            </a:lvl1pPr>
            <a:lvl2pPr indent="-330200" lvl="1" marL="914400" algn="l">
              <a:lnSpc>
                <a:spcPct val="100000"/>
              </a:lnSpc>
              <a:spcBef>
                <a:spcPts val="800"/>
              </a:spcBef>
              <a:spcAft>
                <a:spcPts val="0"/>
              </a:spcAft>
              <a:buSzPts val="1600"/>
              <a:buChar char="○"/>
              <a:defRPr sz="1600"/>
            </a:lvl2pPr>
            <a:lvl3pPr indent="-330200" lvl="2" marL="1371600" algn="l">
              <a:lnSpc>
                <a:spcPct val="100000"/>
              </a:lnSpc>
              <a:spcBef>
                <a:spcPts val="800"/>
              </a:spcBef>
              <a:spcAft>
                <a:spcPts val="0"/>
              </a:spcAft>
              <a:buSzPts val="1600"/>
              <a:buChar char="■"/>
              <a:defRPr sz="1600"/>
            </a:lvl3pPr>
            <a:lvl4pPr indent="-330200" lvl="3" marL="1828800" algn="l">
              <a:lnSpc>
                <a:spcPct val="100000"/>
              </a:lnSpc>
              <a:spcBef>
                <a:spcPts val="800"/>
              </a:spcBef>
              <a:spcAft>
                <a:spcPts val="0"/>
              </a:spcAft>
              <a:buSzPts val="1600"/>
              <a:buChar char="●"/>
              <a:defRPr sz="1600"/>
            </a:lvl4pPr>
            <a:lvl5pPr indent="-330200" lvl="4" marL="2286000" algn="l">
              <a:lnSpc>
                <a:spcPct val="100000"/>
              </a:lnSpc>
              <a:spcBef>
                <a:spcPts val="800"/>
              </a:spcBef>
              <a:spcAft>
                <a:spcPts val="0"/>
              </a:spcAft>
              <a:buSzPts val="1600"/>
              <a:buChar char="○"/>
              <a:defRPr sz="1600"/>
            </a:lvl5pPr>
            <a:lvl6pPr indent="-330200" lvl="5" marL="2743200" algn="l">
              <a:lnSpc>
                <a:spcPct val="100000"/>
              </a:lnSpc>
              <a:spcBef>
                <a:spcPts val="800"/>
              </a:spcBef>
              <a:spcAft>
                <a:spcPts val="0"/>
              </a:spcAft>
              <a:buSzPts val="1600"/>
              <a:buChar char="■"/>
              <a:defRPr sz="1600"/>
            </a:lvl6pPr>
            <a:lvl7pPr indent="-330200" lvl="6" marL="3200400" algn="l">
              <a:lnSpc>
                <a:spcPct val="100000"/>
              </a:lnSpc>
              <a:spcBef>
                <a:spcPts val="800"/>
              </a:spcBef>
              <a:spcAft>
                <a:spcPts val="0"/>
              </a:spcAft>
              <a:buSzPts val="1600"/>
              <a:buChar char="●"/>
              <a:defRPr sz="1600"/>
            </a:lvl7pPr>
            <a:lvl8pPr indent="-330200" lvl="7" marL="3657600" algn="l">
              <a:lnSpc>
                <a:spcPct val="100000"/>
              </a:lnSpc>
              <a:spcBef>
                <a:spcPts val="800"/>
              </a:spcBef>
              <a:spcAft>
                <a:spcPts val="0"/>
              </a:spcAft>
              <a:buSzPts val="1600"/>
              <a:buChar char="○"/>
              <a:defRPr sz="1600"/>
            </a:lvl8pPr>
            <a:lvl9pPr indent="-330200" lvl="8" marL="4114800" algn="l">
              <a:lnSpc>
                <a:spcPct val="100000"/>
              </a:lnSpc>
              <a:spcBef>
                <a:spcPts val="800"/>
              </a:spcBef>
              <a:spcAft>
                <a:spcPts val="800"/>
              </a:spcAft>
              <a:buSzPts val="1600"/>
              <a:buChar char="■"/>
              <a:defRPr sz="1600"/>
            </a:lvl9pPr>
          </a:lstStyle>
          <a:p/>
        </p:txBody>
      </p:sp>
      <p:sp>
        <p:nvSpPr>
          <p:cNvPr id="53" name="Google Shape;53;p7"/>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4" name="Shape 54"/>
        <p:cNvGrpSpPr/>
        <p:nvPr/>
      </p:nvGrpSpPr>
      <p:grpSpPr>
        <a:xfrm>
          <a:off x="0" y="0"/>
          <a:ext cx="0" cy="0"/>
          <a:chOff x="0" y="0"/>
          <a:chExt cx="0" cy="0"/>
        </a:xfrm>
      </p:grpSpPr>
      <p:sp>
        <p:nvSpPr>
          <p:cNvPr id="55" name="Google Shape;55;p8"/>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56" name="Google Shape;56;p8"/>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7" name="Shape 57"/>
        <p:cNvGrpSpPr/>
        <p:nvPr/>
      </p:nvGrpSpPr>
      <p:grpSpPr>
        <a:xfrm>
          <a:off x="0" y="0"/>
          <a:ext cx="0" cy="0"/>
          <a:chOff x="0" y="0"/>
          <a:chExt cx="0" cy="0"/>
        </a:xfrm>
      </p:grpSpPr>
      <p:sp>
        <p:nvSpPr>
          <p:cNvPr id="58" name="Google Shape;58;p9"/>
          <p:cNvSpPr/>
          <p:nvPr/>
        </p:nvSpPr>
        <p:spPr>
          <a:xfrm>
            <a:off x="6096000" y="272150"/>
            <a:ext cx="6096000" cy="61365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9"/>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60" name="Google Shape;60;p9"/>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1" name="Google Shape;61;p9"/>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Autofit/>
          </a:bodyPr>
          <a:lstStyle>
            <a:lvl1pPr indent="-406400" lvl="0" marL="457200" algn="l">
              <a:lnSpc>
                <a:spcPct val="100000"/>
              </a:lnSpc>
              <a:spcBef>
                <a:spcPts val="0"/>
              </a:spcBef>
              <a:spcAft>
                <a:spcPts val="0"/>
              </a:spcAft>
              <a:buSzPts val="2800"/>
              <a:buChar char="●"/>
              <a:defRPr/>
            </a:lvl1pPr>
            <a:lvl2pPr indent="-393700" lvl="1" marL="914400" algn="l">
              <a:lnSpc>
                <a:spcPct val="100000"/>
              </a:lnSpc>
              <a:spcBef>
                <a:spcPts val="800"/>
              </a:spcBef>
              <a:spcAft>
                <a:spcPts val="0"/>
              </a:spcAft>
              <a:buSzPts val="2600"/>
              <a:buChar char="○"/>
              <a:defRPr/>
            </a:lvl2pPr>
            <a:lvl3pPr indent="-381000" lvl="2" marL="1371600" algn="l">
              <a:lnSpc>
                <a:spcPct val="100000"/>
              </a:lnSpc>
              <a:spcBef>
                <a:spcPts val="800"/>
              </a:spcBef>
              <a:spcAft>
                <a:spcPts val="0"/>
              </a:spcAft>
              <a:buSzPts val="2400"/>
              <a:buChar char="■"/>
              <a:defRPr/>
            </a:lvl3pPr>
            <a:lvl4pPr indent="-381000" lvl="3" marL="1828800" algn="l">
              <a:lnSpc>
                <a:spcPct val="100000"/>
              </a:lnSpc>
              <a:spcBef>
                <a:spcPts val="800"/>
              </a:spcBef>
              <a:spcAft>
                <a:spcPts val="0"/>
              </a:spcAft>
              <a:buSzPts val="2400"/>
              <a:buChar char="●"/>
              <a:defRPr/>
            </a:lvl4pPr>
            <a:lvl5pPr indent="-381000" lvl="4" marL="2286000" algn="l">
              <a:lnSpc>
                <a:spcPct val="100000"/>
              </a:lnSpc>
              <a:spcBef>
                <a:spcPts val="800"/>
              </a:spcBef>
              <a:spcAft>
                <a:spcPts val="0"/>
              </a:spcAft>
              <a:buSzPts val="2400"/>
              <a:buChar char="○"/>
              <a:defRPr/>
            </a:lvl5pPr>
            <a:lvl6pPr indent="-381000" lvl="5" marL="2743200" algn="l">
              <a:lnSpc>
                <a:spcPct val="100000"/>
              </a:lnSpc>
              <a:spcBef>
                <a:spcPts val="800"/>
              </a:spcBef>
              <a:spcAft>
                <a:spcPts val="0"/>
              </a:spcAft>
              <a:buSzPts val="2400"/>
              <a:buChar char="■"/>
              <a:defRPr/>
            </a:lvl6pPr>
            <a:lvl7pPr indent="-381000" lvl="6" marL="3200400" algn="l">
              <a:lnSpc>
                <a:spcPct val="100000"/>
              </a:lnSpc>
              <a:spcBef>
                <a:spcPts val="800"/>
              </a:spcBef>
              <a:spcAft>
                <a:spcPts val="0"/>
              </a:spcAft>
              <a:buSzPts val="2400"/>
              <a:buChar char="●"/>
              <a:defRPr/>
            </a:lvl7pPr>
            <a:lvl8pPr indent="-381000" lvl="7" marL="3657600" algn="l">
              <a:lnSpc>
                <a:spcPct val="100000"/>
              </a:lnSpc>
              <a:spcBef>
                <a:spcPts val="800"/>
              </a:spcBef>
              <a:spcAft>
                <a:spcPts val="0"/>
              </a:spcAft>
              <a:buSzPts val="2400"/>
              <a:buChar char="○"/>
              <a:defRPr/>
            </a:lvl8pPr>
            <a:lvl9pPr indent="-381000" lvl="8" marL="4114800" algn="l">
              <a:lnSpc>
                <a:spcPct val="100000"/>
              </a:lnSpc>
              <a:spcBef>
                <a:spcPts val="800"/>
              </a:spcBef>
              <a:spcAft>
                <a:spcPts val="800"/>
              </a:spcAft>
              <a:buSzPts val="2400"/>
              <a:buChar char="■"/>
              <a:defRPr/>
            </a:lvl9pPr>
          </a:lstStyle>
          <a:p/>
        </p:txBody>
      </p:sp>
      <p:sp>
        <p:nvSpPr>
          <p:cNvPr id="62" name="Google Shape;62;p9"/>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3" name="Shape 63"/>
        <p:cNvGrpSpPr/>
        <p:nvPr/>
      </p:nvGrpSpPr>
      <p:grpSpPr>
        <a:xfrm>
          <a:off x="0" y="0"/>
          <a:ext cx="0" cy="0"/>
          <a:chOff x="0" y="0"/>
          <a:chExt cx="0" cy="0"/>
        </a:xfrm>
      </p:grpSpPr>
      <p:sp>
        <p:nvSpPr>
          <p:cNvPr id="64" name="Google Shape;64;p10"/>
          <p:cNvSpPr txBox="1"/>
          <p:nvPr>
            <p:ph idx="1" type="body"/>
          </p:nvPr>
        </p:nvSpPr>
        <p:spPr>
          <a:xfrm>
            <a:off x="415600" y="5773325"/>
            <a:ext cx="7998300" cy="635100"/>
          </a:xfrm>
          <a:prstGeom prst="rect">
            <a:avLst/>
          </a:prstGeom>
          <a:noFill/>
          <a:ln>
            <a:noFill/>
          </a:ln>
        </p:spPr>
        <p:txBody>
          <a:bodyPr anchorCtr="0" anchor="ctr" bIns="121900" lIns="121900" spcFirstLastPara="1" rIns="121900" wrap="square" tIns="121900">
            <a:noAutofit/>
          </a:bodyPr>
          <a:lstStyle>
            <a:lvl1pPr indent="-228600" lvl="0" marL="457200" algn="l">
              <a:lnSpc>
                <a:spcPct val="100000"/>
              </a:lnSpc>
              <a:spcBef>
                <a:spcPts val="0"/>
              </a:spcBef>
              <a:spcAft>
                <a:spcPts val="0"/>
              </a:spcAft>
              <a:buSzPts val="2800"/>
              <a:buNone/>
              <a:defRPr/>
            </a:lvl1pPr>
          </a:lstStyle>
          <a:p/>
        </p:txBody>
      </p:sp>
      <p:sp>
        <p:nvSpPr>
          <p:cNvPr id="65" name="Google Shape;65;p10"/>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6" name="Shape 66"/>
        <p:cNvGrpSpPr/>
        <p:nvPr/>
      </p:nvGrpSpPr>
      <p:grpSpPr>
        <a:xfrm>
          <a:off x="0" y="0"/>
          <a:ext cx="0" cy="0"/>
          <a:chOff x="0" y="0"/>
          <a:chExt cx="0" cy="0"/>
        </a:xfrm>
      </p:grpSpPr>
      <p:sp>
        <p:nvSpPr>
          <p:cNvPr id="67" name="Google Shape;67;p11"/>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68" name="Google Shape;68;p11"/>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Autofit/>
          </a:bodyPr>
          <a:lstStyle>
            <a:lvl1pPr indent="-406400" lvl="0" marL="457200" algn="ctr">
              <a:lnSpc>
                <a:spcPct val="100000"/>
              </a:lnSpc>
              <a:spcBef>
                <a:spcPts val="0"/>
              </a:spcBef>
              <a:spcAft>
                <a:spcPts val="0"/>
              </a:spcAft>
              <a:buSzPts val="2800"/>
              <a:buChar char="●"/>
              <a:defRPr/>
            </a:lvl1pPr>
            <a:lvl2pPr indent="-393700" lvl="1" marL="914400" algn="ctr">
              <a:lnSpc>
                <a:spcPct val="100000"/>
              </a:lnSpc>
              <a:spcBef>
                <a:spcPts val="800"/>
              </a:spcBef>
              <a:spcAft>
                <a:spcPts val="0"/>
              </a:spcAft>
              <a:buSzPts val="2600"/>
              <a:buChar char="○"/>
              <a:defRPr/>
            </a:lvl2pPr>
            <a:lvl3pPr indent="-381000" lvl="2" marL="1371600" algn="ctr">
              <a:lnSpc>
                <a:spcPct val="100000"/>
              </a:lnSpc>
              <a:spcBef>
                <a:spcPts val="800"/>
              </a:spcBef>
              <a:spcAft>
                <a:spcPts val="0"/>
              </a:spcAft>
              <a:buSzPts val="2400"/>
              <a:buChar char="■"/>
              <a:defRPr/>
            </a:lvl3pPr>
            <a:lvl4pPr indent="-381000" lvl="3" marL="1828800" algn="ctr">
              <a:lnSpc>
                <a:spcPct val="100000"/>
              </a:lnSpc>
              <a:spcBef>
                <a:spcPts val="800"/>
              </a:spcBef>
              <a:spcAft>
                <a:spcPts val="0"/>
              </a:spcAft>
              <a:buSzPts val="2400"/>
              <a:buChar char="●"/>
              <a:defRPr/>
            </a:lvl4pPr>
            <a:lvl5pPr indent="-381000" lvl="4" marL="2286000" algn="ctr">
              <a:lnSpc>
                <a:spcPct val="100000"/>
              </a:lnSpc>
              <a:spcBef>
                <a:spcPts val="800"/>
              </a:spcBef>
              <a:spcAft>
                <a:spcPts val="0"/>
              </a:spcAft>
              <a:buSzPts val="2400"/>
              <a:buChar char="○"/>
              <a:defRPr/>
            </a:lvl5pPr>
            <a:lvl6pPr indent="-381000" lvl="5" marL="2743200" algn="ctr">
              <a:lnSpc>
                <a:spcPct val="100000"/>
              </a:lnSpc>
              <a:spcBef>
                <a:spcPts val="800"/>
              </a:spcBef>
              <a:spcAft>
                <a:spcPts val="0"/>
              </a:spcAft>
              <a:buSzPts val="2400"/>
              <a:buChar char="■"/>
              <a:defRPr/>
            </a:lvl6pPr>
            <a:lvl7pPr indent="-381000" lvl="6" marL="3200400" algn="ctr">
              <a:lnSpc>
                <a:spcPct val="100000"/>
              </a:lnSpc>
              <a:spcBef>
                <a:spcPts val="800"/>
              </a:spcBef>
              <a:spcAft>
                <a:spcPts val="0"/>
              </a:spcAft>
              <a:buSzPts val="2400"/>
              <a:buChar char="●"/>
              <a:defRPr/>
            </a:lvl7pPr>
            <a:lvl8pPr indent="-381000" lvl="7" marL="3657600" algn="ctr">
              <a:lnSpc>
                <a:spcPct val="100000"/>
              </a:lnSpc>
              <a:spcBef>
                <a:spcPts val="800"/>
              </a:spcBef>
              <a:spcAft>
                <a:spcPts val="0"/>
              </a:spcAft>
              <a:buSzPts val="2400"/>
              <a:buChar char="○"/>
              <a:defRPr/>
            </a:lvl8pPr>
            <a:lvl9pPr indent="-381000" lvl="8" marL="4114800" algn="ctr">
              <a:lnSpc>
                <a:spcPct val="100000"/>
              </a:lnSpc>
              <a:spcBef>
                <a:spcPts val="800"/>
              </a:spcBef>
              <a:spcAft>
                <a:spcPts val="800"/>
              </a:spcAft>
              <a:buSzPts val="2400"/>
              <a:buChar char="■"/>
              <a:defRPr/>
            </a:lvl9pPr>
          </a:lstStyle>
          <a:p/>
        </p:txBody>
      </p:sp>
      <p:sp>
        <p:nvSpPr>
          <p:cNvPr id="69" name="Google Shape;69;p11"/>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12"/>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2" name="Shape 72"/>
        <p:cNvGrpSpPr/>
        <p:nvPr/>
      </p:nvGrpSpPr>
      <p:grpSpPr>
        <a:xfrm>
          <a:off x="0" y="0"/>
          <a:ext cx="0" cy="0"/>
          <a:chOff x="0" y="0"/>
          <a:chExt cx="0" cy="0"/>
        </a:xfrm>
      </p:grpSpPr>
      <p:sp>
        <p:nvSpPr>
          <p:cNvPr id="73" name="Google Shape;73;p13"/>
          <p:cNvSpPr txBox="1"/>
          <p:nvPr>
            <p:ph type="title"/>
          </p:nvPr>
        </p:nvSpPr>
        <p:spPr>
          <a:xfrm>
            <a:off x="691079" y="725951"/>
            <a:ext cx="10325100" cy="1442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3"/>
          <p:cNvSpPr txBox="1"/>
          <p:nvPr>
            <p:ph idx="1" type="body"/>
          </p:nvPr>
        </p:nvSpPr>
        <p:spPr>
          <a:xfrm>
            <a:off x="691079" y="2340131"/>
            <a:ext cx="10325100" cy="3564300"/>
          </a:xfrm>
          <a:prstGeom prst="rect">
            <a:avLst/>
          </a:prstGeom>
          <a:noFill/>
          <a:ln>
            <a:noFill/>
          </a:ln>
        </p:spPr>
        <p:txBody>
          <a:bodyPr anchorCtr="0" anchor="t" bIns="45700" lIns="91425" spcFirstLastPara="1" rIns="91425" wrap="square" tIns="45700">
            <a:normAutofit/>
          </a:bodyPr>
          <a:lstStyle>
            <a:lvl1pPr indent="-314325" lvl="0" marL="457200" algn="l">
              <a:lnSpc>
                <a:spcPct val="110000"/>
              </a:lnSpc>
              <a:spcBef>
                <a:spcPts val="1000"/>
              </a:spcBef>
              <a:spcAft>
                <a:spcPts val="0"/>
              </a:spcAft>
              <a:buSzPts val="1350"/>
              <a:buChar char="▪"/>
              <a:defRPr/>
            </a:lvl1pPr>
            <a:lvl2pPr indent="-314325" lvl="1" marL="914400" algn="l">
              <a:lnSpc>
                <a:spcPct val="110000"/>
              </a:lnSpc>
              <a:spcBef>
                <a:spcPts val="500"/>
              </a:spcBef>
              <a:spcAft>
                <a:spcPts val="0"/>
              </a:spcAft>
              <a:buSzPts val="1350"/>
              <a:buChar char="▪"/>
              <a:defRPr/>
            </a:lvl2pPr>
            <a:lvl3pPr indent="-314325" lvl="2" marL="1371600" algn="l">
              <a:lnSpc>
                <a:spcPct val="110000"/>
              </a:lnSpc>
              <a:spcBef>
                <a:spcPts val="500"/>
              </a:spcBef>
              <a:spcAft>
                <a:spcPts val="0"/>
              </a:spcAft>
              <a:buSzPts val="1350"/>
              <a:buChar char="▪"/>
              <a:defRPr/>
            </a:lvl3pPr>
            <a:lvl4pPr indent="-314325" lvl="3" marL="1828800" algn="l">
              <a:lnSpc>
                <a:spcPct val="110000"/>
              </a:lnSpc>
              <a:spcBef>
                <a:spcPts val="500"/>
              </a:spcBef>
              <a:spcAft>
                <a:spcPts val="0"/>
              </a:spcAft>
              <a:buSzPts val="1350"/>
              <a:buChar char="▪"/>
              <a:defRPr/>
            </a:lvl4pPr>
            <a:lvl5pPr indent="-314325" lvl="4" marL="2286000" algn="l">
              <a:lnSpc>
                <a:spcPct val="110000"/>
              </a:lnSpc>
              <a:spcBef>
                <a:spcPts val="5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3"/>
          <p:cNvSpPr txBox="1"/>
          <p:nvPr>
            <p:ph idx="12" type="sldNum"/>
          </p:nvPr>
        </p:nvSpPr>
        <p:spPr>
          <a:xfrm>
            <a:off x="11003649" y="6215870"/>
            <a:ext cx="979200" cy="4170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15600" y="517167"/>
            <a:ext cx="113607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1pPr>
            <a:lvl2pPr lvl="1"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2pPr>
            <a:lvl3pPr lvl="2"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3pPr>
            <a:lvl4pPr lvl="3"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4pPr>
            <a:lvl5pPr lvl="4"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5pPr>
            <a:lvl6pPr lvl="5"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6pPr>
            <a:lvl7pPr lvl="6"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7pPr>
            <a:lvl8pPr lvl="7"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8pPr>
            <a:lvl9pPr lvl="8"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9pPr>
          </a:lstStyle>
          <a:p/>
        </p:txBody>
      </p:sp>
      <p:sp>
        <p:nvSpPr>
          <p:cNvPr id="11" name="Google Shape;11;p1"/>
          <p:cNvSpPr txBox="1"/>
          <p:nvPr>
            <p:ph idx="1" type="body"/>
          </p:nvPr>
        </p:nvSpPr>
        <p:spPr>
          <a:xfrm>
            <a:off x="415600" y="1356875"/>
            <a:ext cx="11360700" cy="4748400"/>
          </a:xfrm>
          <a:prstGeom prst="rect">
            <a:avLst/>
          </a:prstGeom>
          <a:noFill/>
          <a:ln>
            <a:noFill/>
          </a:ln>
        </p:spPr>
        <p:txBody>
          <a:bodyPr anchorCtr="0" anchor="t" bIns="121900" lIns="121900" spcFirstLastPara="1" rIns="121900" wrap="square" tIns="121900">
            <a:noAutofit/>
          </a:bodyPr>
          <a:lstStyle>
            <a:lvl1pPr indent="-406400" lvl="0" marL="457200" marR="0" rtl="0" algn="l">
              <a:lnSpc>
                <a:spcPct val="100000"/>
              </a:lnSpc>
              <a:spcBef>
                <a:spcPts val="0"/>
              </a:spcBef>
              <a:spcAft>
                <a:spcPts val="0"/>
              </a:spcAft>
              <a:buClr>
                <a:srgbClr val="000000"/>
              </a:buClr>
              <a:buSzPts val="2800"/>
              <a:buFont typeface="IBM Plex Sans Condensed"/>
              <a:buChar char="●"/>
              <a:defRPr b="0" i="0" sz="2800" u="none" cap="none" strike="noStrike">
                <a:solidFill>
                  <a:srgbClr val="000000"/>
                </a:solidFill>
                <a:latin typeface="IBM Plex Sans Condensed"/>
                <a:ea typeface="IBM Plex Sans Condensed"/>
                <a:cs typeface="IBM Plex Sans Condensed"/>
                <a:sym typeface="IBM Plex Sans Condensed"/>
              </a:defRPr>
            </a:lvl1pPr>
            <a:lvl2pPr indent="-393700" lvl="1" marL="914400" marR="0" rtl="0" algn="l">
              <a:lnSpc>
                <a:spcPct val="100000"/>
              </a:lnSpc>
              <a:spcBef>
                <a:spcPts val="800"/>
              </a:spcBef>
              <a:spcAft>
                <a:spcPts val="0"/>
              </a:spcAft>
              <a:buClr>
                <a:srgbClr val="000000"/>
              </a:buClr>
              <a:buSzPts val="2600"/>
              <a:buFont typeface="IBM Plex Sans Condensed"/>
              <a:buChar char="○"/>
              <a:defRPr b="0" i="0" sz="2600" u="none" cap="none" strike="noStrike">
                <a:solidFill>
                  <a:srgbClr val="000000"/>
                </a:solidFill>
                <a:latin typeface="IBM Plex Sans Condensed"/>
                <a:ea typeface="IBM Plex Sans Condensed"/>
                <a:cs typeface="IBM Plex Sans Condensed"/>
                <a:sym typeface="IBM Plex Sans Condensed"/>
              </a:defRPr>
            </a:lvl2pPr>
            <a:lvl3pPr indent="-381000" lvl="2" marL="13716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3pPr>
            <a:lvl4pPr indent="-381000" lvl="3" marL="18288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4pPr>
            <a:lvl5pPr indent="-381000" lvl="4" marL="22860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5pPr>
            <a:lvl6pPr indent="-381000" lvl="5" marL="27432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6pPr>
            <a:lvl7pPr indent="-381000" lvl="6" marL="32004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7pPr>
            <a:lvl8pPr indent="-381000" lvl="7" marL="36576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8pPr>
            <a:lvl9pPr indent="-381000" lvl="8" marL="4114800" marR="0" rtl="0" algn="l">
              <a:lnSpc>
                <a:spcPct val="100000"/>
              </a:lnSpc>
              <a:spcBef>
                <a:spcPts val="800"/>
              </a:spcBef>
              <a:spcAft>
                <a:spcPts val="80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9pPr>
          </a:lstStyle>
          <a:p/>
        </p:txBody>
      </p:sp>
      <p:sp>
        <p:nvSpPr>
          <p:cNvPr id="12" name="Google Shape;12;p1"/>
          <p:cNvSpPr/>
          <p:nvPr/>
        </p:nvSpPr>
        <p:spPr>
          <a:xfrm>
            <a:off x="0" y="-9719"/>
            <a:ext cx="12192000" cy="261900"/>
          </a:xfrm>
          <a:prstGeom prst="rect">
            <a:avLst/>
          </a:prstGeom>
          <a:solidFill>
            <a:srgbClr val="0C5394"/>
          </a:solidFill>
          <a:ln cap="flat" cmpd="sng" w="9525">
            <a:solidFill>
              <a:srgbClr val="0C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13" name="Google Shape;13;p1"/>
          <p:cNvSpPr/>
          <p:nvPr/>
        </p:nvSpPr>
        <p:spPr>
          <a:xfrm>
            <a:off x="0" y="6615550"/>
            <a:ext cx="12192000" cy="261900"/>
          </a:xfrm>
          <a:prstGeom prst="rect">
            <a:avLst/>
          </a:prstGeom>
          <a:solidFill>
            <a:srgbClr val="0C5394"/>
          </a:solidFill>
          <a:ln cap="flat" cmpd="sng" w="9525">
            <a:solidFill>
              <a:srgbClr val="0C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14" name="Google Shape;14;p1"/>
          <p:cNvSpPr/>
          <p:nvPr/>
        </p:nvSpPr>
        <p:spPr>
          <a:xfrm>
            <a:off x="-50" y="6387300"/>
            <a:ext cx="12192000" cy="353400"/>
          </a:xfrm>
          <a:prstGeom prst="roundRect">
            <a:avLst>
              <a:gd fmla="val 16667" name="adj"/>
            </a:avLst>
          </a:prstGeom>
          <a:solidFill>
            <a:srgbClr val="0C5394"/>
          </a:solidFill>
          <a:ln cap="flat" cmpd="sng" w="9525">
            <a:solidFill>
              <a:srgbClr val="0C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15" name="Google Shape;15;p1"/>
          <p:cNvSpPr txBox="1"/>
          <p:nvPr/>
        </p:nvSpPr>
        <p:spPr>
          <a:xfrm rot="-462626">
            <a:off x="8825224" y="6371287"/>
            <a:ext cx="1824597" cy="43110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D2AE6C"/>
                </a:solidFill>
                <a:latin typeface="Yellowtail"/>
                <a:ea typeface="Yellowtail"/>
                <a:cs typeface="Yellowtail"/>
                <a:sym typeface="Yellowtail"/>
              </a:rPr>
              <a:t>Excellence &amp; Service</a:t>
            </a:r>
            <a:endParaRPr b="0" i="0" sz="1600" u="none" cap="none" strike="noStrike">
              <a:solidFill>
                <a:srgbClr val="D2AE6C"/>
              </a:solidFill>
              <a:latin typeface="Yellowtail"/>
              <a:ea typeface="Yellowtail"/>
              <a:cs typeface="Yellowtail"/>
              <a:sym typeface="Yellowtail"/>
            </a:endParaRPr>
          </a:p>
        </p:txBody>
      </p:sp>
      <p:sp>
        <p:nvSpPr>
          <p:cNvPr id="16" name="Google Shape;16;p1"/>
          <p:cNvSpPr txBox="1"/>
          <p:nvPr/>
        </p:nvSpPr>
        <p:spPr>
          <a:xfrm rot="1419">
            <a:off x="6067858" y="6448425"/>
            <a:ext cx="29064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0" i="0" lang="en-GB" sz="1400" u="none" cap="none" strike="noStrike">
                <a:solidFill>
                  <a:srgbClr val="CCCCCC"/>
                </a:solidFill>
                <a:latin typeface="Archivo Narrow"/>
                <a:ea typeface="Archivo Narrow"/>
                <a:cs typeface="Archivo Narrow"/>
                <a:sym typeface="Archivo Narrow"/>
              </a:rPr>
              <a:t>CHRIST (Deemed to be University)</a:t>
            </a:r>
            <a:endParaRPr b="0" i="0" sz="1400" u="none" cap="none" strike="noStrike">
              <a:solidFill>
                <a:srgbClr val="CCCCCC"/>
              </a:solidFill>
              <a:latin typeface="Archivo Narrow"/>
              <a:ea typeface="Archivo Narrow"/>
              <a:cs typeface="Archivo Narrow"/>
              <a:sym typeface="Archivo Narrow"/>
            </a:endParaRPr>
          </a:p>
        </p:txBody>
      </p:sp>
      <p:sp>
        <p:nvSpPr>
          <p:cNvPr id="17" name="Google Shape;17;p1"/>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18" name="Google Shape;18;p1" title="CU logo crest Gold.png"/>
          <p:cNvPicPr preferRelativeResize="0"/>
          <p:nvPr/>
        </p:nvPicPr>
        <p:blipFill rotWithShape="1">
          <a:blip r:embed="rId1">
            <a:alphaModFix amt="3000"/>
          </a:blip>
          <a:srcRect b="0" l="0" r="0" t="0"/>
          <a:stretch/>
        </p:blipFill>
        <p:spPr>
          <a:xfrm>
            <a:off x="8140250" y="2136400"/>
            <a:ext cx="3984660" cy="39688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411480" y="1920240"/>
            <a:ext cx="11338560" cy="868680"/>
          </a:xfrm>
        </p:spPr>
        <p:txBody>
          <a:bodyPr wrap="square" anchor="ctr" lIns="0" tIns="0" rIns="0" bIns="0"/>
          <a:lstStyle/>
          <a:p>
            <a:pPr algn="ctr"/>
            <a:r>
              <a:rPr sz="4800" b="1" i="0">
                <a:solidFill>
                  <a:srgbClr val="D2AE6C"/>
                </a:solidFill>
                <a:latin typeface="Urbanist"/>
              </a:rPr>
              <a:t>SYNTHETIC SILENCE 2.0</a:t>
            </a:r>
          </a:p>
        </p:txBody>
      </p:sp>
      <p:sp>
        <p:nvSpPr>
          <p:cNvPr id="3" name="Subtitle 2"/>
          <p:cNvSpPr>
            <a:spLocks noGrp="1"/>
          </p:cNvSpPr>
          <p:nvPr>
            <p:ph type="subTitle" idx="1"/>
          </p:nvPr>
        </p:nvSpPr>
        <p:spPr>
          <a:xfrm>
            <a:off x="1280160" y="2788920"/>
            <a:ext cx="9601200" cy="868680"/>
          </a:xfrm>
        </p:spPr>
        <p:txBody>
          <a:bodyPr wrap="square" anchor="t" lIns="0" tIns="0" rIns="0" bIns="0"/>
          <a:lstStyle/>
          <a:p>
            <a:pPr algn="ctr"/>
            <a:r>
              <a:rPr sz="1900" b="1" i="0">
                <a:solidFill>
                  <a:srgbClr val="0C5394"/>
                </a:solidFill>
                <a:latin typeface="Urbanist"/>
              </a:rPr>
              <a:t>Auditing language-model answers against sources: deterministic verdict rules, provable properties and a validation on FEVER</a:t>
            </a:r>
          </a:p>
        </p:txBody>
      </p:sp>
      <p:sp>
        <p:nvSpPr>
          <p:cNvPr id="4" name="Review label"/>
          <p:cNvSpPr txBox="1"/>
          <p:nvPr/>
        </p:nvSpPr>
        <p:spPr>
          <a:xfrm>
            <a:off x="411480" y="1572768"/>
            <a:ext cx="11338560" cy="365760"/>
          </a:xfrm>
          <a:prstGeom prst="rect">
            <a:avLst/>
          </a:prstGeom>
          <a:noFill/>
        </p:spPr>
        <p:txBody>
          <a:bodyPr wrap="square" anchor="t" lIns="0" tIns="0" rIns="0" bIns="0"/>
          <a:lstStyle/>
          <a:p>
            <a:pPr algn="ctr"/>
            <a:r>
              <a:rPr sz="1600" b="1" i="0">
                <a:solidFill>
                  <a:srgbClr val="0C5394"/>
                </a:solidFill>
                <a:latin typeface="Urbanist"/>
              </a:rPr>
              <a:t>RESEARCH IMPLEMENTATION REVIEW 1</a:t>
            </a:r>
          </a:p>
        </p:txBody>
      </p:sp>
      <p:sp>
        <p:nvSpPr>
          <p:cNvPr id="5" name="Verdict chip supported"/>
          <p:cNvSpPr/>
          <p:nvPr/>
        </p:nvSpPr>
        <p:spPr>
          <a:xfrm>
            <a:off x="2872587" y="3749039"/>
            <a:ext cx="1508760" cy="365760"/>
          </a:xfrm>
          <a:prstGeom prst="roundRect">
            <a:avLst>
              <a:gd name="adj" fmla="val 50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Urbanist"/>
              </a:rPr>
              <a:t>supported</a:t>
            </a:r>
          </a:p>
        </p:txBody>
      </p:sp>
      <p:sp>
        <p:nvSpPr>
          <p:cNvPr id="6" name="Verdict chip refuted"/>
          <p:cNvSpPr/>
          <p:nvPr/>
        </p:nvSpPr>
        <p:spPr>
          <a:xfrm>
            <a:off x="4518507" y="3749039"/>
            <a:ext cx="1508760" cy="365760"/>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Urbanist"/>
              </a:rPr>
              <a:t>refuted</a:t>
            </a:r>
          </a:p>
        </p:txBody>
      </p:sp>
      <p:sp>
        <p:nvSpPr>
          <p:cNvPr id="7" name="Verdict chip mixed"/>
          <p:cNvSpPr/>
          <p:nvPr/>
        </p:nvSpPr>
        <p:spPr>
          <a:xfrm>
            <a:off x="6164427" y="3749039"/>
            <a:ext cx="1508760" cy="365760"/>
          </a:xfrm>
          <a:prstGeom prst="roundRect">
            <a:avLst>
              <a:gd name="adj" fmla="val 50000"/>
            </a:avLst>
          </a:prstGeom>
          <a:solidFill>
            <a:srgbClr val="D2AE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1A2332"/>
                </a:solidFill>
                <a:latin typeface="Urbanist"/>
              </a:rPr>
              <a:t>mixed</a:t>
            </a:r>
          </a:p>
        </p:txBody>
      </p:sp>
      <p:sp>
        <p:nvSpPr>
          <p:cNvPr id="8" name="Verdict chip insufficient"/>
          <p:cNvSpPr/>
          <p:nvPr/>
        </p:nvSpPr>
        <p:spPr>
          <a:xfrm>
            <a:off x="7810347" y="3749039"/>
            <a:ext cx="1508760" cy="365760"/>
          </a:xfrm>
          <a:prstGeom prst="roundRect">
            <a:avLst>
              <a:gd name="adj" fmla="val 5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Urbanist"/>
              </a:rPr>
              <a:t>insufficient</a:t>
            </a:r>
          </a:p>
        </p:txBody>
      </p:sp>
      <p:sp>
        <p:nvSpPr>
          <p:cNvPr id="9" name="Authors"/>
          <p:cNvSpPr txBox="1"/>
          <p:nvPr/>
        </p:nvSpPr>
        <p:spPr>
          <a:xfrm>
            <a:off x="411480" y="4297680"/>
            <a:ext cx="11338560" cy="365760"/>
          </a:xfrm>
          <a:prstGeom prst="rect">
            <a:avLst/>
          </a:prstGeom>
          <a:noFill/>
        </p:spPr>
        <p:txBody>
          <a:bodyPr wrap="square" anchor="t" lIns="0" tIns="0" rIns="0" bIns="0"/>
          <a:lstStyle/>
          <a:p>
            <a:pPr algn="ctr"/>
            <a:r>
              <a:rPr sz="2000" b="1" i="0">
                <a:solidFill>
                  <a:srgbClr val="0C5394"/>
                </a:solidFill>
                <a:latin typeface="Urbanist"/>
              </a:rPr>
              <a:t>Piush Kole (2548421)   |   Thrilok M (2548430)</a:t>
            </a:r>
          </a:p>
        </p:txBody>
      </p:sp>
      <p:sp>
        <p:nvSpPr>
          <p:cNvPr id="10" name="Guide"/>
          <p:cNvSpPr txBox="1"/>
          <p:nvPr/>
        </p:nvSpPr>
        <p:spPr>
          <a:xfrm>
            <a:off x="411480" y="4709160"/>
            <a:ext cx="11338560" cy="365760"/>
          </a:xfrm>
          <a:prstGeom prst="rect">
            <a:avLst/>
          </a:prstGeom>
          <a:noFill/>
        </p:spPr>
        <p:txBody>
          <a:bodyPr wrap="square" anchor="t" lIns="0" tIns="0" rIns="0" bIns="0"/>
          <a:lstStyle/>
          <a:p>
            <a:pPr algn="ctr"/>
            <a:r>
              <a:rPr sz="1800" b="1" i="0">
                <a:solidFill>
                  <a:srgbClr val="0C5394"/>
                </a:solidFill>
                <a:latin typeface="Urbanist"/>
              </a:rPr>
              <a:t>Guided by: Dr. Deepa BG.</a:t>
            </a:r>
          </a:p>
        </p:txBody>
      </p:sp>
      <p:sp>
        <p:nvSpPr>
          <p:cNvPr id="11" name="Department"/>
          <p:cNvSpPr txBox="1"/>
          <p:nvPr/>
        </p:nvSpPr>
        <p:spPr>
          <a:xfrm>
            <a:off x="411480" y="5120640"/>
            <a:ext cx="11338560" cy="320040"/>
          </a:xfrm>
          <a:prstGeom prst="rect">
            <a:avLst/>
          </a:prstGeom>
          <a:noFill/>
        </p:spPr>
        <p:txBody>
          <a:bodyPr wrap="square" anchor="t" lIns="0" tIns="0" rIns="0" bIns="0"/>
          <a:lstStyle/>
          <a:p>
            <a:pPr algn="ctr"/>
            <a:r>
              <a:rPr sz="1400" b="0" i="0">
                <a:solidFill>
                  <a:srgbClr val="5B6B80"/>
                </a:solidFill>
                <a:latin typeface="Urbanist"/>
              </a:rPr>
              <a:t>Department of Computer Science, Christ University</a:t>
            </a:r>
          </a:p>
        </p:txBody>
      </p:sp>
      <p:sp>
        <p:nvSpPr>
          <p:cNvPr id="22" name="Google Shape;22;p2"/>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384048"/>
            <a:ext cx="11338560" cy="731520"/>
          </a:xfrm>
        </p:spPr>
        <p:txBody>
          <a:bodyPr wrap="square" anchor="ctr" lIns="0" tIns="0" rIns="0" bIns="0"/>
          <a:lstStyle/>
          <a:p>
            <a:pPr algn="l"/>
            <a:r>
              <a:rPr sz="2800" b="1" i="0">
                <a:solidFill>
                  <a:srgbClr val="D2AE6C"/>
                </a:solidFill>
                <a:latin typeface="Urbanist"/>
              </a:rPr>
              <a:t>THE PROBLEM: NO WAY TO CHECK AN LLM ANSWER</a:t>
            </a:r>
          </a:p>
        </p:txBody>
      </p:sp>
      <p:sp>
        <p:nvSpPr>
          <p:cNvPr id="49" name="Google Shape;49;p6"/>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50" name="Problem card 1"/>
          <p:cNvSpPr/>
          <p:nvPr/>
        </p:nvSpPr>
        <p:spPr>
          <a:xfrm>
            <a:off x="548640" y="1325880"/>
            <a:ext cx="3566160" cy="3017520"/>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tIns="960120" rIns="274320" bIns="182880"/>
          <a:lstStyle/>
          <a:p>
            <a:pPr algn="l">
              <a:spcAft>
                <a:spcPts val="400"/>
              </a:spcAft>
            </a:pPr>
            <a:r>
              <a:rPr sz="1900" b="1" i="0">
                <a:solidFill>
                  <a:srgbClr val="0C5394"/>
                </a:solidFill>
                <a:latin typeface="Urbanist"/>
              </a:rPr>
              <a:t>Fluent and specific</a:t>
            </a:r>
          </a:p>
          <a:p>
            <a:pPr algn="l"/>
            <a:r>
              <a:rPr sz="1500" b="0" i="0">
                <a:solidFill>
                  <a:srgbClr val="1A2332"/>
                </a:solidFill>
                <a:latin typeface="Urbanist"/>
              </a:rPr>
              <a:t>Names, dates and figures make an invented fact look like a recalled one.</a:t>
            </a:r>
          </a:p>
        </p:txBody>
      </p:sp>
      <p:sp>
        <p:nvSpPr>
          <p:cNvPr id="51" name="Problem number 1"/>
          <p:cNvSpPr/>
          <p:nvPr/>
        </p:nvSpPr>
        <p:spPr>
          <a:xfrm>
            <a:off x="822959" y="1554480"/>
            <a:ext cx="640080" cy="640080"/>
          </a:xfrm>
          <a:prstGeom prst="ellipse">
            <a:avLst/>
          </a:prstGeom>
          <a:solidFill>
            <a:srgbClr val="D2AE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200" b="1" i="0">
                <a:solidFill>
                  <a:srgbClr val="1A2332"/>
                </a:solidFill>
                <a:latin typeface="Urbanist"/>
              </a:rPr>
              <a:t>1</a:t>
            </a:r>
          </a:p>
        </p:txBody>
      </p:sp>
      <p:sp>
        <p:nvSpPr>
          <p:cNvPr id="52" name="Problem card 2"/>
          <p:cNvSpPr/>
          <p:nvPr/>
        </p:nvSpPr>
        <p:spPr>
          <a:xfrm>
            <a:off x="4297679" y="1325880"/>
            <a:ext cx="3566160" cy="3017520"/>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tIns="960120" rIns="274320" bIns="182880"/>
          <a:lstStyle/>
          <a:p>
            <a:pPr algn="l">
              <a:spcAft>
                <a:spcPts val="400"/>
              </a:spcAft>
            </a:pPr>
            <a:r>
              <a:rPr sz="1900" b="1" i="0">
                <a:solidFill>
                  <a:srgbClr val="0C5394"/>
                </a:solidFill>
                <a:latin typeface="Urbanist"/>
              </a:rPr>
              <a:t>No marker</a:t>
            </a:r>
          </a:p>
          <a:p>
            <a:pPr algn="l"/>
            <a:r>
              <a:rPr sz="1500" b="0" i="0">
                <a:solidFill>
                  <a:srgbClr val="1A2332"/>
                </a:solidFill>
                <a:latin typeface="Urbanist"/>
              </a:rPr>
              <a:t>A reader cannot tell recall from invention. Larger models can repeat common misconceptions more often (Lin et al., 2022).</a:t>
            </a:r>
          </a:p>
        </p:txBody>
      </p:sp>
      <p:sp>
        <p:nvSpPr>
          <p:cNvPr id="53" name="Problem number 2"/>
          <p:cNvSpPr/>
          <p:nvPr/>
        </p:nvSpPr>
        <p:spPr>
          <a:xfrm>
            <a:off x="4571999" y="1554480"/>
            <a:ext cx="640080" cy="640080"/>
          </a:xfrm>
          <a:prstGeom prst="ellipse">
            <a:avLst/>
          </a:prstGeom>
          <a:solidFill>
            <a:srgbClr val="D2AE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200" b="1" i="0">
                <a:solidFill>
                  <a:srgbClr val="1A2332"/>
                </a:solidFill>
                <a:latin typeface="Urbanist"/>
              </a:rPr>
              <a:t>2</a:t>
            </a:r>
          </a:p>
        </p:txBody>
      </p:sp>
      <p:sp>
        <p:nvSpPr>
          <p:cNvPr id="54" name="Problem card 3"/>
          <p:cNvSpPr/>
          <p:nvPr/>
        </p:nvSpPr>
        <p:spPr>
          <a:xfrm>
            <a:off x="8046719" y="1325880"/>
            <a:ext cx="3566160" cy="3017520"/>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tIns="960120" rIns="274320" bIns="182880"/>
          <a:lstStyle/>
          <a:p>
            <a:pPr algn="l">
              <a:spcAft>
                <a:spcPts val="400"/>
              </a:spcAft>
            </a:pPr>
            <a:r>
              <a:rPr sz="1900" b="1" i="0">
                <a:solidFill>
                  <a:srgbClr val="0C5394"/>
                </a:solidFill>
                <a:latin typeface="Urbanist"/>
              </a:rPr>
              <a:t>Silence on failure</a:t>
            </a:r>
          </a:p>
          <a:p>
            <a:pPr algn="l"/>
            <a:r>
              <a:rPr sz="1500" b="0" i="0">
                <a:solidFill>
                  <a:srgbClr val="1A2332"/>
                </a:solidFill>
                <a:latin typeface="Urbanist"/>
              </a:rPr>
              <a:t>A failed search, a missing source and a disagreeing source must not look like the same outcome.</a:t>
            </a:r>
          </a:p>
        </p:txBody>
      </p:sp>
      <p:sp>
        <p:nvSpPr>
          <p:cNvPr id="55" name="Problem number 3"/>
          <p:cNvSpPr/>
          <p:nvPr/>
        </p:nvSpPr>
        <p:spPr>
          <a:xfrm>
            <a:off x="8321040" y="1554480"/>
            <a:ext cx="640080" cy="640080"/>
          </a:xfrm>
          <a:prstGeom prst="ellipse">
            <a:avLst/>
          </a:prstGeom>
          <a:solidFill>
            <a:srgbClr val="D2AE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200" b="1" i="0">
                <a:solidFill>
                  <a:srgbClr val="1A2332"/>
                </a:solidFill>
                <a:latin typeface="Urbanist"/>
              </a:rPr>
              <a:t>3</a:t>
            </a:r>
          </a:p>
        </p:txBody>
      </p:sp>
      <p:sp>
        <p:nvSpPr>
          <p:cNvPr id="56" name="Problem statement"/>
          <p:cNvSpPr/>
          <p:nvPr/>
        </p:nvSpPr>
        <p:spPr>
          <a:xfrm>
            <a:off x="548640" y="4572000"/>
            <a:ext cx="11064240" cy="1600200"/>
          </a:xfrm>
          <a:prstGeom prst="roundRect">
            <a:avLst>
              <a:gd name="adj" fmla="val 7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tIns="91440" rIns="320040" bIns="91440"/>
          <a:lstStyle/>
          <a:p>
            <a:pPr algn="l">
              <a:spcAft>
                <a:spcPts val="400"/>
              </a:spcAft>
            </a:pPr>
            <a:r>
              <a:rPr sz="1400" b="1" i="0">
                <a:solidFill>
                  <a:srgbClr val="D2AE6C"/>
                </a:solidFill>
                <a:latin typeface="Urbanist"/>
              </a:rPr>
              <a:t>PROBLEM STATEMENT</a:t>
            </a:r>
          </a:p>
          <a:p>
            <a:pPr algn="l"/>
            <a:r>
              <a:rPr sz="1900" b="0" i="0">
                <a:solidFill>
                  <a:srgbClr val="FFFFFF"/>
                </a:solidFill>
                <a:latin typeface="Urbanist"/>
              </a:rPr>
              <a:t>Given an answer written by a language model, return one verdict per claim that a reader can trace to a quoted sentence in a source, and keep “no evidence” apart from “the check failed”.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384048"/>
            <a:ext cx="11338560" cy="731520"/>
          </a:xfrm>
        </p:spPr>
        <p:txBody>
          <a:bodyPr wrap="square" anchor="ctr" lIns="0" tIns="0" rIns="0" bIns="0"/>
          <a:lstStyle/>
          <a:p>
            <a:pPr algn="l"/>
            <a:r>
              <a:rPr sz="2800" b="1" i="0">
                <a:solidFill>
                  <a:srgbClr val="D2AE6C"/>
                </a:solidFill>
                <a:latin typeface="Urbanist"/>
              </a:rPr>
              <a:t>OBJECTIVES AND RESEARCH QUESTIONS</a:t>
            </a:r>
          </a:p>
        </p:txBody>
      </p:sp>
      <p:sp>
        <p:nvSpPr>
          <p:cNvPr id="49" name="Google Shape;49;p6"/>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50" name="Objective number 1"/>
          <p:cNvSpPr/>
          <p:nvPr/>
        </p:nvSpPr>
        <p:spPr>
          <a:xfrm>
            <a:off x="548640" y="1463040"/>
            <a:ext cx="621792" cy="621792"/>
          </a:xfrm>
          <a:prstGeom prst="ellipse">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i="0">
                <a:solidFill>
                  <a:srgbClr val="FFFFFF"/>
                </a:solidFill>
                <a:latin typeface="Urbanist"/>
              </a:rPr>
              <a:t>1</a:t>
            </a:r>
          </a:p>
        </p:txBody>
      </p:sp>
      <p:sp>
        <p:nvSpPr>
          <p:cNvPr id="51" name="Objective 1"/>
          <p:cNvSpPr txBox="1"/>
          <p:nvPr/>
        </p:nvSpPr>
        <p:spPr>
          <a:xfrm>
            <a:off x="1417320" y="1371600"/>
            <a:ext cx="5760720" cy="822960"/>
          </a:xfrm>
          <a:prstGeom prst="rect">
            <a:avLst/>
          </a:prstGeom>
          <a:noFill/>
        </p:spPr>
        <p:txBody>
          <a:bodyPr wrap="square" anchor="ctr" lIns="0" tIns="0" rIns="0" bIns="0"/>
          <a:lstStyle/>
          <a:p>
            <a:pPr algn="l">
              <a:spcAft>
                <a:spcPts val="100"/>
              </a:spcAft>
            </a:pPr>
            <a:r>
              <a:rPr sz="1800" b="1" i="0">
                <a:solidFill>
                  <a:srgbClr val="0C5394"/>
                </a:solidFill>
                <a:latin typeface="Urbanist"/>
              </a:rPr>
              <a:t>Verdict procedure</a:t>
            </a:r>
          </a:p>
          <a:p>
            <a:pPr algn="l"/>
            <a:r>
              <a:rPr sz="1400" b="0" i="0">
                <a:solidFill>
                  <a:srgbClr val="5B6B80"/>
                </a:solidFill>
                <a:latin typeface="Urbanist"/>
              </a:rPr>
              <a:t>Per-source stances with a verbatim quote; five outcomes.</a:t>
            </a:r>
          </a:p>
        </p:txBody>
      </p:sp>
      <p:sp>
        <p:nvSpPr>
          <p:cNvPr id="52" name="Objective number 2"/>
          <p:cNvSpPr/>
          <p:nvPr/>
        </p:nvSpPr>
        <p:spPr>
          <a:xfrm>
            <a:off x="548640" y="2414016"/>
            <a:ext cx="621792" cy="621792"/>
          </a:xfrm>
          <a:prstGeom prst="ellipse">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i="0">
                <a:solidFill>
                  <a:srgbClr val="FFFFFF"/>
                </a:solidFill>
                <a:latin typeface="Urbanist"/>
              </a:rPr>
              <a:t>2</a:t>
            </a:r>
          </a:p>
        </p:txBody>
      </p:sp>
      <p:sp>
        <p:nvSpPr>
          <p:cNvPr id="53" name="Objective 2"/>
          <p:cNvSpPr txBox="1"/>
          <p:nvPr/>
        </p:nvSpPr>
        <p:spPr>
          <a:xfrm>
            <a:off x="1417320" y="2322576"/>
            <a:ext cx="5760720" cy="822960"/>
          </a:xfrm>
          <a:prstGeom prst="rect">
            <a:avLst/>
          </a:prstGeom>
          <a:noFill/>
        </p:spPr>
        <p:txBody>
          <a:bodyPr wrap="square" anchor="ctr" lIns="0" tIns="0" rIns="0" bIns="0"/>
          <a:lstStyle/>
          <a:p>
            <a:pPr algn="l">
              <a:spcAft>
                <a:spcPts val="100"/>
              </a:spcAft>
            </a:pPr>
            <a:r>
              <a:rPr sz="1800" b="1" i="0">
                <a:solidFill>
                  <a:srgbClr val="0C5394"/>
                </a:solidFill>
                <a:latin typeface="Urbanist"/>
              </a:rPr>
              <a:t>Provable properties</a:t>
            </a:r>
          </a:p>
          <a:p>
            <a:pPr algn="l"/>
            <a:r>
              <a:rPr sz="1400" b="0" i="0">
                <a:solidFill>
                  <a:srgbClr val="5B6B80"/>
                </a:solidFill>
                <a:latin typeface="Urbanist"/>
              </a:rPr>
              <a:t>Prove them for the rules and two earlier scores; check against the code.</a:t>
            </a:r>
          </a:p>
        </p:txBody>
      </p:sp>
      <p:sp>
        <p:nvSpPr>
          <p:cNvPr id="54" name="Objective number 3"/>
          <p:cNvSpPr/>
          <p:nvPr/>
        </p:nvSpPr>
        <p:spPr>
          <a:xfrm>
            <a:off x="548640" y="3364992"/>
            <a:ext cx="621792" cy="621792"/>
          </a:xfrm>
          <a:prstGeom prst="ellipse">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i="0">
                <a:solidFill>
                  <a:srgbClr val="FFFFFF"/>
                </a:solidFill>
                <a:latin typeface="Urbanist"/>
              </a:rPr>
              <a:t>3</a:t>
            </a:r>
          </a:p>
        </p:txBody>
      </p:sp>
      <p:sp>
        <p:nvSpPr>
          <p:cNvPr id="55" name="Objective 3"/>
          <p:cNvSpPr txBox="1"/>
          <p:nvPr/>
        </p:nvSpPr>
        <p:spPr>
          <a:xfrm>
            <a:off x="1417320" y="3273552"/>
            <a:ext cx="5760720" cy="822960"/>
          </a:xfrm>
          <a:prstGeom prst="rect">
            <a:avLst/>
          </a:prstGeom>
          <a:noFill/>
        </p:spPr>
        <p:txBody>
          <a:bodyPr wrap="square" anchor="ctr" lIns="0" tIns="0" rIns="0" bIns="0"/>
          <a:lstStyle/>
          <a:p>
            <a:pPr algn="l">
              <a:spcAft>
                <a:spcPts val="100"/>
              </a:spcAft>
            </a:pPr>
            <a:r>
              <a:rPr sz="1800" b="1" i="0">
                <a:solidFill>
                  <a:srgbClr val="0C5394"/>
                </a:solidFill>
                <a:latin typeface="Urbanist"/>
              </a:rPr>
              <a:t>Validation on FEVER</a:t>
            </a:r>
          </a:p>
          <a:p>
            <a:pPr algn="l"/>
            <a:r>
              <a:rPr sz="1400" b="0" i="0">
                <a:solidFill>
                  <a:srgbClr val="5B6B80"/>
                </a:solidFill>
                <a:latin typeface="Urbanist"/>
              </a:rPr>
              <a:t>Confusion matrices, Wilson intervals, paired exact tests.</a:t>
            </a:r>
          </a:p>
        </p:txBody>
      </p:sp>
      <p:sp>
        <p:nvSpPr>
          <p:cNvPr id="56" name="Objective number 4"/>
          <p:cNvSpPr/>
          <p:nvPr/>
        </p:nvSpPr>
        <p:spPr>
          <a:xfrm>
            <a:off x="548640" y="4315968"/>
            <a:ext cx="621792" cy="621792"/>
          </a:xfrm>
          <a:prstGeom prst="ellipse">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i="0">
                <a:solidFill>
                  <a:srgbClr val="FFFFFF"/>
                </a:solidFill>
                <a:latin typeface="Urbanist"/>
              </a:rPr>
              <a:t>4</a:t>
            </a:r>
          </a:p>
        </p:txBody>
      </p:sp>
      <p:sp>
        <p:nvSpPr>
          <p:cNvPr id="57" name="Objective 4"/>
          <p:cNvSpPr txBox="1"/>
          <p:nvPr/>
        </p:nvSpPr>
        <p:spPr>
          <a:xfrm>
            <a:off x="1417320" y="4224528"/>
            <a:ext cx="5760720" cy="822960"/>
          </a:xfrm>
          <a:prstGeom prst="rect">
            <a:avLst/>
          </a:prstGeom>
          <a:noFill/>
        </p:spPr>
        <p:txBody>
          <a:bodyPr wrap="square" anchor="ctr" lIns="0" tIns="0" rIns="0" bIns="0"/>
          <a:lstStyle/>
          <a:p>
            <a:pPr algn="l">
              <a:spcAft>
                <a:spcPts val="100"/>
              </a:spcAft>
            </a:pPr>
            <a:r>
              <a:rPr sz="1800" b="1" i="0">
                <a:solidFill>
                  <a:srgbClr val="0C5394"/>
                </a:solidFill>
                <a:latin typeface="Urbanist"/>
              </a:rPr>
              <a:t>Explicit failure</a:t>
            </a:r>
          </a:p>
          <a:p>
            <a:pPr algn="l"/>
            <a:r>
              <a:rPr sz="1400" b="0" i="0">
                <a:solidFill>
                  <a:srgbClr val="5B6B80"/>
                </a:solidFill>
                <a:latin typeface="Urbanist"/>
              </a:rPr>
              <a:t>An outage is an error for that claim, never “no sources”.</a:t>
            </a:r>
          </a:p>
        </p:txBody>
      </p:sp>
      <p:sp>
        <p:nvSpPr>
          <p:cNvPr id="58" name="Objective number 5"/>
          <p:cNvSpPr/>
          <p:nvPr/>
        </p:nvSpPr>
        <p:spPr>
          <a:xfrm>
            <a:off x="548640" y="5266944"/>
            <a:ext cx="621792" cy="621792"/>
          </a:xfrm>
          <a:prstGeom prst="ellipse">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i="0">
                <a:solidFill>
                  <a:srgbClr val="FFFFFF"/>
                </a:solidFill>
                <a:latin typeface="Urbanist"/>
              </a:rPr>
              <a:t>5</a:t>
            </a:r>
          </a:p>
        </p:txBody>
      </p:sp>
      <p:sp>
        <p:nvSpPr>
          <p:cNvPr id="59" name="Objective 5"/>
          <p:cNvSpPr txBox="1"/>
          <p:nvPr/>
        </p:nvSpPr>
        <p:spPr>
          <a:xfrm>
            <a:off x="1417320" y="5175504"/>
            <a:ext cx="5760720" cy="822960"/>
          </a:xfrm>
          <a:prstGeom prst="rect">
            <a:avLst/>
          </a:prstGeom>
          <a:noFill/>
        </p:spPr>
        <p:txBody>
          <a:bodyPr wrap="square" anchor="ctr" lIns="0" tIns="0" rIns="0" bIns="0"/>
          <a:lstStyle/>
          <a:p>
            <a:pPr algn="l">
              <a:spcAft>
                <a:spcPts val="100"/>
              </a:spcAft>
            </a:pPr>
            <a:r>
              <a:rPr sz="1800" b="1" i="0">
                <a:solidFill>
                  <a:srgbClr val="0C5394"/>
                </a:solidFill>
                <a:latin typeface="Urbanist"/>
              </a:rPr>
              <a:t>Working tool</a:t>
            </a:r>
          </a:p>
          <a:p>
            <a:pPr algn="l"/>
            <a:r>
              <a:rPr sz="1400" b="0" i="0">
                <a:solidFill>
                  <a:srgbClr val="5B6B80"/>
                </a:solidFill>
                <a:latin typeface="Urbanist"/>
              </a:rPr>
              <a:t>Chrome extension on a FastAPI backend, plus a cross-model audit protocol.</a:t>
            </a:r>
          </a:p>
        </p:txBody>
      </p:sp>
      <p:sp>
        <p:nvSpPr>
          <p:cNvPr id="60" name="Research questions"/>
          <p:cNvSpPr/>
          <p:nvPr/>
        </p:nvSpPr>
        <p:spPr>
          <a:xfrm>
            <a:off x="7498079" y="1371600"/>
            <a:ext cx="4114800" cy="4709160"/>
          </a:xfrm>
          <a:prstGeom prst="roundRect">
            <a:avLst>
              <a:gd name="adj" fmla="val 7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tIns="274320" rIns="274320" bIns="182880"/>
          <a:lstStyle/>
          <a:p>
            <a:pPr algn="l">
              <a:spcAft>
                <a:spcPts val="1200"/>
              </a:spcAft>
            </a:pPr>
            <a:r>
              <a:rPr sz="1800" b="1" i="0">
                <a:solidFill>
                  <a:srgbClr val="D2AE6C"/>
                </a:solidFill>
                <a:latin typeface="Urbanist"/>
              </a:rPr>
              <a:t>RESEARCH QUESTIONS</a:t>
            </a:r>
          </a:p>
          <a:p>
            <a:pPr algn="l">
              <a:spcAft>
                <a:spcPts val="1400"/>
              </a:spcAft>
            </a:pPr>
            <a:r>
              <a:rPr sz="1600" b="1" i="0">
                <a:solidFill>
                  <a:srgbClr val="D2AE6C"/>
                </a:solidFill>
                <a:latin typeface="Urbanist"/>
              </a:rPr>
              <a:t>RQ1  </a:t>
            </a:r>
            <a:r>
              <a:rPr sz="1600" b="0" i="0">
                <a:solidFill>
                  <a:srgbClr val="FFFFFF"/>
                </a:solidFill>
                <a:latin typeface="Urbanist"/>
              </a:rPr>
              <a:t>Does the retrieval source or the aggregation rule matter more for decisive claims?</a:t>
            </a:r>
          </a:p>
          <a:p>
            <a:pPr algn="l">
              <a:spcAft>
                <a:spcPts val="1400"/>
              </a:spcAft>
            </a:pPr>
            <a:r>
              <a:rPr sz="1600" b="1" i="0">
                <a:solidFill>
                  <a:srgbClr val="D2AE6C"/>
                </a:solidFill>
                <a:latin typeface="Urbanist"/>
              </a:rPr>
              <a:t>RQ2  </a:t>
            </a:r>
            <a:r>
              <a:rPr sz="1600" b="0" i="0">
                <a:solidFill>
                  <a:srgbClr val="FFFFFF"/>
                </a:solidFill>
                <a:latin typeface="Urbanist"/>
              </a:rPr>
              <a:t>Can a pooled entailment score abstain when sources do not mention a claim?</a:t>
            </a:r>
          </a:p>
          <a:p>
            <a:pPr algn="l"/>
            <a:r>
              <a:rPr sz="1600" b="1" i="0">
                <a:solidFill>
                  <a:srgbClr val="D2AE6C"/>
                </a:solidFill>
                <a:latin typeface="Urbanist"/>
              </a:rPr>
              <a:t>RQ3  </a:t>
            </a:r>
            <a:r>
              <a:rPr sz="1600" b="0" i="0">
                <a:solidFill>
                  <a:srgbClr val="FFFFFF"/>
                </a:solidFill>
                <a:latin typeface="Urbanist"/>
              </a:rPr>
              <a:t>Does a density or entropy score track whether evidence supports a claim?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384048"/>
            <a:ext cx="11338560" cy="731520"/>
          </a:xfrm>
        </p:spPr>
        <p:txBody>
          <a:bodyPr wrap="square" anchor="ctr" lIns="0" tIns="0" rIns="0" bIns="0"/>
          <a:lstStyle/>
          <a:p>
            <a:pPr algn="l"/>
            <a:r>
              <a:rPr sz="2800" b="1" i="0">
                <a:solidFill>
                  <a:srgbClr val="D2AE6C"/>
                </a:solidFill>
                <a:latin typeface="Urbanist"/>
              </a:rPr>
              <a:t>LITERATURE SURVEY AND EXISTING WORK</a:t>
            </a:r>
          </a:p>
        </p:txBody>
      </p:sp>
      <p:sp>
        <p:nvSpPr>
          <p:cNvPr id="49" name="Google Shape;49;p6"/>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graphicFrame>
        <p:nvGraphicFramePr>
          <p:cNvPr id="50" name="Literature table"/>
          <p:cNvGraphicFramePr>
            <a:graphicFrameLocks noGrp="1"/>
          </p:cNvGraphicFramePr>
          <p:nvPr/>
        </p:nvGraphicFramePr>
        <p:xfrm>
          <a:off x="548640" y="1325880"/>
          <a:ext cx="11064240" cy="4681728"/>
        </p:xfrm>
        <a:graphic>
          <a:graphicData uri="http://schemas.openxmlformats.org/drawingml/2006/table">
            <a:tbl>
              <a:tblPr firstRow="0" bandRow="0">
                <a:tableStyleId>{5C22544A-7EE6-4342-B048-85BDC9FD1C3A}</a:tableStyleId>
              </a:tblPr>
              <a:tblGrid>
                <a:gridCol w="3291840"/>
                <a:gridCol w="4389120"/>
                <a:gridCol w="3383280"/>
              </a:tblGrid>
              <a:tr h="457200">
                <a:tc>
                  <a:txBody>
                    <a:bodyPr wrap="square"/>
                    <a:lstStyle/>
                    <a:p>
                      <a:pPr algn="l"/>
                      <a:r>
                        <a:rPr sz="1400" b="1">
                          <a:solidFill>
                            <a:srgbClr val="1A2332"/>
                          </a:solidFill>
                          <a:latin typeface="Urbanist"/>
                        </a:rPr>
                        <a:t>Work</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c>
                  <a:txBody>
                    <a:bodyPr wrap="square"/>
                    <a:lstStyle/>
                    <a:p>
                      <a:pPr algn="l"/>
                      <a:r>
                        <a:rPr sz="1400" b="1">
                          <a:solidFill>
                            <a:srgbClr val="1A2332"/>
                          </a:solidFill>
                          <a:latin typeface="Urbanist"/>
                        </a:rPr>
                        <a:t>What it does</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c>
                  <a:txBody>
                    <a:bodyPr wrap="square"/>
                    <a:lstStyle/>
                    <a:p>
                      <a:pPr algn="l"/>
                      <a:r>
                        <a:rPr sz="1400" b="1">
                          <a:solidFill>
                            <a:srgbClr val="1A2332"/>
                          </a:solidFill>
                          <a:latin typeface="Urbanist"/>
                        </a:rPr>
                        <a:t>Gap for a reader-side audit</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r>
              <a:tr h="603504">
                <a:tc>
                  <a:txBody>
                    <a:bodyPr wrap="square"/>
                    <a:lstStyle/>
                    <a:p>
                      <a:pPr algn="l"/>
                      <a:r>
                        <a:rPr sz="1300" b="1">
                          <a:solidFill>
                            <a:srgbClr val="1A2332"/>
                          </a:solidFill>
                          <a:latin typeface="Urbanist"/>
                        </a:rPr>
                        <a:t>Guo et al., 2022</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300" b="0">
                          <a:solidFill>
                            <a:srgbClr val="1A2332"/>
                          </a:solidFill>
                          <a:latin typeface="Urbanist"/>
                        </a:rPr>
                        <a:t>Survey: claim detection, retrieval, verdict, justification</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300" b="0">
                          <a:solidFill>
                            <a:srgbClr val="1A2332"/>
                          </a:solidFill>
                          <a:latin typeface="Urbanist"/>
                        </a:rPr>
                        <a:t>Pipeline view; no deployed audit</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r>
              <a:tr h="603504">
                <a:tc>
                  <a:txBody>
                    <a:bodyPr wrap="square"/>
                    <a:lstStyle/>
                    <a:p>
                      <a:pPr algn="l"/>
                      <a:r>
                        <a:rPr sz="1300" b="1">
                          <a:solidFill>
                            <a:srgbClr val="1A2332"/>
                          </a:solidFill>
                          <a:latin typeface="Urbanist"/>
                        </a:rPr>
                        <a:t>Thorne et al., 2018 (FEVER)</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EAF1F8"/>
                    </a:solidFill>
                  </a:tcPr>
                </a:tc>
                <a:tc>
                  <a:txBody>
                    <a:bodyPr wrap="square"/>
                    <a:lstStyle/>
                    <a:p>
                      <a:pPr algn="l"/>
                      <a:r>
                        <a:rPr sz="1300" b="0">
                          <a:solidFill>
                            <a:srgbClr val="1A2332"/>
                          </a:solidFill>
                          <a:latin typeface="Urbanist"/>
                        </a:rPr>
                        <a:t>Wikipedia claims labelled SUPPORTS, REFUTES, NEI</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EAF1F8"/>
                    </a:solidFill>
                  </a:tcPr>
                </a:tc>
                <a:tc>
                  <a:txBody>
                    <a:bodyPr wrap="square"/>
                    <a:lstStyle/>
                    <a:p>
                      <a:pPr algn="l"/>
                      <a:r>
                        <a:rPr sz="1300" b="0">
                          <a:solidFill>
                            <a:srgbClr val="1A2332"/>
                          </a:solidFill>
                          <a:latin typeface="Urbanist"/>
                        </a:rPr>
                        <a:t>Fixed corpus; claims given, not extracted</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EAF1F8"/>
                    </a:solidFill>
                  </a:tcPr>
                </a:tc>
              </a:tr>
              <a:tr h="603504">
                <a:tc>
                  <a:txBody>
                    <a:bodyPr wrap="square"/>
                    <a:lstStyle/>
                    <a:p>
                      <a:pPr algn="l"/>
                      <a:r>
                        <a:rPr sz="1300" b="1">
                          <a:solidFill>
                            <a:srgbClr val="1A2332"/>
                          </a:solidFill>
                          <a:latin typeface="Urbanist"/>
                        </a:rPr>
                        <a:t>Schlichtkrull et al., 2023 (AVeriTeC)</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300" b="0">
                          <a:solidFill>
                            <a:srgbClr val="1A2332"/>
                          </a:solidFill>
                          <a:latin typeface="Urbanist"/>
                        </a:rPr>
                        <a:t>Real-world claims with open-web evidence</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300" b="0">
                          <a:solidFill>
                            <a:srgbClr val="1A2332"/>
                          </a:solidFill>
                          <a:latin typeface="Urbanist"/>
                        </a:rPr>
                        <a:t>A dataset, not a reader-facing verdict</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r>
              <a:tr h="603504">
                <a:tc>
                  <a:txBody>
                    <a:bodyPr wrap="square"/>
                    <a:lstStyle/>
                    <a:p>
                      <a:pPr algn="l"/>
                      <a:r>
                        <a:rPr sz="1300" b="1">
                          <a:solidFill>
                            <a:srgbClr val="1A2332"/>
                          </a:solidFill>
                          <a:latin typeface="Urbanist"/>
                        </a:rPr>
                        <a:t>Manakul et al., 2023 (SelfCheckGPT)</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EAF1F8"/>
                    </a:solidFill>
                  </a:tcPr>
                </a:tc>
                <a:tc>
                  <a:txBody>
                    <a:bodyPr wrap="square"/>
                    <a:lstStyle/>
                    <a:p>
                      <a:pPr algn="l"/>
                      <a:r>
                        <a:rPr sz="1300" b="0">
                          <a:solidFill>
                            <a:srgbClr val="1A2332"/>
                          </a:solidFill>
                          <a:latin typeface="Urbanist"/>
                        </a:rPr>
                        <a:t>Flags hallucination by sampling consistency, no evidence</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EAF1F8"/>
                    </a:solidFill>
                  </a:tcPr>
                </a:tc>
                <a:tc>
                  <a:txBody>
                    <a:bodyPr wrap="square"/>
                    <a:lstStyle/>
                    <a:p>
                      <a:pPr algn="l"/>
                      <a:r>
                        <a:rPr sz="1300" b="0">
                          <a:solidFill>
                            <a:srgbClr val="1A2332"/>
                          </a:solidFill>
                          <a:latin typeface="Urbanist"/>
                        </a:rPr>
                        <a:t>No source sentence to show the reader</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EAF1F8"/>
                    </a:solidFill>
                  </a:tcPr>
                </a:tc>
              </a:tr>
              <a:tr h="603504">
                <a:tc>
                  <a:txBody>
                    <a:bodyPr wrap="square"/>
                    <a:lstStyle/>
                    <a:p>
                      <a:pPr algn="l"/>
                      <a:r>
                        <a:rPr sz="1300" b="1">
                          <a:solidFill>
                            <a:srgbClr val="1A2332"/>
                          </a:solidFill>
                          <a:latin typeface="Urbanist"/>
                        </a:rPr>
                        <a:t>Min et al., 2023 (FActScore)</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300" b="0">
                          <a:solidFill>
                            <a:srgbClr val="1A2332"/>
                          </a:solidFill>
                          <a:latin typeface="Urbanist"/>
                        </a:rPr>
                        <a:t>Share of atomic facts a knowledge source supports</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300" b="0">
                          <a:solidFill>
                            <a:srgbClr val="1A2332"/>
                          </a:solidFill>
                          <a:latin typeface="Urbanist"/>
                        </a:rPr>
                        <a:t>A score, not a quote-backed verdict</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r>
              <a:tr h="603504">
                <a:tc>
                  <a:txBody>
                    <a:bodyPr wrap="square"/>
                    <a:lstStyle/>
                    <a:p>
                      <a:pPr algn="l"/>
                      <a:r>
                        <a:rPr sz="1300" b="1">
                          <a:solidFill>
                            <a:srgbClr val="1A2332"/>
                          </a:solidFill>
                          <a:latin typeface="Urbanist"/>
                        </a:rPr>
                        <a:t>Ji et al., 2023; Lin et al., 2022</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EAF1F8"/>
                    </a:solidFill>
                  </a:tcPr>
                </a:tc>
                <a:tc>
                  <a:txBody>
                    <a:bodyPr wrap="square"/>
                    <a:lstStyle/>
                    <a:p>
                      <a:pPr algn="l"/>
                      <a:r>
                        <a:rPr sz="1300" b="0">
                          <a:solidFill>
                            <a:srgbClr val="1A2332"/>
                          </a:solidFill>
                          <a:latin typeface="Urbanist"/>
                        </a:rPr>
                        <a:t>Hallucination survey; TruthfulQA misconceptions</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EAF1F8"/>
                    </a:solidFill>
                  </a:tcPr>
                </a:tc>
                <a:tc>
                  <a:txBody>
                    <a:bodyPr wrap="square"/>
                    <a:lstStyle/>
                    <a:p>
                      <a:pPr algn="l"/>
                      <a:r>
                        <a:rPr sz="1300" b="0">
                          <a:solidFill>
                            <a:srgbClr val="1A2332"/>
                          </a:solidFill>
                          <a:latin typeface="Urbanist"/>
                        </a:rPr>
                        <a:t>Shows the need, not a tool</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EAF1F8"/>
                    </a:solidFill>
                  </a:tcPr>
                </a:tc>
              </a:tr>
              <a:tr h="603504">
                <a:tc>
                  <a:txBody>
                    <a:bodyPr wrap="square"/>
                    <a:lstStyle/>
                    <a:p>
                      <a:pPr algn="l"/>
                      <a:r>
                        <a:rPr sz="1300" b="1">
                          <a:solidFill>
                            <a:srgbClr val="1A2332"/>
                          </a:solidFill>
                          <a:latin typeface="Urbanist"/>
                        </a:rPr>
                        <a:t>Our earlier study</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6EBD0"/>
                    </a:solidFill>
                  </a:tcPr>
                </a:tc>
                <a:tc>
                  <a:txBody>
                    <a:bodyPr wrap="square"/>
                    <a:lstStyle/>
                    <a:p>
                      <a:pPr algn="l"/>
                      <a:r>
                        <a:rPr sz="1300" b="0">
                          <a:solidFill>
                            <a:srgbClr val="1A2332"/>
                          </a:solidFill>
                          <a:latin typeface="Urbanist"/>
                        </a:rPr>
                        <a:t>Density signal: AUROC 0.546 on FEVER, 0.275 on AVeriTeC</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6EBD0"/>
                    </a:solidFill>
                  </a:tcPr>
                </a:tc>
                <a:tc>
                  <a:txBody>
                    <a:bodyPr wrap="square"/>
                    <a:lstStyle/>
                    <a:p>
                      <a:pPr algn="l"/>
                      <a:r>
                        <a:rPr sz="1300" b="0">
                          <a:solidFill>
                            <a:srgbClr val="1A2332"/>
                          </a:solidFill>
                          <a:latin typeface="Urbanist"/>
                        </a:rPr>
                        <a:t>Does not track support, hence this work</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6EBD0"/>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384048"/>
            <a:ext cx="11338560" cy="731520"/>
          </a:xfrm>
        </p:spPr>
        <p:txBody>
          <a:bodyPr wrap="square" anchor="ctr" lIns="0" tIns="0" rIns="0" bIns="0"/>
          <a:lstStyle/>
          <a:p>
            <a:pPr algn="l"/>
            <a:r>
              <a:rPr sz="2800" b="1" i="0">
                <a:solidFill>
                  <a:srgbClr val="D2AE6C"/>
                </a:solidFill>
                <a:latin typeface="Urbanist"/>
              </a:rPr>
              <a:t>RESEARCH GAP: THE DENSITY SIGNAL DID NOT GENERALISE</a:t>
            </a:r>
          </a:p>
        </p:txBody>
      </p:sp>
      <p:sp>
        <p:nvSpPr>
          <p:cNvPr id="49" name="Google Shape;49;p6"/>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graphicFrame>
        <p:nvGraphicFramePr>
          <p:cNvPr id="50" name="AUROC chart"/>
          <p:cNvGraphicFramePr>
            <a:graphicFrameLocks noGrp="1"/>
          </p:cNvGraphicFramePr>
          <p:nvPr/>
        </p:nvGraphicFramePr>
        <p:xfrm>
          <a:off x="548640" y="1325880"/>
          <a:ext cx="6400800" cy="4892040"/>
        </p:xfrm>
        <a:graphic>
          <a:graphicData uri="http://schemas.openxmlformats.org/drawingml/2006/chart">
            <c:chart xmlns:c="http://schemas.openxmlformats.org/drawingml/2006/chart" r:id="rId3"/>
          </a:graphicData>
        </a:graphic>
      </p:graphicFrame>
      <p:sp>
        <p:nvSpPr>
          <p:cNvPr id="51" name="Reading card"/>
          <p:cNvSpPr/>
          <p:nvPr/>
        </p:nvSpPr>
        <p:spPr>
          <a:xfrm>
            <a:off x="7269480" y="1325880"/>
            <a:ext cx="4343400" cy="1508760"/>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09728" rIns="182880" bIns="109728"/>
          <a:lstStyle/>
          <a:p>
            <a:pPr algn="l">
              <a:spcAft>
                <a:spcPts val="400"/>
              </a:spcAft>
            </a:pPr>
            <a:r>
              <a:rPr sz="1600" b="1" i="0">
                <a:solidFill>
                  <a:srgbClr val="0C5394"/>
                </a:solidFill>
                <a:latin typeface="Urbanist"/>
              </a:rPr>
              <a:t>Reading the chart</a:t>
            </a:r>
          </a:p>
          <a:p>
            <a:pPr algn="l"/>
            <a:r>
              <a:rPr sz="1400" b="0" i="0">
                <a:solidFill>
                  <a:srgbClr val="1A2332"/>
                </a:solidFill>
                <a:latin typeface="Urbanist"/>
              </a:rPr>
              <a:t>Below 0.5 means the signal points the wrong way. Cross-manifold tests fell to chance.</a:t>
            </a:r>
          </a:p>
        </p:txBody>
      </p:sp>
      <p:sp>
        <p:nvSpPr>
          <p:cNvPr id="52" name="Approach card"/>
          <p:cNvSpPr/>
          <p:nvPr/>
        </p:nvSpPr>
        <p:spPr>
          <a:xfrm>
            <a:off x="7269480" y="3017520"/>
            <a:ext cx="4343400" cy="3200400"/>
          </a:xfrm>
          <a:prstGeom prst="roundRect">
            <a:avLst>
              <a:gd name="adj" fmla="val 7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tIns="228600" rIns="228600" bIns="137160"/>
          <a:lstStyle/>
          <a:p>
            <a:pPr algn="l">
              <a:spcAft>
                <a:spcPts val="800"/>
              </a:spcAft>
            </a:pPr>
            <a:r>
              <a:rPr sz="1500" b="1" i="0">
                <a:solidFill>
                  <a:srgbClr val="D2AE6C"/>
                </a:solidFill>
                <a:latin typeface="Urbanist"/>
              </a:rPr>
              <a:t>WHAT WE DO INSTEAD</a:t>
            </a:r>
          </a:p>
          <a:p>
            <a:pPr algn="l" marL="200000" indent="-200000">
              <a:spcAft>
                <a:spcPts val="700"/>
              </a:spcAft>
              <a:buChar char="•"/>
            </a:pPr>
            <a:r>
              <a:rPr sz="1400" b="0" i="0">
                <a:solidFill>
                  <a:srgbClr val="FFFFFF"/>
                </a:solidFill>
                <a:latin typeface="Urbanist"/>
              </a:rPr>
              <a:t>Read what each source says about the claim</a:t>
            </a:r>
          </a:p>
          <a:p>
            <a:pPr algn="l" marL="200000" indent="-200000">
              <a:spcAft>
                <a:spcPts val="700"/>
              </a:spcAft>
              <a:buChar char="•"/>
            </a:pPr>
            <a:r>
              <a:rPr sz="1400" b="0" i="0">
                <a:solidFill>
                  <a:srgbClr val="FFFFFF"/>
                </a:solidFill>
                <a:latin typeface="Urbanist"/>
              </a:rPr>
              <a:t>Require a verbatim quote for every counted source</a:t>
            </a:r>
          </a:p>
          <a:p>
            <a:pPr algn="l" marL="200000" indent="-200000">
              <a:spcAft>
                <a:spcPts val="700"/>
              </a:spcAft>
              <a:buChar char="•"/>
            </a:pPr>
            <a:r>
              <a:rPr sz="1400" b="0" i="0">
                <a:solidFill>
                  <a:srgbClr val="FFFFFF"/>
                </a:solidFill>
                <a:latin typeface="Urbanist"/>
              </a:rPr>
              <a:t>Decide with deterministic rules we can prove things about</a:t>
            </a:r>
          </a:p>
          <a:p>
            <a:pPr algn="l" marL="200000" indent="-200000">
              <a:spcAft>
                <a:spcPts val="700"/>
              </a:spcAft>
              <a:buChar char="•"/>
            </a:pPr>
            <a:r>
              <a:rPr sz="1400" b="0" i="0">
                <a:solidFill>
                  <a:srgbClr val="FFFFFF"/>
                </a:solidFill>
                <a:latin typeface="Urbanist"/>
              </a:rPr>
              <a:t>Keep density and entropy as research-mode signals only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384048"/>
            <a:ext cx="11338560" cy="731520"/>
          </a:xfrm>
        </p:spPr>
        <p:txBody>
          <a:bodyPr wrap="square" anchor="ctr" lIns="0" tIns="0" rIns="0" bIns="0"/>
          <a:lstStyle/>
          <a:p>
            <a:pPr algn="l"/>
            <a:r>
              <a:rPr sz="2800" b="1" i="0">
                <a:solidFill>
                  <a:srgbClr val="D2AE6C"/>
                </a:solidFill>
                <a:latin typeface="Urbanist"/>
              </a:rPr>
              <a:t>METHODOLOGY: FROM ANSWER TO TRACEABLE VERDICT</a:t>
            </a:r>
          </a:p>
        </p:txBody>
      </p:sp>
      <p:sp>
        <p:nvSpPr>
          <p:cNvPr id="49" name="Google Shape;49;p6"/>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50" name="Step card 1"/>
          <p:cNvSpPr/>
          <p:nvPr/>
        </p:nvSpPr>
        <p:spPr>
          <a:xfrm>
            <a:off x="548640" y="1371600"/>
            <a:ext cx="1645920" cy="2971800"/>
          </a:xfrm>
          <a:prstGeom prst="roundRect">
            <a:avLst>
              <a:gd name="adj" fmla="val 7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tIns="868680" rIns="137160" bIns="91440"/>
          <a:lstStyle/>
          <a:p>
            <a:pPr algn="l">
              <a:spcAft>
                <a:spcPts val="600"/>
              </a:spcAft>
            </a:pPr>
            <a:r>
              <a:rPr sz="1800" b="1" i="0">
                <a:solidFill>
                  <a:srgbClr val="D2AE6C"/>
                </a:solidFill>
                <a:latin typeface="Urbanist"/>
              </a:rPr>
              <a:t>Extract</a:t>
            </a:r>
          </a:p>
          <a:p>
            <a:pPr algn="l"/>
            <a:r>
              <a:rPr sz="1400" b="0" i="0">
                <a:solidFill>
                  <a:srgbClr val="FFFFFF"/>
                </a:solidFill>
                <a:latin typeface="Urbanist"/>
              </a:rPr>
              <a:t>LLM splits the answer into self-contained claims</a:t>
            </a:r>
          </a:p>
        </p:txBody>
      </p:sp>
      <p:sp>
        <p:nvSpPr>
          <p:cNvPr id="51" name="Step number 1"/>
          <p:cNvSpPr/>
          <p:nvPr/>
        </p:nvSpPr>
        <p:spPr>
          <a:xfrm>
            <a:off x="713232" y="1554480"/>
            <a:ext cx="566928" cy="566928"/>
          </a:xfrm>
          <a:prstGeom prst="ellipse">
            <a:avLst/>
          </a:prstGeom>
          <a:solidFill>
            <a:srgbClr val="D2AE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i="0">
                <a:solidFill>
                  <a:srgbClr val="1A2332"/>
                </a:solidFill>
                <a:latin typeface="Urbanist"/>
              </a:rPr>
              <a:t>1</a:t>
            </a:r>
          </a:p>
        </p:txBody>
      </p:sp>
      <p:sp>
        <p:nvSpPr>
          <p:cNvPr id="52" name="Arrow 1"/>
          <p:cNvSpPr/>
          <p:nvPr/>
        </p:nvSpPr>
        <p:spPr>
          <a:xfrm>
            <a:off x="2221991" y="2743200"/>
            <a:ext cx="184708" cy="274320"/>
          </a:xfrm>
          <a:prstGeom prst="rightArrow">
            <a:avLst/>
          </a:prstGeom>
          <a:solidFill>
            <a:srgbClr val="D2AE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Step card 2"/>
          <p:cNvSpPr/>
          <p:nvPr/>
        </p:nvSpPr>
        <p:spPr>
          <a:xfrm>
            <a:off x="2434132" y="1371600"/>
            <a:ext cx="1645920" cy="2971800"/>
          </a:xfrm>
          <a:prstGeom prst="roundRect">
            <a:avLst>
              <a:gd name="adj" fmla="val 7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tIns="868680" rIns="137160" bIns="91440"/>
          <a:lstStyle/>
          <a:p>
            <a:pPr algn="l">
              <a:spcAft>
                <a:spcPts val="600"/>
              </a:spcAft>
            </a:pPr>
            <a:r>
              <a:rPr sz="1800" b="1" i="0">
                <a:solidFill>
                  <a:srgbClr val="D2AE6C"/>
                </a:solidFill>
                <a:latin typeface="Urbanist"/>
              </a:rPr>
              <a:t>Retrieve</a:t>
            </a:r>
          </a:p>
          <a:p>
            <a:pPr algn="l"/>
            <a:r>
              <a:rPr sz="1400" b="0" i="0">
                <a:solidFill>
                  <a:srgbClr val="FFFFFF"/>
                </a:solidFill>
                <a:latin typeface="Urbanist"/>
              </a:rPr>
              <a:t>Wikipedia and OpenAlex, merged and deduplicated</a:t>
            </a:r>
          </a:p>
        </p:txBody>
      </p:sp>
      <p:sp>
        <p:nvSpPr>
          <p:cNvPr id="54" name="Step number 2"/>
          <p:cNvSpPr/>
          <p:nvPr/>
        </p:nvSpPr>
        <p:spPr>
          <a:xfrm>
            <a:off x="2598724" y="1554480"/>
            <a:ext cx="566928" cy="566928"/>
          </a:xfrm>
          <a:prstGeom prst="ellipse">
            <a:avLst/>
          </a:prstGeom>
          <a:solidFill>
            <a:srgbClr val="D2AE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i="0">
                <a:solidFill>
                  <a:srgbClr val="1A2332"/>
                </a:solidFill>
                <a:latin typeface="Urbanist"/>
              </a:rPr>
              <a:t>2</a:t>
            </a:r>
          </a:p>
        </p:txBody>
      </p:sp>
      <p:sp>
        <p:nvSpPr>
          <p:cNvPr id="55" name="Arrow 2"/>
          <p:cNvSpPr/>
          <p:nvPr/>
        </p:nvSpPr>
        <p:spPr>
          <a:xfrm>
            <a:off x="4107484" y="2743200"/>
            <a:ext cx="184708" cy="274320"/>
          </a:xfrm>
          <a:prstGeom prst="rightArrow">
            <a:avLst/>
          </a:prstGeom>
          <a:solidFill>
            <a:srgbClr val="D2AE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ep card 3"/>
          <p:cNvSpPr/>
          <p:nvPr/>
        </p:nvSpPr>
        <p:spPr>
          <a:xfrm>
            <a:off x="4319625" y="1371600"/>
            <a:ext cx="1645920" cy="2971800"/>
          </a:xfrm>
          <a:prstGeom prst="roundRect">
            <a:avLst>
              <a:gd name="adj" fmla="val 7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tIns="868680" rIns="137160" bIns="91440"/>
          <a:lstStyle/>
          <a:p>
            <a:pPr algn="l">
              <a:spcAft>
                <a:spcPts val="600"/>
              </a:spcAft>
            </a:pPr>
            <a:r>
              <a:rPr sz="1800" b="1" i="0">
                <a:solidFill>
                  <a:srgbClr val="D2AE6C"/>
                </a:solidFill>
                <a:latin typeface="Urbanist"/>
              </a:rPr>
              <a:t>Rank</a:t>
            </a:r>
          </a:p>
          <a:p>
            <a:pPr algn="l"/>
            <a:r>
              <a:rPr sz="1400" b="0" i="0">
                <a:solidFill>
                  <a:srgbClr val="FFFFFF"/>
                </a:solidFill>
                <a:latin typeface="Urbanist"/>
              </a:rPr>
              <a:t>Cosine similarity to the claim; keep the top 6</a:t>
            </a:r>
          </a:p>
        </p:txBody>
      </p:sp>
      <p:sp>
        <p:nvSpPr>
          <p:cNvPr id="57" name="Step number 3"/>
          <p:cNvSpPr/>
          <p:nvPr/>
        </p:nvSpPr>
        <p:spPr>
          <a:xfrm>
            <a:off x="4484217" y="1554480"/>
            <a:ext cx="566928" cy="566928"/>
          </a:xfrm>
          <a:prstGeom prst="ellipse">
            <a:avLst/>
          </a:prstGeom>
          <a:solidFill>
            <a:srgbClr val="D2AE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i="0">
                <a:solidFill>
                  <a:srgbClr val="1A2332"/>
                </a:solidFill>
                <a:latin typeface="Urbanist"/>
              </a:rPr>
              <a:t>3</a:t>
            </a:r>
          </a:p>
        </p:txBody>
      </p:sp>
      <p:sp>
        <p:nvSpPr>
          <p:cNvPr id="58" name="Arrow 3"/>
          <p:cNvSpPr/>
          <p:nvPr/>
        </p:nvSpPr>
        <p:spPr>
          <a:xfrm>
            <a:off x="5992977" y="2743200"/>
            <a:ext cx="184708" cy="274320"/>
          </a:xfrm>
          <a:prstGeom prst="rightArrow">
            <a:avLst/>
          </a:prstGeom>
          <a:solidFill>
            <a:srgbClr val="D2AE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Step card 4"/>
          <p:cNvSpPr/>
          <p:nvPr/>
        </p:nvSpPr>
        <p:spPr>
          <a:xfrm>
            <a:off x="6205118" y="1371600"/>
            <a:ext cx="1645920" cy="2971800"/>
          </a:xfrm>
          <a:prstGeom prst="roundRect">
            <a:avLst>
              <a:gd name="adj" fmla="val 7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tIns="868680" rIns="137160" bIns="91440"/>
          <a:lstStyle/>
          <a:p>
            <a:pPr algn="l">
              <a:spcAft>
                <a:spcPts val="600"/>
              </a:spcAft>
            </a:pPr>
            <a:r>
              <a:rPr sz="1800" b="1" i="0">
                <a:solidFill>
                  <a:srgbClr val="D2AE6C"/>
                </a:solidFill>
                <a:latin typeface="Urbanist"/>
              </a:rPr>
              <a:t>Stance</a:t>
            </a:r>
          </a:p>
          <a:p>
            <a:pPr algn="l"/>
            <a:r>
              <a:rPr sz="1400" b="0" i="0">
                <a:solidFill>
                  <a:srgbClr val="FFFFFF"/>
                </a:solidFill>
                <a:latin typeface="Urbanist"/>
              </a:rPr>
              <a:t>Per source: supports, refutes, neutral, irrelevant, plus a quote</a:t>
            </a:r>
          </a:p>
        </p:txBody>
      </p:sp>
      <p:sp>
        <p:nvSpPr>
          <p:cNvPr id="60" name="Step number 4"/>
          <p:cNvSpPr/>
          <p:nvPr/>
        </p:nvSpPr>
        <p:spPr>
          <a:xfrm>
            <a:off x="6369710" y="1554480"/>
            <a:ext cx="566928" cy="566928"/>
          </a:xfrm>
          <a:prstGeom prst="ellipse">
            <a:avLst/>
          </a:prstGeom>
          <a:solidFill>
            <a:srgbClr val="D2AE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i="0">
                <a:solidFill>
                  <a:srgbClr val="1A2332"/>
                </a:solidFill>
                <a:latin typeface="Urbanist"/>
              </a:rPr>
              <a:t>4</a:t>
            </a:r>
          </a:p>
        </p:txBody>
      </p:sp>
      <p:sp>
        <p:nvSpPr>
          <p:cNvPr id="61" name="Arrow 4"/>
          <p:cNvSpPr/>
          <p:nvPr/>
        </p:nvSpPr>
        <p:spPr>
          <a:xfrm>
            <a:off x="7878470" y="2743200"/>
            <a:ext cx="184708" cy="274320"/>
          </a:xfrm>
          <a:prstGeom prst="rightArrow">
            <a:avLst/>
          </a:prstGeom>
          <a:solidFill>
            <a:srgbClr val="D2AE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ep card 5"/>
          <p:cNvSpPr/>
          <p:nvPr/>
        </p:nvSpPr>
        <p:spPr>
          <a:xfrm>
            <a:off x="8090611" y="1371600"/>
            <a:ext cx="1645920" cy="2971800"/>
          </a:xfrm>
          <a:prstGeom prst="roundRect">
            <a:avLst>
              <a:gd name="adj" fmla="val 7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tIns="868680" rIns="137160" bIns="91440"/>
          <a:lstStyle/>
          <a:p>
            <a:pPr algn="l">
              <a:spcAft>
                <a:spcPts val="600"/>
              </a:spcAft>
            </a:pPr>
            <a:r>
              <a:rPr sz="1800" b="1" i="0">
                <a:solidFill>
                  <a:srgbClr val="D2AE6C"/>
                </a:solidFill>
                <a:latin typeface="Urbanist"/>
              </a:rPr>
              <a:t>Verdict</a:t>
            </a:r>
          </a:p>
          <a:p>
            <a:pPr algn="l"/>
            <a:r>
              <a:rPr sz="1400" b="0" i="0">
                <a:solidFill>
                  <a:srgbClr val="FFFFFF"/>
                </a:solidFill>
                <a:latin typeface="Urbanist"/>
              </a:rPr>
              <a:t>Rules R1 to R5 over counted sources</a:t>
            </a:r>
          </a:p>
        </p:txBody>
      </p:sp>
      <p:sp>
        <p:nvSpPr>
          <p:cNvPr id="63" name="Step number 5"/>
          <p:cNvSpPr/>
          <p:nvPr/>
        </p:nvSpPr>
        <p:spPr>
          <a:xfrm>
            <a:off x="8255203" y="1554480"/>
            <a:ext cx="566928" cy="566928"/>
          </a:xfrm>
          <a:prstGeom prst="ellipse">
            <a:avLst/>
          </a:prstGeom>
          <a:solidFill>
            <a:srgbClr val="D2AE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i="0">
                <a:solidFill>
                  <a:srgbClr val="1A2332"/>
                </a:solidFill>
                <a:latin typeface="Urbanist"/>
              </a:rPr>
              <a:t>5</a:t>
            </a:r>
          </a:p>
        </p:txBody>
      </p:sp>
      <p:sp>
        <p:nvSpPr>
          <p:cNvPr id="64" name="Arrow 5"/>
          <p:cNvSpPr/>
          <p:nvPr/>
        </p:nvSpPr>
        <p:spPr>
          <a:xfrm>
            <a:off x="9763963" y="2743200"/>
            <a:ext cx="184708" cy="274320"/>
          </a:xfrm>
          <a:prstGeom prst="rightArrow">
            <a:avLst/>
          </a:prstGeom>
          <a:solidFill>
            <a:srgbClr val="D2AE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ep card 6"/>
          <p:cNvSpPr/>
          <p:nvPr/>
        </p:nvSpPr>
        <p:spPr>
          <a:xfrm>
            <a:off x="9976104" y="1371600"/>
            <a:ext cx="1645920" cy="2971800"/>
          </a:xfrm>
          <a:prstGeom prst="roundRect">
            <a:avLst>
              <a:gd name="adj" fmla="val 7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tIns="868680" rIns="137160" bIns="91440"/>
          <a:lstStyle/>
          <a:p>
            <a:pPr algn="l">
              <a:spcAft>
                <a:spcPts val="600"/>
              </a:spcAft>
            </a:pPr>
            <a:r>
              <a:rPr sz="1800" b="1" i="0">
                <a:solidFill>
                  <a:srgbClr val="D2AE6C"/>
                </a:solidFill>
                <a:latin typeface="Urbanist"/>
              </a:rPr>
              <a:t>Show</a:t>
            </a:r>
          </a:p>
          <a:p>
            <a:pPr algn="l"/>
            <a:r>
              <a:rPr sz="1400" b="0" i="0">
                <a:solidFill>
                  <a:srgbClr val="FFFFFF"/>
                </a:solidFill>
                <a:latin typeface="Urbanist"/>
              </a:rPr>
              <a:t>Side panel: sources, quotes, page highlights</a:t>
            </a:r>
          </a:p>
        </p:txBody>
      </p:sp>
      <p:sp>
        <p:nvSpPr>
          <p:cNvPr id="66" name="Step number 6"/>
          <p:cNvSpPr/>
          <p:nvPr/>
        </p:nvSpPr>
        <p:spPr>
          <a:xfrm>
            <a:off x="10140696" y="1554480"/>
            <a:ext cx="566928" cy="566928"/>
          </a:xfrm>
          <a:prstGeom prst="ellipse">
            <a:avLst/>
          </a:prstGeom>
          <a:solidFill>
            <a:srgbClr val="D2AE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i="0">
                <a:solidFill>
                  <a:srgbClr val="1A2332"/>
                </a:solidFill>
                <a:latin typeface="Urbanist"/>
              </a:rPr>
              <a:t>6</a:t>
            </a:r>
          </a:p>
        </p:txBody>
      </p:sp>
      <p:sp>
        <p:nvSpPr>
          <p:cNvPr id="67" name="Research mode box"/>
          <p:cNvSpPr/>
          <p:nvPr/>
        </p:nvSpPr>
        <p:spPr>
          <a:xfrm>
            <a:off x="548640" y="4572000"/>
            <a:ext cx="5440680" cy="1600200"/>
          </a:xfrm>
          <a:prstGeom prst="roundRect">
            <a:avLst>
              <a:gd name="adj" fmla="val 7000"/>
            </a:avLst>
          </a:prstGeom>
          <a:solidFill>
            <a:srgbClr val="FFFFFF"/>
          </a:solidFill>
          <a:ln w="19050">
            <a:solidFill>
              <a:srgbClr val="5B6B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74320" tIns="91440" rIns="274320" bIns="91440"/>
          <a:lstStyle/>
          <a:p>
            <a:pPr algn="l">
              <a:spcAft>
                <a:spcPts val="400"/>
              </a:spcAft>
            </a:pPr>
            <a:r>
              <a:rPr sz="1600" b="1" i="0">
                <a:solidFill>
                  <a:srgbClr val="5B6B80"/>
                </a:solidFill>
                <a:latin typeface="Urbanist"/>
              </a:rPr>
              <a:t>Research mode only</a:t>
            </a:r>
          </a:p>
          <a:p>
            <a:pPr algn="l"/>
            <a:r>
              <a:rPr sz="1400" b="0" i="0">
                <a:solidFill>
                  <a:srgbClr val="1A2332"/>
                </a:solidFill>
                <a:latin typeface="Urbanist"/>
              </a:rPr>
              <a:t>Density ρ (kNN plus Mahalanobis) and entropy U are computed beside the verdict, marked NOT CALIBRATED, and never decide it.</a:t>
            </a:r>
          </a:p>
        </p:txBody>
      </p:sp>
      <p:sp>
        <p:nvSpPr>
          <p:cNvPr id="68" name="Failure semantics box"/>
          <p:cNvSpPr/>
          <p:nvPr/>
        </p:nvSpPr>
        <p:spPr>
          <a:xfrm>
            <a:off x="6172200" y="4572000"/>
            <a:ext cx="5440680" cy="1600200"/>
          </a:xfrm>
          <a:prstGeom prst="roundRect">
            <a:avLst>
              <a:gd name="adj" fmla="val 7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tIns="91440" rIns="274320" bIns="91440"/>
          <a:lstStyle/>
          <a:p>
            <a:pPr algn="l">
              <a:spcAft>
                <a:spcPts val="400"/>
              </a:spcAft>
            </a:pPr>
            <a:r>
              <a:rPr sz="1600" b="1" i="0">
                <a:solidFill>
                  <a:srgbClr val="FFFFFF"/>
                </a:solidFill>
                <a:latin typeface="Urbanist"/>
              </a:rPr>
              <a:t>Failure semantics</a:t>
            </a:r>
          </a:p>
          <a:p>
            <a:pPr algn="l"/>
            <a:r>
              <a:rPr sz="1400" b="0" i="0">
                <a:solidFill>
                  <a:srgbClr val="FFFFFF"/>
                </a:solidFill>
                <a:latin typeface="Urbanist"/>
              </a:rPr>
              <a:t>If every retriever fails, or the stream drops, that claim is an error with a retry. It is never shown as “no sources”.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384048"/>
            <a:ext cx="11338560" cy="731520"/>
          </a:xfrm>
        </p:spPr>
        <p:txBody>
          <a:bodyPr wrap="square" anchor="ctr" lIns="0" tIns="0" rIns="0" bIns="0"/>
          <a:lstStyle/>
          <a:p>
            <a:pPr algn="l"/>
            <a:r>
              <a:rPr sz="2800" b="1" i="0">
                <a:solidFill>
                  <a:srgbClr val="D2AE6C"/>
                </a:solidFill>
                <a:latin typeface="Urbanist"/>
              </a:rPr>
              <a:t>VERDICT RULES: FIVE OUTCOMES FROM COUNTED SOURCES</a:t>
            </a:r>
          </a:p>
        </p:txBody>
      </p:sp>
      <p:sp>
        <p:nvSpPr>
          <p:cNvPr id="49" name="Google Shape;49;p6"/>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50" name="Definitions card"/>
          <p:cNvSpPr/>
          <p:nvPr/>
        </p:nvSpPr>
        <p:spPr>
          <a:xfrm>
            <a:off x="548640" y="1325880"/>
            <a:ext cx="6309360" cy="1463040"/>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91440" rIns="182880" bIns="91440"/>
          <a:lstStyle/>
          <a:p>
            <a:pPr algn="l">
              <a:spcAft>
                <a:spcPts val="300"/>
              </a:spcAft>
            </a:pPr>
            <a:r>
              <a:rPr sz="1400" b="0" i="0">
                <a:solidFill>
                  <a:srgbClr val="1A2332"/>
                </a:solidFill>
                <a:latin typeface="Urbanist"/>
              </a:rPr>
              <a:t>P: sources that support, confidence ≥ 0.5, quote verified in the source</a:t>
            </a:r>
          </a:p>
          <a:p>
            <a:pPr algn="l">
              <a:spcAft>
                <a:spcPts val="300"/>
              </a:spcAft>
            </a:pPr>
            <a:r>
              <a:rPr sz="1400" b="0" i="0">
                <a:solidFill>
                  <a:srgbClr val="1A2332"/>
                </a:solidFill>
                <a:latin typeface="Urbanist"/>
              </a:rPr>
              <a:t>N: sources that refute, same tests</a:t>
            </a:r>
          </a:p>
          <a:p>
            <a:pPr algn="l"/>
            <a:r>
              <a:rPr sz="1400" b="1" i="0">
                <a:solidFill>
                  <a:srgbClr val="0C5394"/>
                </a:solidFill>
                <a:latin typeface="Urbanist"/>
              </a:rPr>
              <a:t>Q(T): |T| ≥ 2, or |T| = 1 with confidence ≥ 0.8</a:t>
            </a:r>
          </a:p>
        </p:txBody>
      </p:sp>
      <p:graphicFrame>
        <p:nvGraphicFramePr>
          <p:cNvPr id="51" name="Rules table"/>
          <p:cNvGraphicFramePr>
            <a:graphicFrameLocks noGrp="1"/>
          </p:cNvGraphicFramePr>
          <p:nvPr/>
        </p:nvGraphicFramePr>
        <p:xfrm>
          <a:off x="548640" y="3017520"/>
          <a:ext cx="6309360" cy="3108960"/>
        </p:xfrm>
        <a:graphic>
          <a:graphicData uri="http://schemas.openxmlformats.org/drawingml/2006/table">
            <a:tbl>
              <a:tblPr firstRow="0" bandRow="0">
                <a:tableStyleId>{5C22544A-7EE6-4342-B048-85BDC9FD1C3A}</a:tableStyleId>
              </a:tblPr>
              <a:tblGrid>
                <a:gridCol w="777240"/>
                <a:gridCol w="3703320"/>
                <a:gridCol w="1828800"/>
              </a:tblGrid>
              <a:tr h="457200">
                <a:tc>
                  <a:txBody>
                    <a:bodyPr wrap="square"/>
                    <a:lstStyle/>
                    <a:p>
                      <a:pPr algn="l"/>
                      <a:r>
                        <a:rPr sz="1400" b="1">
                          <a:solidFill>
                            <a:srgbClr val="1A2332"/>
                          </a:solidFill>
                          <a:latin typeface="Urbanist"/>
                        </a:rPr>
                        <a:t>Rule</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c>
                  <a:txBody>
                    <a:bodyPr wrap="square"/>
                    <a:lstStyle/>
                    <a:p>
                      <a:pPr algn="l"/>
                      <a:r>
                        <a:rPr sz="1400" b="1">
                          <a:solidFill>
                            <a:srgbClr val="1A2332"/>
                          </a:solidFill>
                          <a:latin typeface="Urbanist"/>
                        </a:rPr>
                        <a:t>Condition (first that applies)</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c>
                  <a:txBody>
                    <a:bodyPr wrap="square"/>
                    <a:lstStyle/>
                    <a:p>
                      <a:pPr algn="l"/>
                      <a:r>
                        <a:rPr sz="1400" b="1">
                          <a:solidFill>
                            <a:srgbClr val="1A2332"/>
                          </a:solidFill>
                          <a:latin typeface="Urbanist"/>
                        </a:rPr>
                        <a:t>Verdict</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r>
              <a:tr h="530352">
                <a:tc>
                  <a:txBody>
                    <a:bodyPr wrap="square"/>
                    <a:lstStyle/>
                    <a:p>
                      <a:pPr algn="l"/>
                      <a:r>
                        <a:rPr sz="1400" b="1">
                          <a:solidFill>
                            <a:srgbClr val="1A2332"/>
                          </a:solidFill>
                          <a:latin typeface="Urbanist"/>
                        </a:rPr>
                        <a:t>R1</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300" b="0">
                          <a:solidFill>
                            <a:srgbClr val="1A2332"/>
                          </a:solidFill>
                          <a:latin typeface="Urbanist"/>
                        </a:rPr>
                        <a:t>no sources retrieved (n = 0)</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ctr"/>
                      <a:r>
                        <a:rPr sz="1400" b="1">
                          <a:solidFill>
                            <a:srgbClr val="FFFFFF"/>
                          </a:solidFill>
                          <a:latin typeface="Urbanist"/>
                        </a:rPr>
                        <a:t>no sources</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64748B"/>
                    </a:solidFill>
                  </a:tcPr>
                </a:tc>
              </a:tr>
              <a:tr h="530352">
                <a:tc>
                  <a:txBody>
                    <a:bodyPr wrap="square"/>
                    <a:lstStyle/>
                    <a:p>
                      <a:pPr algn="l"/>
                      <a:r>
                        <a:rPr sz="1400" b="1">
                          <a:solidFill>
                            <a:srgbClr val="1A2332"/>
                          </a:solidFill>
                          <a:latin typeface="Urbanist"/>
                        </a:rPr>
                        <a:t>R2</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300" b="0">
                          <a:solidFill>
                            <a:srgbClr val="1A2332"/>
                          </a:solidFill>
                          <a:latin typeface="Urbanist"/>
                        </a:rPr>
                        <a:t>P and N both non-empty, and Q(P) or Q(N)</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ctr"/>
                      <a:r>
                        <a:rPr sz="1400" b="1">
                          <a:solidFill>
                            <a:srgbClr val="1A2332"/>
                          </a:solidFill>
                          <a:latin typeface="Urbanist"/>
                        </a:rPr>
                        <a:t>mixed</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D2AE6C"/>
                    </a:solidFill>
                  </a:tcPr>
                </a:tc>
              </a:tr>
              <a:tr h="530352">
                <a:tc>
                  <a:txBody>
                    <a:bodyPr wrap="square"/>
                    <a:lstStyle/>
                    <a:p>
                      <a:pPr algn="l"/>
                      <a:r>
                        <a:rPr sz="1400" b="1">
                          <a:solidFill>
                            <a:srgbClr val="1A2332"/>
                          </a:solidFill>
                          <a:latin typeface="Urbanist"/>
                        </a:rPr>
                        <a:t>R3</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300" b="0">
                          <a:solidFill>
                            <a:srgbClr val="1A2332"/>
                          </a:solidFill>
                          <a:latin typeface="Urbanist"/>
                        </a:rPr>
                        <a:t>Q(P)</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ctr"/>
                      <a:r>
                        <a:rPr sz="1400" b="1">
                          <a:solidFill>
                            <a:srgbClr val="FFFFFF"/>
                          </a:solidFill>
                          <a:latin typeface="Urbanist"/>
                        </a:rPr>
                        <a:t>supported</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2E7D5B"/>
                    </a:solidFill>
                  </a:tcPr>
                </a:tc>
              </a:tr>
              <a:tr h="530352">
                <a:tc>
                  <a:txBody>
                    <a:bodyPr wrap="square"/>
                    <a:lstStyle/>
                    <a:p>
                      <a:pPr algn="l"/>
                      <a:r>
                        <a:rPr sz="1400" b="1">
                          <a:solidFill>
                            <a:srgbClr val="1A2332"/>
                          </a:solidFill>
                          <a:latin typeface="Urbanist"/>
                        </a:rPr>
                        <a:t>R4</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300" b="0">
                          <a:solidFill>
                            <a:srgbClr val="1A2332"/>
                          </a:solidFill>
                          <a:latin typeface="Urbanist"/>
                        </a:rPr>
                        <a:t>Q(N)</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ctr"/>
                      <a:r>
                        <a:rPr sz="1400" b="1">
                          <a:solidFill>
                            <a:srgbClr val="FFFFFF"/>
                          </a:solidFill>
                          <a:latin typeface="Urbanist"/>
                        </a:rPr>
                        <a:t>refuted</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C0392B"/>
                    </a:solidFill>
                  </a:tcPr>
                </a:tc>
              </a:tr>
              <a:tr h="530352">
                <a:tc>
                  <a:txBody>
                    <a:bodyPr wrap="square"/>
                    <a:lstStyle/>
                    <a:p>
                      <a:pPr algn="l"/>
                      <a:r>
                        <a:rPr sz="1400" b="1">
                          <a:solidFill>
                            <a:srgbClr val="1A2332"/>
                          </a:solidFill>
                          <a:latin typeface="Urbanist"/>
                        </a:rPr>
                        <a:t>R5</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300" b="0">
                          <a:solidFill>
                            <a:srgbClr val="1A2332"/>
                          </a:solidFill>
                          <a:latin typeface="Urbanist"/>
                        </a:rPr>
                        <a:t>otherwise</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ctr"/>
                      <a:r>
                        <a:rPr sz="1400" b="1">
                          <a:solidFill>
                            <a:srgbClr val="FFFFFF"/>
                          </a:solidFill>
                          <a:latin typeface="Urbanist"/>
                        </a:rPr>
                        <a:t>insufficient</a:t>
                      </a:r>
                    </a:p>
                  </a:txBody>
                  <a:tcPr anchor="ctr" marL="91440" marT="36576" marR="91440" marB="36576">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64748B"/>
                    </a:solidFill>
                  </a:tcPr>
                </a:tc>
              </a:tr>
            </a:tbl>
          </a:graphicData>
        </a:graphic>
      </p:graphicFrame>
      <p:pic>
        <p:nvPicPr>
          <p:cNvPr id="52" name="Verdict regions figure" descr="Verdict regions by number of counted supporting sources and strongest confidence"/>
          <p:cNvPicPr>
            <a:picLocks noChangeAspect="1"/>
          </p:cNvPicPr>
          <p:nvPr/>
        </p:nvPicPr>
        <p:blipFill>
          <a:blip r:embed="rId3"/>
          <a:stretch>
            <a:fillRect/>
          </a:stretch>
        </p:blipFill>
        <p:spPr>
          <a:xfrm>
            <a:off x="7132320" y="1325880"/>
            <a:ext cx="4480560" cy="2942678"/>
          </a:xfrm>
          <a:prstGeom prst="rect">
            <a:avLst/>
          </a:prstGeom>
        </p:spPr>
      </p:pic>
      <p:sp>
        <p:nvSpPr>
          <p:cNvPr id="53" name="Figure caption"/>
          <p:cNvSpPr txBox="1"/>
          <p:nvPr/>
        </p:nvSpPr>
        <p:spPr>
          <a:xfrm>
            <a:off x="7132320" y="4314278"/>
            <a:ext cx="4480560" cy="685800"/>
          </a:xfrm>
          <a:prstGeom prst="rect">
            <a:avLst/>
          </a:prstGeom>
          <a:noFill/>
        </p:spPr>
        <p:txBody>
          <a:bodyPr wrap="square" anchor="t" lIns="0" tIns="0" rIns="0" bIns="0"/>
          <a:lstStyle/>
          <a:p>
            <a:pPr algn="l"/>
            <a:r>
              <a:rPr sz="1100" b="0" i="0">
                <a:solidFill>
                  <a:srgbClr val="5B6B80"/>
                </a:solidFill>
                <a:latin typeface="Urbanist"/>
              </a:rPr>
              <a:t>Verdict by number of counted supporting sources and strongest confidence, no counted refutation. One source qualifies only at confidence 0.8 or more.</a:t>
            </a:r>
          </a:p>
        </p:txBody>
      </p:sp>
      <p:sp>
        <p:nvSpPr>
          <p:cNvPr id="54" name="Why callout"/>
          <p:cNvSpPr/>
          <p:nvPr/>
        </p:nvSpPr>
        <p:spPr>
          <a:xfrm>
            <a:off x="7132320" y="5440680"/>
            <a:ext cx="4480560" cy="731520"/>
          </a:xfrm>
          <a:prstGeom prst="roundRect">
            <a:avLst>
              <a:gd name="adj" fmla="val 7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500" b="1" i="0">
                <a:solidFill>
                  <a:srgbClr val="FFFFFF"/>
                </a:solidFill>
                <a:latin typeface="Urbanist"/>
              </a:rPr>
              <a:t>Why: one weak source cannot say “backed 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384048"/>
            <a:ext cx="11338560" cy="731520"/>
          </a:xfrm>
        </p:spPr>
        <p:txBody>
          <a:bodyPr wrap="square" anchor="ctr" lIns="0" tIns="0" rIns="0" bIns="0"/>
          <a:lstStyle/>
          <a:p>
            <a:pPr algn="l"/>
            <a:r>
              <a:rPr sz="2800" b="1" i="0">
                <a:solidFill>
                  <a:srgbClr val="D2AE6C"/>
                </a:solidFill>
                <a:latin typeface="Urbanist"/>
              </a:rPr>
              <a:t>STATISTICAL AND DATA-SCIENCE CONCEPTS APPLIED</a:t>
            </a:r>
          </a:p>
        </p:txBody>
      </p:sp>
      <p:sp>
        <p:nvSpPr>
          <p:cNvPr id="49" name="Google Shape;49;p6"/>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50" name="Concept card 1"/>
          <p:cNvSpPr/>
          <p:nvPr/>
        </p:nvSpPr>
        <p:spPr>
          <a:xfrm>
            <a:off x="548640" y="1325880"/>
            <a:ext cx="2697480" cy="2286000"/>
          </a:xfrm>
          <a:prstGeom prst="roundRect">
            <a:avLst>
              <a:gd name="adj" fmla="val 7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82880" rIns="182880" bIns="91440"/>
          <a:lstStyle/>
          <a:p>
            <a:pPr algn="l">
              <a:spcAft>
                <a:spcPts val="400"/>
              </a:spcAft>
            </a:pPr>
            <a:r>
              <a:rPr sz="1000" b="1" i="0">
                <a:solidFill>
                  <a:srgbClr val="D2AE6C"/>
                </a:solidFill>
                <a:latin typeface="Urbanist"/>
              </a:rPr>
              <a:t>MODELLING</a:t>
            </a:r>
          </a:p>
          <a:p>
            <a:pPr algn="l">
              <a:spcAft>
                <a:spcPts val="400"/>
              </a:spcAft>
            </a:pPr>
            <a:r>
              <a:rPr sz="1600" b="1" i="0">
                <a:solidFill>
                  <a:srgbClr val="D2AE6C"/>
                </a:solidFill>
                <a:latin typeface="Urbanist"/>
              </a:rPr>
              <a:t>Cosine similarity</a:t>
            </a:r>
          </a:p>
          <a:p>
            <a:pPr algn="l"/>
            <a:r>
              <a:rPr sz="1300" b="0" i="0">
                <a:solidFill>
                  <a:srgbClr val="FFFFFF"/>
                </a:solidFill>
                <a:latin typeface="Urbanist"/>
              </a:rPr>
              <a:t>Ranks sources by closeness to the claim; keeps the top 6.</a:t>
            </a:r>
          </a:p>
        </p:txBody>
      </p:sp>
      <p:sp>
        <p:nvSpPr>
          <p:cNvPr id="51" name="Concept card 2"/>
          <p:cNvSpPr/>
          <p:nvPr/>
        </p:nvSpPr>
        <p:spPr>
          <a:xfrm>
            <a:off x="3355848" y="1325880"/>
            <a:ext cx="2697480" cy="2286000"/>
          </a:xfrm>
          <a:prstGeom prst="roundRect">
            <a:avLst>
              <a:gd name="adj" fmla="val 7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82880" rIns="182880" bIns="91440"/>
          <a:lstStyle/>
          <a:p>
            <a:pPr algn="l">
              <a:spcAft>
                <a:spcPts val="400"/>
              </a:spcAft>
            </a:pPr>
            <a:r>
              <a:rPr sz="1000" b="1" i="0">
                <a:solidFill>
                  <a:srgbClr val="D2AE6C"/>
                </a:solidFill>
                <a:latin typeface="Urbanist"/>
              </a:rPr>
              <a:t>MODELLING</a:t>
            </a:r>
          </a:p>
          <a:p>
            <a:pPr algn="l">
              <a:spcAft>
                <a:spcPts val="400"/>
              </a:spcAft>
            </a:pPr>
            <a:r>
              <a:rPr sz="1600" b="1" i="0">
                <a:solidFill>
                  <a:srgbClr val="D2AE6C"/>
                </a:solidFill>
                <a:latin typeface="Urbanist"/>
              </a:rPr>
              <a:t>kNN + Mahalanobis</a:t>
            </a:r>
          </a:p>
          <a:p>
            <a:pPr algn="l"/>
            <a:r>
              <a:rPr sz="1300" b="0" i="0">
                <a:solidFill>
                  <a:srgbClr val="FFFFFF"/>
                </a:solidFill>
                <a:latin typeface="Urbanist"/>
              </a:rPr>
              <a:t>Distance of a claim from 10,000 FEVER claim embeddings (research mode).</a:t>
            </a:r>
          </a:p>
        </p:txBody>
      </p:sp>
      <p:sp>
        <p:nvSpPr>
          <p:cNvPr id="52" name="Concept card 3"/>
          <p:cNvSpPr/>
          <p:nvPr/>
        </p:nvSpPr>
        <p:spPr>
          <a:xfrm>
            <a:off x="6163055" y="1325880"/>
            <a:ext cx="2697480" cy="2286000"/>
          </a:xfrm>
          <a:prstGeom prst="roundRect">
            <a:avLst>
              <a:gd name="adj" fmla="val 7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82880" rIns="182880" bIns="91440"/>
          <a:lstStyle/>
          <a:p>
            <a:pPr algn="l">
              <a:spcAft>
                <a:spcPts val="400"/>
              </a:spcAft>
            </a:pPr>
            <a:r>
              <a:rPr sz="1000" b="1" i="0">
                <a:solidFill>
                  <a:srgbClr val="D2AE6C"/>
                </a:solidFill>
                <a:latin typeface="Urbanist"/>
              </a:rPr>
              <a:t>MODELLING</a:t>
            </a:r>
          </a:p>
          <a:p>
            <a:pPr algn="l">
              <a:spcAft>
                <a:spcPts val="400"/>
              </a:spcAft>
            </a:pPr>
            <a:r>
              <a:rPr sz="1600" b="1" i="0">
                <a:solidFill>
                  <a:srgbClr val="D2AE6C"/>
                </a:solidFill>
                <a:latin typeface="Urbanist"/>
              </a:rPr>
              <a:t>Ledoit–Wolf shrinkage</a:t>
            </a:r>
          </a:p>
          <a:p>
            <a:pPr algn="l"/>
            <a:r>
              <a:rPr sz="1300" b="0" i="0">
                <a:solidFill>
                  <a:srgbClr val="FFFFFF"/>
                </a:solidFill>
                <a:latin typeface="Urbanist"/>
              </a:rPr>
              <a:t>Stabilises the covariance; condition number ≤ 1 + (1−δ)p/δ.</a:t>
            </a:r>
          </a:p>
        </p:txBody>
      </p:sp>
      <p:sp>
        <p:nvSpPr>
          <p:cNvPr id="53" name="Concept card 4"/>
          <p:cNvSpPr/>
          <p:nvPr/>
        </p:nvSpPr>
        <p:spPr>
          <a:xfrm>
            <a:off x="8970263" y="1325880"/>
            <a:ext cx="2697480" cy="2286000"/>
          </a:xfrm>
          <a:prstGeom prst="roundRect">
            <a:avLst>
              <a:gd name="adj" fmla="val 7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82880" rIns="182880" bIns="91440"/>
          <a:lstStyle/>
          <a:p>
            <a:pPr algn="l">
              <a:spcAft>
                <a:spcPts val="400"/>
              </a:spcAft>
            </a:pPr>
            <a:r>
              <a:rPr sz="1000" b="1" i="0">
                <a:solidFill>
                  <a:srgbClr val="D2AE6C"/>
                </a:solidFill>
                <a:latin typeface="Urbanist"/>
              </a:rPr>
              <a:t>MODELLING</a:t>
            </a:r>
          </a:p>
          <a:p>
            <a:pPr algn="l">
              <a:spcAft>
                <a:spcPts val="400"/>
              </a:spcAft>
            </a:pPr>
            <a:r>
              <a:rPr sz="1600" b="1" i="0">
                <a:solidFill>
                  <a:srgbClr val="D2AE6C"/>
                </a:solidFill>
                <a:latin typeface="Urbanist"/>
              </a:rPr>
              <a:t>Softmax entropy U</a:t>
            </a:r>
          </a:p>
          <a:p>
            <a:pPr algn="l"/>
            <a:r>
              <a:rPr sz="1300" b="0" i="0">
                <a:solidFill>
                  <a:srgbClr val="FFFFFF"/>
                </a:solidFill>
                <a:latin typeface="Urbanist"/>
              </a:rPr>
              <a:t>Evenness of source matches (τ = 0.1); high when many match alike.</a:t>
            </a:r>
          </a:p>
        </p:txBody>
      </p:sp>
      <p:sp>
        <p:nvSpPr>
          <p:cNvPr id="54" name="Concept card 5"/>
          <p:cNvSpPr/>
          <p:nvPr/>
        </p:nvSpPr>
        <p:spPr>
          <a:xfrm>
            <a:off x="548640" y="3794760"/>
            <a:ext cx="2697480" cy="2286000"/>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82880" rIns="182880" bIns="91440"/>
          <a:lstStyle/>
          <a:p>
            <a:pPr algn="l">
              <a:spcAft>
                <a:spcPts val="400"/>
              </a:spcAft>
            </a:pPr>
            <a:r>
              <a:rPr sz="1000" b="1" i="0">
                <a:solidFill>
                  <a:srgbClr val="5B6B80"/>
                </a:solidFill>
                <a:latin typeface="Urbanist"/>
              </a:rPr>
              <a:t>EVALUATION</a:t>
            </a:r>
          </a:p>
          <a:p>
            <a:pPr algn="l">
              <a:spcAft>
                <a:spcPts val="400"/>
              </a:spcAft>
            </a:pPr>
            <a:r>
              <a:rPr sz="1600" b="1" i="0">
                <a:solidFill>
                  <a:srgbClr val="0C5394"/>
                </a:solidFill>
                <a:latin typeface="Urbanist"/>
              </a:rPr>
              <a:t>Confusion, macro-F1</a:t>
            </a:r>
          </a:p>
          <a:p>
            <a:pPr algn="l"/>
            <a:r>
              <a:rPr sz="1300" b="0" i="0">
                <a:solidFill>
                  <a:srgbClr val="1A2332"/>
                </a:solidFill>
                <a:latin typeface="Urbanist"/>
              </a:rPr>
              <a:t>Per-class precision and recall; abstention shown as NEI recall.</a:t>
            </a:r>
          </a:p>
        </p:txBody>
      </p:sp>
      <p:sp>
        <p:nvSpPr>
          <p:cNvPr id="55" name="Concept card 6"/>
          <p:cNvSpPr/>
          <p:nvPr/>
        </p:nvSpPr>
        <p:spPr>
          <a:xfrm>
            <a:off x="3355848" y="3794760"/>
            <a:ext cx="2697480" cy="2286000"/>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82880" rIns="182880" bIns="91440"/>
          <a:lstStyle/>
          <a:p>
            <a:pPr algn="l">
              <a:spcAft>
                <a:spcPts val="400"/>
              </a:spcAft>
            </a:pPr>
            <a:r>
              <a:rPr sz="1000" b="1" i="0">
                <a:solidFill>
                  <a:srgbClr val="5B6B80"/>
                </a:solidFill>
                <a:latin typeface="Urbanist"/>
              </a:rPr>
              <a:t>EVALUATION</a:t>
            </a:r>
          </a:p>
          <a:p>
            <a:pPr algn="l">
              <a:spcAft>
                <a:spcPts val="400"/>
              </a:spcAft>
            </a:pPr>
            <a:r>
              <a:rPr sz="1600" b="1" i="0">
                <a:solidFill>
                  <a:srgbClr val="0C5394"/>
                </a:solidFill>
                <a:latin typeface="Urbanist"/>
              </a:rPr>
              <a:t>Wilson 95% interval</a:t>
            </a:r>
          </a:p>
          <a:p>
            <a:pPr algn="l"/>
            <a:r>
              <a:rPr sz="1300" b="0" i="0">
                <a:solidFill>
                  <a:srgbClr val="1A2332"/>
                </a:solidFill>
                <a:latin typeface="Urbanist"/>
              </a:rPr>
              <a:t>Honest error bars for proportions at n = 100 (about ±10 points).</a:t>
            </a:r>
          </a:p>
        </p:txBody>
      </p:sp>
      <p:sp>
        <p:nvSpPr>
          <p:cNvPr id="56" name="Concept card 7"/>
          <p:cNvSpPr/>
          <p:nvPr/>
        </p:nvSpPr>
        <p:spPr>
          <a:xfrm>
            <a:off x="6163055" y="3794760"/>
            <a:ext cx="2697480" cy="2286000"/>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82880" rIns="182880" bIns="91440"/>
          <a:lstStyle/>
          <a:p>
            <a:pPr algn="l">
              <a:spcAft>
                <a:spcPts val="400"/>
              </a:spcAft>
            </a:pPr>
            <a:r>
              <a:rPr sz="1000" b="1" i="0">
                <a:solidFill>
                  <a:srgbClr val="5B6B80"/>
                </a:solidFill>
                <a:latin typeface="Urbanist"/>
              </a:rPr>
              <a:t>EVALUATION</a:t>
            </a:r>
          </a:p>
          <a:p>
            <a:pPr algn="l">
              <a:spcAft>
                <a:spcPts val="400"/>
              </a:spcAft>
            </a:pPr>
            <a:r>
              <a:rPr sz="1600" b="1" i="0">
                <a:solidFill>
                  <a:srgbClr val="0C5394"/>
                </a:solidFill>
                <a:latin typeface="Urbanist"/>
              </a:rPr>
              <a:t>Exact McNemar test</a:t>
            </a:r>
          </a:p>
          <a:p>
            <a:pPr algn="l"/>
            <a:r>
              <a:rPr sz="1300" b="0" i="0">
                <a:solidFill>
                  <a:srgbClr val="1A2332"/>
                </a:solidFill>
                <a:latin typeface="Urbanist"/>
              </a:rPr>
              <a:t>Paired test on discordant claims; every variant sees the same 100 claims.</a:t>
            </a:r>
          </a:p>
        </p:txBody>
      </p:sp>
      <p:sp>
        <p:nvSpPr>
          <p:cNvPr id="57" name="Concept card 8"/>
          <p:cNvSpPr/>
          <p:nvPr/>
        </p:nvSpPr>
        <p:spPr>
          <a:xfrm>
            <a:off x="8970263" y="3794760"/>
            <a:ext cx="2697480" cy="2286000"/>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82880" rIns="182880" bIns="91440"/>
          <a:lstStyle/>
          <a:p>
            <a:pPr algn="l">
              <a:spcAft>
                <a:spcPts val="400"/>
              </a:spcAft>
            </a:pPr>
            <a:r>
              <a:rPr sz="1000" b="1" i="0">
                <a:solidFill>
                  <a:srgbClr val="5B6B80"/>
                </a:solidFill>
                <a:latin typeface="Urbanist"/>
              </a:rPr>
              <a:t>EVALUATION</a:t>
            </a:r>
          </a:p>
          <a:p>
            <a:pPr algn="l">
              <a:spcAft>
                <a:spcPts val="400"/>
              </a:spcAft>
            </a:pPr>
            <a:r>
              <a:rPr sz="1600" b="1" i="0">
                <a:solidFill>
                  <a:srgbClr val="0C5394"/>
                </a:solidFill>
                <a:latin typeface="Urbanist"/>
              </a:rPr>
              <a:t>Paired bootstrap</a:t>
            </a:r>
          </a:p>
          <a:p>
            <a:pPr algn="l"/>
            <a:r>
              <a:rPr sz="1300" b="0" i="0">
                <a:solidFill>
                  <a:srgbClr val="1A2332"/>
                </a:solidFill>
                <a:latin typeface="Urbanist"/>
              </a:rPr>
              <a:t>4,000 resamples for each difference; Bonferroni across six tests.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384048"/>
            <a:ext cx="11338560" cy="731520"/>
          </a:xfrm>
        </p:spPr>
        <p:txBody>
          <a:bodyPr wrap="square" anchor="ctr" lIns="0" tIns="0" rIns="0" bIns="0"/>
          <a:lstStyle/>
          <a:p>
            <a:pPr algn="l"/>
            <a:r>
              <a:rPr sz="2800" b="1" i="0">
                <a:solidFill>
                  <a:srgbClr val="D2AE6C"/>
                </a:solidFill>
                <a:latin typeface="Urbanist"/>
              </a:rPr>
              <a:t>FIVE PROPERTIES, PROVED AND CHECKED AGAINST CODE</a:t>
            </a:r>
          </a:p>
        </p:txBody>
      </p:sp>
      <p:sp>
        <p:nvSpPr>
          <p:cNvPr id="49" name="Google Shape;49;p6"/>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50" name="Property card 1"/>
          <p:cNvSpPr/>
          <p:nvPr/>
        </p:nvSpPr>
        <p:spPr>
          <a:xfrm>
            <a:off x="548640" y="1325880"/>
            <a:ext cx="7589520" cy="859536"/>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ag Theorem 1"/>
          <p:cNvSpPr/>
          <p:nvPr/>
        </p:nvSpPr>
        <p:spPr>
          <a:xfrm>
            <a:off x="685800" y="1517904"/>
            <a:ext cx="1097280" cy="475488"/>
          </a:xfrm>
          <a:prstGeom prst="roundRect">
            <a:avLst>
              <a:gd name="adj" fmla="val 20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Urbanist"/>
              </a:rPr>
              <a:t>Theorem 1</a:t>
            </a:r>
          </a:p>
        </p:txBody>
      </p:sp>
      <p:sp>
        <p:nvSpPr>
          <p:cNvPr id="52" name="Property text 1"/>
          <p:cNvSpPr txBox="1"/>
          <p:nvPr/>
        </p:nvSpPr>
        <p:spPr>
          <a:xfrm>
            <a:off x="1920240" y="1362456"/>
            <a:ext cx="6126480" cy="786384"/>
          </a:xfrm>
          <a:prstGeom prst="rect">
            <a:avLst/>
          </a:prstGeom>
          <a:noFill/>
        </p:spPr>
        <p:txBody>
          <a:bodyPr wrap="square" anchor="ctr" lIns="0" tIns="0" rIns="0" bIns="0"/>
          <a:lstStyle/>
          <a:p>
            <a:pPr algn="l"/>
            <a:r>
              <a:rPr sz="1400" b="1" i="0">
                <a:solidFill>
                  <a:srgbClr val="0C5394"/>
                </a:solidFill>
                <a:latin typeface="Urbanist"/>
              </a:rPr>
              <a:t>Verdict rules  </a:t>
            </a:r>
            <a:r>
              <a:rPr sz="1250" b="0" i="0">
                <a:solidFill>
                  <a:srgbClr val="1A2332"/>
                </a:solidFill>
                <a:latin typeface="Urbanist"/>
              </a:rPr>
              <a:t>Exhaustive, exclusive, order-invariant, symmetric, monotone. Every true, false or mixed verdict has a verified quote.</a:t>
            </a:r>
          </a:p>
        </p:txBody>
      </p:sp>
      <p:sp>
        <p:nvSpPr>
          <p:cNvPr id="53" name="Property card 2"/>
          <p:cNvSpPr/>
          <p:nvPr/>
        </p:nvSpPr>
        <p:spPr>
          <a:xfrm>
            <a:off x="548640" y="2276856"/>
            <a:ext cx="7589520" cy="859536"/>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ag Prop. 2"/>
          <p:cNvSpPr/>
          <p:nvPr/>
        </p:nvSpPr>
        <p:spPr>
          <a:xfrm>
            <a:off x="685800" y="2468880"/>
            <a:ext cx="1097280" cy="475488"/>
          </a:xfrm>
          <a:prstGeom prst="roundRect">
            <a:avLst>
              <a:gd name="adj" fmla="val 20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Urbanist"/>
              </a:rPr>
              <a:t>Prop. 2</a:t>
            </a:r>
          </a:p>
        </p:txBody>
      </p:sp>
      <p:sp>
        <p:nvSpPr>
          <p:cNvPr id="55" name="Property text 2"/>
          <p:cNvSpPr txBox="1"/>
          <p:nvPr/>
        </p:nvSpPr>
        <p:spPr>
          <a:xfrm>
            <a:off x="1920240" y="2313432"/>
            <a:ext cx="6126480" cy="786384"/>
          </a:xfrm>
          <a:prstGeom prst="rect">
            <a:avLst/>
          </a:prstGeom>
          <a:noFill/>
        </p:spPr>
        <p:txBody>
          <a:bodyPr wrap="square" anchor="ctr" lIns="0" tIns="0" rIns="0" bIns="0"/>
          <a:lstStyle/>
          <a:p>
            <a:pPr algn="l"/>
            <a:r>
              <a:rPr sz="1400" b="1" i="0">
                <a:solidFill>
                  <a:srgbClr val="0C5394"/>
                </a:solidFill>
                <a:latin typeface="Urbanist"/>
              </a:rPr>
              <a:t>Entropy U  </a:t>
            </a:r>
            <a:r>
              <a:rPr sz="1250" b="0" i="0">
                <a:solidFill>
                  <a:srgbClr val="1A2332"/>
                </a:solidFill>
                <a:latin typeface="Urbanist"/>
              </a:rPr>
              <a:t>Non-decreasing in τ, and U ≥ 1 − δ/(τ ln N): many sources matching alike give high U, agree or not.</a:t>
            </a:r>
          </a:p>
        </p:txBody>
      </p:sp>
      <p:sp>
        <p:nvSpPr>
          <p:cNvPr id="56" name="Property card 3"/>
          <p:cNvSpPr/>
          <p:nvPr/>
        </p:nvSpPr>
        <p:spPr>
          <a:xfrm>
            <a:off x="548640" y="3227832"/>
            <a:ext cx="7589520" cy="859536"/>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ag Prop. 3"/>
          <p:cNvSpPr/>
          <p:nvPr/>
        </p:nvSpPr>
        <p:spPr>
          <a:xfrm>
            <a:off x="685800" y="3419856"/>
            <a:ext cx="1097280" cy="475488"/>
          </a:xfrm>
          <a:prstGeom prst="roundRect">
            <a:avLst>
              <a:gd name="adj" fmla="val 20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Urbanist"/>
              </a:rPr>
              <a:t>Prop. 3</a:t>
            </a:r>
          </a:p>
        </p:txBody>
      </p:sp>
      <p:sp>
        <p:nvSpPr>
          <p:cNvPr id="58" name="Property text 3"/>
          <p:cNvSpPr txBox="1"/>
          <p:nvPr/>
        </p:nvSpPr>
        <p:spPr>
          <a:xfrm>
            <a:off x="1920240" y="3264408"/>
            <a:ext cx="6126480" cy="786384"/>
          </a:xfrm>
          <a:prstGeom prst="rect">
            <a:avLst/>
          </a:prstGeom>
          <a:noFill/>
        </p:spPr>
        <p:txBody>
          <a:bodyPr wrap="square" anchor="ctr" lIns="0" tIns="0" rIns="0" bIns="0"/>
          <a:lstStyle/>
          <a:p>
            <a:pPr algn="l"/>
            <a:r>
              <a:rPr sz="1400" b="1" i="0">
                <a:solidFill>
                  <a:srgbClr val="0C5394"/>
                </a:solidFill>
                <a:latin typeface="Urbanist"/>
              </a:rPr>
              <a:t>Single-query density  </a:t>
            </a:r>
            <a:r>
              <a:rPr sz="1250" b="0" i="0">
                <a:solidFill>
                  <a:srgbClr val="1A2332"/>
                </a:solidFill>
                <a:latin typeface="Urbanist"/>
              </a:rPr>
              <a:t>With one query, ρ ≈ (kNN distance + 1)/2, so the Mahalanobis term cannot change an AUROC.</a:t>
            </a:r>
          </a:p>
        </p:txBody>
      </p:sp>
      <p:sp>
        <p:nvSpPr>
          <p:cNvPr id="59" name="Property card 4"/>
          <p:cNvSpPr/>
          <p:nvPr/>
        </p:nvSpPr>
        <p:spPr>
          <a:xfrm>
            <a:off x="548640" y="4178808"/>
            <a:ext cx="7589520" cy="859536"/>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ag Prop. 4"/>
          <p:cNvSpPr/>
          <p:nvPr/>
        </p:nvSpPr>
        <p:spPr>
          <a:xfrm>
            <a:off x="685800" y="4370832"/>
            <a:ext cx="1097280" cy="475488"/>
          </a:xfrm>
          <a:prstGeom prst="roundRect">
            <a:avLst>
              <a:gd name="adj" fmla="val 20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Urbanist"/>
              </a:rPr>
              <a:t>Prop. 4</a:t>
            </a:r>
          </a:p>
        </p:txBody>
      </p:sp>
      <p:sp>
        <p:nvSpPr>
          <p:cNvPr id="61" name="Property text 4"/>
          <p:cNvSpPr txBox="1"/>
          <p:nvPr/>
        </p:nvSpPr>
        <p:spPr>
          <a:xfrm>
            <a:off x="1920240" y="4215384"/>
            <a:ext cx="6126480" cy="786384"/>
          </a:xfrm>
          <a:prstGeom prst="rect">
            <a:avLst/>
          </a:prstGeom>
          <a:noFill/>
        </p:spPr>
        <p:txBody>
          <a:bodyPr wrap="square" anchor="ctr" lIns="0" tIns="0" rIns="0" bIns="0"/>
          <a:lstStyle/>
          <a:p>
            <a:pPr algn="l"/>
            <a:r>
              <a:rPr sz="1400" b="1" i="0">
                <a:solidFill>
                  <a:srgbClr val="0C5394"/>
                </a:solidFill>
                <a:latin typeface="Urbanist"/>
              </a:rPr>
              <a:t>Shrinkage  </a:t>
            </a:r>
            <a:r>
              <a:rPr sz="1250" b="0" i="0">
                <a:solidFill>
                  <a:srgbClr val="1A2332"/>
                </a:solidFill>
                <a:latin typeface="Urbanist"/>
              </a:rPr>
              <a:t>Shrunk covariance is positive definite, with condition number ≤ 1 + (1−δ)p/δ.</a:t>
            </a:r>
          </a:p>
        </p:txBody>
      </p:sp>
      <p:sp>
        <p:nvSpPr>
          <p:cNvPr id="62" name="Property card 5"/>
          <p:cNvSpPr/>
          <p:nvPr/>
        </p:nvSpPr>
        <p:spPr>
          <a:xfrm>
            <a:off x="548640" y="5129784"/>
            <a:ext cx="7589520" cy="859536"/>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ag Prop. 5"/>
          <p:cNvSpPr/>
          <p:nvPr/>
        </p:nvSpPr>
        <p:spPr>
          <a:xfrm>
            <a:off x="685800" y="5321808"/>
            <a:ext cx="1097280" cy="475488"/>
          </a:xfrm>
          <a:prstGeom prst="roundRect">
            <a:avLst>
              <a:gd name="adj" fmla="val 20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Urbanist"/>
              </a:rPr>
              <a:t>Prop. 5</a:t>
            </a:r>
          </a:p>
        </p:txBody>
      </p:sp>
      <p:sp>
        <p:nvSpPr>
          <p:cNvPr id="64" name="Property text 5"/>
          <p:cNvSpPr txBox="1"/>
          <p:nvPr/>
        </p:nvSpPr>
        <p:spPr>
          <a:xfrm>
            <a:off x="1920240" y="5166360"/>
            <a:ext cx="6126480" cy="786384"/>
          </a:xfrm>
          <a:prstGeom prst="rect">
            <a:avLst/>
          </a:prstGeom>
          <a:noFill/>
        </p:spPr>
        <p:txBody>
          <a:bodyPr wrap="square" anchor="ctr" lIns="0" tIns="0" rIns="0" bIns="0"/>
          <a:lstStyle/>
          <a:p>
            <a:pPr algn="l"/>
            <a:r>
              <a:rPr sz="1400" b="1" i="0">
                <a:solidFill>
                  <a:srgbClr val="0C5394"/>
                </a:solidFill>
                <a:latin typeface="Urbanist"/>
              </a:rPr>
              <a:t>Wilson interval  </a:t>
            </a:r>
            <a:r>
              <a:rPr sz="1250" b="0" i="0">
                <a:solidFill>
                  <a:srgbClr val="1A2332"/>
                </a:solidFill>
                <a:latin typeface="Urbanist"/>
              </a:rPr>
              <a:t>The Wilson limits form one interval inside [0, 1] that contains the estimate.</a:t>
            </a:r>
          </a:p>
        </p:txBody>
      </p:sp>
      <p:sp>
        <p:nvSpPr>
          <p:cNvPr id="65" name="Check stat 1"/>
          <p:cNvSpPr/>
          <p:nvPr/>
        </p:nvSpPr>
        <p:spPr>
          <a:xfrm>
            <a:off x="8412480" y="1325880"/>
            <a:ext cx="3200400" cy="1508760"/>
          </a:xfrm>
          <a:prstGeom prst="roundRect">
            <a:avLst>
              <a:gd name="adj" fmla="val 7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spcAft>
                <a:spcPts val="200"/>
              </a:spcAft>
            </a:pPr>
            <a:r>
              <a:rPr sz="3600" b="1" i="0">
                <a:solidFill>
                  <a:srgbClr val="D2AE6C"/>
                </a:solidFill>
                <a:latin typeface="Urbanist"/>
              </a:rPr>
              <a:t>27,930</a:t>
            </a:r>
          </a:p>
          <a:p>
            <a:pPr algn="ctr"/>
            <a:r>
              <a:rPr sz="1300" b="0" i="0">
                <a:solidFill>
                  <a:srgbClr val="FFFFFF"/>
                </a:solidFill>
                <a:latin typeface="Urbanist"/>
              </a:rPr>
              <a:t>source configurations tested exhaustively for Theorem 1</a:t>
            </a:r>
          </a:p>
        </p:txBody>
      </p:sp>
      <p:sp>
        <p:nvSpPr>
          <p:cNvPr id="66" name="Check stat 2"/>
          <p:cNvSpPr/>
          <p:nvPr/>
        </p:nvSpPr>
        <p:spPr>
          <a:xfrm>
            <a:off x="8412480" y="2953512"/>
            <a:ext cx="3200400" cy="1508760"/>
          </a:xfrm>
          <a:prstGeom prst="roundRect">
            <a:avLst>
              <a:gd name="adj" fmla="val 7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spcAft>
                <a:spcPts val="200"/>
              </a:spcAft>
            </a:pPr>
            <a:r>
              <a:rPr sz="3600" b="1" i="0">
                <a:solidFill>
                  <a:srgbClr val="D2AE6C"/>
                </a:solidFill>
                <a:latin typeface="Urbanist"/>
              </a:rPr>
              <a:t>15,000</a:t>
            </a:r>
          </a:p>
          <a:p>
            <a:pPr algn="ctr"/>
            <a:r>
              <a:rPr sz="1300" b="0" i="0">
                <a:solidFill>
                  <a:srgbClr val="FFFFFF"/>
                </a:solidFill>
                <a:latin typeface="Urbanist"/>
              </a:rPr>
              <a:t>random configurations of 4 to 7 sources</a:t>
            </a:r>
          </a:p>
        </p:txBody>
      </p:sp>
      <p:sp>
        <p:nvSpPr>
          <p:cNvPr id="67" name="Check stat 3"/>
          <p:cNvSpPr/>
          <p:nvPr/>
        </p:nvSpPr>
        <p:spPr>
          <a:xfrm>
            <a:off x="8412480" y="4581144"/>
            <a:ext cx="3200400" cy="1508760"/>
          </a:xfrm>
          <a:prstGeom prst="roundRect">
            <a:avLst>
              <a:gd name="adj" fmla="val 7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spcAft>
                <a:spcPts val="200"/>
              </a:spcAft>
            </a:pPr>
            <a:r>
              <a:rPr sz="3600" b="1" i="0">
                <a:solidFill>
                  <a:srgbClr val="D2AE6C"/>
                </a:solidFill>
                <a:latin typeface="Urbanist"/>
              </a:rPr>
              <a:t>34</a:t>
            </a:r>
          </a:p>
          <a:p>
            <a:pPr algn="ctr"/>
            <a:r>
              <a:rPr sz="1300" b="0" i="0">
                <a:solidFill>
                  <a:srgbClr val="FFFFFF"/>
                </a:solidFill>
                <a:latin typeface="Urbanist"/>
              </a:rPr>
              <a:t>paper tests pass; no counterexample found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384048"/>
            <a:ext cx="11338560" cy="731520"/>
          </a:xfrm>
        </p:spPr>
        <p:txBody>
          <a:bodyPr wrap="square" anchor="ctr" lIns="0" tIns="0" rIns="0" bIns="0"/>
          <a:lstStyle/>
          <a:p>
            <a:pPr algn="l"/>
            <a:r>
              <a:rPr sz="2800" b="1" i="0">
                <a:solidFill>
                  <a:srgbClr val="D2AE6C"/>
                </a:solidFill>
                <a:latin typeface="Urbanist"/>
              </a:rPr>
              <a:t>IMPLEMENTATION: CHROME EXTENSION AND FASTAPI BACKEND</a:t>
            </a:r>
          </a:p>
        </p:txBody>
      </p:sp>
      <p:sp>
        <p:nvSpPr>
          <p:cNvPr id="49" name="Google Shape;49;p6"/>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50" name="Extension screenshot" descr="Extension side panel with input box and verdict summary"/>
          <p:cNvPicPr>
            <a:picLocks noChangeAspect="1"/>
          </p:cNvPicPr>
          <p:nvPr/>
        </p:nvPicPr>
        <p:blipFill>
          <a:blip r:embed="rId3"/>
          <a:stretch>
            <a:fillRect/>
          </a:stretch>
        </p:blipFill>
        <p:spPr>
          <a:xfrm>
            <a:off x="548640" y="1325880"/>
            <a:ext cx="2822171" cy="4434840"/>
          </a:xfrm>
          <a:prstGeom prst="rect">
            <a:avLst/>
          </a:prstGeom>
        </p:spPr>
      </p:pic>
      <p:sp>
        <p:nvSpPr>
          <p:cNvPr id="51" name="Screenshot caption"/>
          <p:cNvSpPr txBox="1"/>
          <p:nvPr/>
        </p:nvSpPr>
        <p:spPr>
          <a:xfrm>
            <a:off x="548640" y="5806440"/>
            <a:ext cx="3108960" cy="457200"/>
          </a:xfrm>
          <a:prstGeom prst="rect">
            <a:avLst/>
          </a:prstGeom>
          <a:noFill/>
        </p:spPr>
        <p:txBody>
          <a:bodyPr wrap="square" anchor="t" lIns="0" tIns="0" rIns="0" bIns="0"/>
          <a:lstStyle/>
          <a:p>
            <a:pPr algn="l"/>
            <a:r>
              <a:rPr sz="1000" b="0" i="0">
                <a:solidFill>
                  <a:srgbClr val="5B6B80"/>
                </a:solidFill>
                <a:latin typeface="Urbanist"/>
              </a:rPr>
              <a:t>Real Chrome 155 run, stub backend with fixed demo data</a:t>
            </a:r>
          </a:p>
        </p:txBody>
      </p:sp>
      <p:sp>
        <p:nvSpPr>
          <p:cNvPr id="52" name="Extension card"/>
          <p:cNvSpPr/>
          <p:nvPr/>
        </p:nvSpPr>
        <p:spPr>
          <a:xfrm>
            <a:off x="3886200" y="1325880"/>
            <a:ext cx="3749039" cy="3063240"/>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tIns="182880" rIns="182880" bIns="91440"/>
          <a:lstStyle/>
          <a:p>
            <a:pPr algn="l">
              <a:spcAft>
                <a:spcPts val="800"/>
              </a:spcAft>
            </a:pPr>
            <a:r>
              <a:rPr sz="1600" b="1" i="0">
                <a:solidFill>
                  <a:srgbClr val="0C5394"/>
                </a:solidFill>
                <a:latin typeface="Urbanist"/>
              </a:rPr>
              <a:t>EXTENSION</a:t>
            </a:r>
          </a:p>
          <a:p>
            <a:pPr algn="l" marL="200000" indent="-200000">
              <a:spcAft>
                <a:spcPts val="500"/>
              </a:spcAft>
              <a:buChar char="•"/>
            </a:pPr>
            <a:r>
              <a:rPr sz="1350" b="0" i="0">
                <a:solidFill>
                  <a:srgbClr val="1A2332"/>
                </a:solidFill>
                <a:latin typeface="Urbanist"/>
              </a:rPr>
              <a:t>Popup and side panel</a:t>
            </a:r>
          </a:p>
          <a:p>
            <a:pPr algn="l" marL="200000" indent="-200000">
              <a:spcAft>
                <a:spcPts val="500"/>
              </a:spcAft>
              <a:buChar char="•"/>
            </a:pPr>
            <a:r>
              <a:rPr sz="1350" b="0" i="0">
                <a:solidFill>
                  <a:srgbClr val="1A2332"/>
                </a:solidFill>
                <a:latin typeface="Urbanist"/>
              </a:rPr>
              <a:t>Right-click or Alt+Shift+S on any text</a:t>
            </a:r>
          </a:p>
          <a:p>
            <a:pPr algn="l" marL="200000" indent="-200000">
              <a:spcAft>
                <a:spcPts val="500"/>
              </a:spcAft>
              <a:buChar char="•"/>
            </a:pPr>
            <a:r>
              <a:rPr sz="1350" b="0" i="0">
                <a:solidFill>
                  <a:srgbClr val="1A2332"/>
                </a:solidFill>
                <a:latin typeface="Urbanist"/>
              </a:rPr>
              <a:t>Claims stream in as each one finishes</a:t>
            </a:r>
          </a:p>
          <a:p>
            <a:pPr algn="l" marL="200000" indent="-200000">
              <a:spcAft>
                <a:spcPts val="500"/>
              </a:spcAft>
              <a:buChar char="•"/>
            </a:pPr>
            <a:r>
              <a:rPr sz="1350" b="0" i="0">
                <a:solidFill>
                  <a:srgbClr val="1A2332"/>
                </a:solidFill>
                <a:latin typeface="Urbanist"/>
              </a:rPr>
              <a:t>Highlight claims on the page, no DOM changes</a:t>
            </a:r>
          </a:p>
          <a:p>
            <a:pPr algn="l" marL="200000" indent="-200000">
              <a:spcAft>
                <a:spcPts val="500"/>
              </a:spcAft>
              <a:buChar char="•"/>
            </a:pPr>
            <a:r>
              <a:rPr sz="1350" b="0" i="0">
                <a:solidFill>
                  <a:srgbClr val="1A2332"/>
                </a:solidFill>
                <a:latin typeface="Urbanist"/>
              </a:rPr>
              <a:t>History, Markdown and JSON export</a:t>
            </a:r>
          </a:p>
        </p:txBody>
      </p:sp>
      <p:sp>
        <p:nvSpPr>
          <p:cNvPr id="53" name="Backend card"/>
          <p:cNvSpPr/>
          <p:nvPr/>
        </p:nvSpPr>
        <p:spPr>
          <a:xfrm>
            <a:off x="7772400" y="1325880"/>
            <a:ext cx="3749039" cy="3063240"/>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tIns="182880" rIns="182880" bIns="91440"/>
          <a:lstStyle/>
          <a:p>
            <a:pPr algn="l">
              <a:spcAft>
                <a:spcPts val="800"/>
              </a:spcAft>
            </a:pPr>
            <a:r>
              <a:rPr sz="1600" b="1" i="0">
                <a:solidFill>
                  <a:srgbClr val="0C5394"/>
                </a:solidFill>
                <a:latin typeface="Urbanist"/>
              </a:rPr>
              <a:t>BACKEND</a:t>
            </a:r>
          </a:p>
          <a:p>
            <a:pPr algn="l" marL="200000" indent="-200000">
              <a:spcAft>
                <a:spcPts val="500"/>
              </a:spcAft>
              <a:buChar char="•"/>
            </a:pPr>
            <a:r>
              <a:rPr sz="1350" b="0" i="0">
                <a:solidFill>
                  <a:srgbClr val="1A2332"/>
                </a:solidFill>
                <a:latin typeface="Urbanist"/>
              </a:rPr>
              <a:t>FastAPI, NDJSON streaming</a:t>
            </a:r>
          </a:p>
          <a:p>
            <a:pPr algn="l" marL="200000" indent="-200000">
              <a:spcAft>
                <a:spcPts val="500"/>
              </a:spcAft>
              <a:buChar char="•"/>
            </a:pPr>
            <a:r>
              <a:rPr sz="1350" b="0" i="0">
                <a:solidFill>
                  <a:srgbClr val="1A2332"/>
                </a:solidFill>
                <a:latin typeface="Urbanist"/>
              </a:rPr>
              <a:t>Wikipedia and OpenAlex retrieval</a:t>
            </a:r>
          </a:p>
          <a:p>
            <a:pPr algn="l" marL="200000" indent="-200000">
              <a:spcAft>
                <a:spcPts val="500"/>
              </a:spcAft>
              <a:buChar char="•"/>
            </a:pPr>
            <a:r>
              <a:rPr sz="1350" b="0" i="0">
                <a:solidFill>
                  <a:srgbClr val="1A2332"/>
                </a:solidFill>
                <a:latin typeface="Urbanist"/>
              </a:rPr>
              <a:t>gpt-4o-mini at temperature 0, JSON repair and retry</a:t>
            </a:r>
          </a:p>
          <a:p>
            <a:pPr algn="l" marL="200000" indent="-200000">
              <a:spcAft>
                <a:spcPts val="500"/>
              </a:spcAft>
              <a:buChar char="•"/>
            </a:pPr>
            <a:r>
              <a:rPr sz="1350" b="0" i="0">
                <a:solidFill>
                  <a:srgbClr val="1A2332"/>
                </a:solidFill>
                <a:latin typeface="Urbanist"/>
              </a:rPr>
              <a:t>Result cache; typed API from OpenAPI</a:t>
            </a:r>
          </a:p>
          <a:p>
            <a:pPr algn="l" marL="200000" indent="-200000">
              <a:spcAft>
                <a:spcPts val="500"/>
              </a:spcAft>
              <a:buChar char="•"/>
            </a:pPr>
            <a:r>
              <a:rPr sz="1350" b="0" i="0">
                <a:solidFill>
                  <a:srgbClr val="1A2332"/>
                </a:solidFill>
                <a:latin typeface="Urbanist"/>
              </a:rPr>
              <a:t>Budget errors reported, not hidden</a:t>
            </a:r>
          </a:p>
        </p:txBody>
      </p:sp>
      <p:sp>
        <p:nvSpPr>
          <p:cNvPr id="54" name="Test stat 1"/>
          <p:cNvSpPr/>
          <p:nvPr/>
        </p:nvSpPr>
        <p:spPr>
          <a:xfrm>
            <a:off x="3886200" y="4617720"/>
            <a:ext cx="2468880" cy="1554480"/>
          </a:xfrm>
          <a:prstGeom prst="roundRect">
            <a:avLst>
              <a:gd name="adj" fmla="val 7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
              </a:spcAft>
            </a:pPr>
            <a:r>
              <a:rPr sz="3400" b="1" i="0">
                <a:solidFill>
                  <a:srgbClr val="D2AE6C"/>
                </a:solidFill>
                <a:latin typeface="Urbanist"/>
              </a:rPr>
              <a:t>117</a:t>
            </a:r>
          </a:p>
          <a:p>
            <a:pPr algn="ctr"/>
            <a:r>
              <a:rPr sz="1250" b="0" i="0">
                <a:solidFill>
                  <a:srgbClr val="FFFFFF"/>
                </a:solidFill>
                <a:latin typeface="Urbanist"/>
              </a:rPr>
              <a:t>backend tests pass</a:t>
            </a:r>
          </a:p>
        </p:txBody>
      </p:sp>
      <p:sp>
        <p:nvSpPr>
          <p:cNvPr id="55" name="Test stat 2"/>
          <p:cNvSpPr/>
          <p:nvPr/>
        </p:nvSpPr>
        <p:spPr>
          <a:xfrm>
            <a:off x="6492240" y="4617720"/>
            <a:ext cx="2468880" cy="1554480"/>
          </a:xfrm>
          <a:prstGeom prst="roundRect">
            <a:avLst>
              <a:gd name="adj" fmla="val 7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
              </a:spcAft>
            </a:pPr>
            <a:r>
              <a:rPr sz="3400" b="1" i="0">
                <a:solidFill>
                  <a:srgbClr val="D2AE6C"/>
                </a:solidFill>
                <a:latin typeface="Urbanist"/>
              </a:rPr>
              <a:t>44</a:t>
            </a:r>
          </a:p>
          <a:p>
            <a:pPr algn="ctr"/>
            <a:r>
              <a:rPr sz="1250" b="0" i="0">
                <a:solidFill>
                  <a:srgbClr val="FFFFFF"/>
                </a:solidFill>
                <a:latin typeface="Urbanist"/>
              </a:rPr>
              <a:t>extension unit tests pass</a:t>
            </a:r>
          </a:p>
        </p:txBody>
      </p:sp>
      <p:sp>
        <p:nvSpPr>
          <p:cNvPr id="56" name="Test stat 3"/>
          <p:cNvSpPr/>
          <p:nvPr/>
        </p:nvSpPr>
        <p:spPr>
          <a:xfrm>
            <a:off x="9098280" y="4617720"/>
            <a:ext cx="2468880" cy="1554480"/>
          </a:xfrm>
          <a:prstGeom prst="roundRect">
            <a:avLst>
              <a:gd name="adj" fmla="val 7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
              </a:spcAft>
            </a:pPr>
            <a:r>
              <a:rPr sz="3400" b="1" i="0">
                <a:solidFill>
                  <a:srgbClr val="D2AE6C"/>
                </a:solidFill>
                <a:latin typeface="Urbanist"/>
              </a:rPr>
              <a:t>35</a:t>
            </a:r>
          </a:p>
          <a:p>
            <a:pPr algn="ctr"/>
            <a:r>
              <a:rPr sz="1250" b="0" i="0">
                <a:solidFill>
                  <a:srgbClr val="FFFFFF"/>
                </a:solidFill>
                <a:latin typeface="Urbanist"/>
              </a:rPr>
              <a:t>real-Chrome end-to-end checks pass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384048"/>
            <a:ext cx="11338560" cy="731520"/>
          </a:xfrm>
        </p:spPr>
        <p:txBody>
          <a:bodyPr wrap="square" anchor="ctr" lIns="0" tIns="0" rIns="0" bIns="0"/>
          <a:lstStyle/>
          <a:p>
            <a:pPr algn="l"/>
            <a:r>
              <a:rPr sz="2800" b="1" i="0">
                <a:solidFill>
                  <a:srgbClr val="D2AE6C"/>
                </a:solidFill>
                <a:latin typeface="Urbanist"/>
              </a:rPr>
              <a:t>RESULTS: CONFUSION MATRICES ON 100 FEVER CLAIMS</a:t>
            </a:r>
          </a:p>
        </p:txBody>
      </p:sp>
      <p:sp>
        <p:nvSpPr>
          <p:cNvPr id="49" name="Google Shape;49;p6"/>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50" name="Setup chip 1"/>
          <p:cNvSpPr/>
          <p:nvPr/>
        </p:nvSpPr>
        <p:spPr>
          <a:xfrm>
            <a:off x="548640" y="1280160"/>
            <a:ext cx="2697480" cy="960120"/>
          </a:xfrm>
          <a:prstGeom prst="roundRect">
            <a:avLst>
              <a:gd name="adj" fmla="val 7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200" b="1" i="0">
                <a:solidFill>
                  <a:srgbClr val="D2AE6C"/>
                </a:solidFill>
                <a:latin typeface="Urbanist"/>
              </a:rPr>
              <a:t>100</a:t>
            </a:r>
          </a:p>
          <a:p>
            <a:pPr algn="ctr"/>
            <a:r>
              <a:rPr sz="1200" b="0" i="0">
                <a:solidFill>
                  <a:srgbClr val="FFFFFF"/>
                </a:solidFill>
                <a:latin typeface="Urbanist"/>
              </a:rPr>
              <a:t>claims scored</a:t>
            </a:r>
          </a:p>
        </p:txBody>
      </p:sp>
      <p:sp>
        <p:nvSpPr>
          <p:cNvPr id="51" name="Setup chip 2"/>
          <p:cNvSpPr/>
          <p:nvPr/>
        </p:nvSpPr>
        <p:spPr>
          <a:xfrm>
            <a:off x="3355848" y="1280160"/>
            <a:ext cx="2697480" cy="960120"/>
          </a:xfrm>
          <a:prstGeom prst="roundRect">
            <a:avLst>
              <a:gd name="adj" fmla="val 7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200" b="1" i="0">
                <a:solidFill>
                  <a:srgbClr val="D2AE6C"/>
                </a:solidFill>
                <a:latin typeface="Urbanist"/>
              </a:rPr>
              <a:t>33 / 36 / 31</a:t>
            </a:r>
          </a:p>
          <a:p>
            <a:pPr algn="ctr"/>
            <a:r>
              <a:rPr sz="1200" b="0" i="0">
                <a:solidFill>
                  <a:srgbClr val="FFFFFF"/>
                </a:solidFill>
                <a:latin typeface="Urbanist"/>
              </a:rPr>
              <a:t>SUPPORTS / REFUTES / NEI</a:t>
            </a:r>
          </a:p>
        </p:txBody>
      </p:sp>
      <p:sp>
        <p:nvSpPr>
          <p:cNvPr id="52" name="Setup chip 3"/>
          <p:cNvSpPr/>
          <p:nvPr/>
        </p:nvSpPr>
        <p:spPr>
          <a:xfrm>
            <a:off x="6163055" y="1280160"/>
            <a:ext cx="2697480" cy="960120"/>
          </a:xfrm>
          <a:prstGeom prst="roundRect">
            <a:avLst>
              <a:gd name="adj" fmla="val 7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200" b="1" i="0">
                <a:solidFill>
                  <a:srgbClr val="D2AE6C"/>
                </a:solidFill>
                <a:latin typeface="Urbanist"/>
              </a:rPr>
              <a:t>3</a:t>
            </a:r>
          </a:p>
          <a:p>
            <a:pPr algn="ctr"/>
            <a:r>
              <a:rPr sz="1200" b="0" i="0">
                <a:solidFill>
                  <a:srgbClr val="FFFFFF"/>
                </a:solidFill>
                <a:latin typeface="Urbanist"/>
              </a:rPr>
              <a:t>variants, same claims</a:t>
            </a:r>
          </a:p>
        </p:txBody>
      </p:sp>
      <p:sp>
        <p:nvSpPr>
          <p:cNvPr id="53" name="Setup chip 4"/>
          <p:cNvSpPr/>
          <p:nvPr/>
        </p:nvSpPr>
        <p:spPr>
          <a:xfrm>
            <a:off x="8970263" y="1280160"/>
            <a:ext cx="2697480" cy="960120"/>
          </a:xfrm>
          <a:prstGeom prst="roundRect">
            <a:avLst>
              <a:gd name="adj" fmla="val 7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200" b="1" i="0">
                <a:solidFill>
                  <a:srgbClr val="D2AE6C"/>
                </a:solidFill>
                <a:latin typeface="Urbanist"/>
              </a:rPr>
              <a:t>seed 42</a:t>
            </a:r>
          </a:p>
          <a:p>
            <a:pPr algn="ctr"/>
            <a:r>
              <a:rPr sz="1200" b="0" i="0">
                <a:solidFill>
                  <a:srgbClr val="FFFFFF"/>
                </a:solidFill>
                <a:latin typeface="Urbanist"/>
              </a:rPr>
              <a:t>gpt-4o-mini, temp 0</a:t>
            </a:r>
          </a:p>
        </p:txBody>
      </p:sp>
      <p:sp>
        <p:nvSpPr>
          <p:cNvPr id="54" name="Matrix title 1"/>
          <p:cNvSpPr txBox="1"/>
          <p:nvPr/>
        </p:nvSpPr>
        <p:spPr>
          <a:xfrm>
            <a:off x="548640" y="2468880"/>
            <a:ext cx="3566160" cy="365760"/>
          </a:xfrm>
          <a:prstGeom prst="rect">
            <a:avLst/>
          </a:prstGeom>
          <a:noFill/>
        </p:spPr>
        <p:txBody>
          <a:bodyPr wrap="square" anchor="t" lIns="0" tIns="0" rIns="0" bIns="0"/>
          <a:lstStyle/>
          <a:p>
            <a:pPr algn="l"/>
            <a:r>
              <a:rPr sz="1500" b="1" i="0">
                <a:solidFill>
                  <a:srgbClr val="0C5394"/>
                </a:solidFill>
                <a:latin typeface="Urbanist"/>
              </a:rPr>
              <a:t>Pooled + OpenAlex (baseline)</a:t>
            </a:r>
          </a:p>
        </p:txBody>
      </p:sp>
      <p:graphicFrame>
        <p:nvGraphicFramePr>
          <p:cNvPr id="55" name="Confusion matrix 1"/>
          <p:cNvGraphicFramePr>
            <a:graphicFrameLocks noGrp="1"/>
          </p:cNvGraphicFramePr>
          <p:nvPr/>
        </p:nvGraphicFramePr>
        <p:xfrm>
          <a:off x="548640" y="2880360"/>
          <a:ext cx="3566160" cy="2432304"/>
        </p:xfrm>
        <a:graphic>
          <a:graphicData uri="http://schemas.openxmlformats.org/drawingml/2006/table">
            <a:tbl>
              <a:tblPr firstRow="0" bandRow="0">
                <a:tableStyleId>{5C22544A-7EE6-4342-B048-85BDC9FD1C3A}</a:tableStyleId>
              </a:tblPr>
              <a:tblGrid>
                <a:gridCol w="1188720"/>
                <a:gridCol w="594360"/>
                <a:gridCol w="594360"/>
                <a:gridCol w="594360"/>
                <a:gridCol w="594360"/>
              </a:tblGrid>
              <a:tr h="457200">
                <a:tc>
                  <a:txBody>
                    <a:bodyPr wrap="square"/>
                    <a:lstStyle/>
                    <a:p>
                      <a:pPr algn="ctr"/>
                      <a:r>
                        <a:rPr sz="1200" b="1">
                          <a:solidFill>
                            <a:srgbClr val="FFFFFF"/>
                          </a:solidFill>
                          <a:latin typeface="Urbanist"/>
                        </a:rPr>
                        <a:t>gold \ pred</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1A2332"/>
                    </a:solidFill>
                  </a:tcPr>
                </a:tc>
                <a:tc>
                  <a:txBody>
                    <a:bodyPr wrap="square"/>
                    <a:lstStyle/>
                    <a:p>
                      <a:pPr algn="ctr"/>
                      <a:r>
                        <a:rPr sz="1400" b="1">
                          <a:solidFill>
                            <a:srgbClr val="FFFFFF"/>
                          </a:solidFill>
                          <a:latin typeface="Urbanist"/>
                        </a:rPr>
                        <a:t>S</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1A2332"/>
                    </a:solidFill>
                  </a:tcPr>
                </a:tc>
                <a:tc>
                  <a:txBody>
                    <a:bodyPr wrap="square"/>
                    <a:lstStyle/>
                    <a:p>
                      <a:pPr algn="ctr"/>
                      <a:r>
                        <a:rPr sz="1400" b="1">
                          <a:solidFill>
                            <a:srgbClr val="FFFFFF"/>
                          </a:solidFill>
                          <a:latin typeface="Urbanist"/>
                        </a:rPr>
                        <a:t>R</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1A2332"/>
                    </a:solidFill>
                  </a:tcPr>
                </a:tc>
                <a:tc>
                  <a:txBody>
                    <a:bodyPr wrap="square"/>
                    <a:lstStyle/>
                    <a:p>
                      <a:pPr algn="ctr"/>
                      <a:r>
                        <a:rPr sz="1400" b="1">
                          <a:solidFill>
                            <a:srgbClr val="FFFFFF"/>
                          </a:solidFill>
                          <a:latin typeface="Urbanist"/>
                        </a:rPr>
                        <a:t>N</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1A2332"/>
                    </a:solidFill>
                  </a:tcPr>
                </a:tc>
                <a:tc>
                  <a:txBody>
                    <a:bodyPr wrap="square"/>
                    <a:lstStyle/>
                    <a:p>
                      <a:pPr algn="ctr"/>
                      <a:r>
                        <a:rPr sz="1400" b="1">
                          <a:solidFill>
                            <a:srgbClr val="FFFFFF"/>
                          </a:solidFill>
                          <a:latin typeface="Urbanist"/>
                        </a:rPr>
                        <a:t>M</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1A2332"/>
                    </a:solidFill>
                  </a:tcPr>
                </a:tc>
              </a:tr>
              <a:tr h="658368">
                <a:tc>
                  <a:txBody>
                    <a:bodyPr wrap="square"/>
                    <a:lstStyle/>
                    <a:p>
                      <a:pPr algn="l"/>
                      <a:r>
                        <a:rPr sz="1200" b="1">
                          <a:solidFill>
                            <a:srgbClr val="1A2332"/>
                          </a:solidFill>
                          <a:latin typeface="Urbanist"/>
                        </a:rPr>
                        <a:t>SUPPORTS</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AF1F8"/>
                    </a:solidFill>
                  </a:tcPr>
                </a:tc>
                <a:tc>
                  <a:txBody>
                    <a:bodyPr wrap="square"/>
                    <a:lstStyle/>
                    <a:p>
                      <a:pPr algn="ctr"/>
                      <a:r>
                        <a:rPr sz="1700" b="1">
                          <a:solidFill>
                            <a:srgbClr val="1A2332"/>
                          </a:solidFill>
                          <a:latin typeface="Urbanist"/>
                        </a:rPr>
                        <a:t>15</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80A5C7"/>
                    </a:solidFill>
                  </a:tcPr>
                </a:tc>
                <a:tc>
                  <a:txBody>
                    <a:bodyPr wrap="square"/>
                    <a:lstStyle/>
                    <a:p>
                      <a:pPr algn="ctr"/>
                      <a:r>
                        <a:rPr sz="1700" b="1">
                          <a:solidFill>
                            <a:srgbClr val="1A2332"/>
                          </a:solidFill>
                          <a:latin typeface="Urbanist"/>
                        </a:rPr>
                        <a:t>9</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BC1BD"/>
                    </a:solidFill>
                  </a:tcPr>
                </a:tc>
                <a:tc>
                  <a:txBody>
                    <a:bodyPr wrap="square"/>
                    <a:lstStyle/>
                    <a:p>
                      <a:pPr algn="ctr"/>
                      <a:r>
                        <a:rPr sz="1700" b="1">
                          <a:solidFill>
                            <a:srgbClr val="1A2332"/>
                          </a:solidFill>
                          <a:latin typeface="Urbanist"/>
                        </a:rPr>
                        <a:t>9</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BC1BD"/>
                    </a:solidFill>
                  </a:tcPr>
                </a:tc>
                <a:tc>
                  <a:txBody>
                    <a:bodyPr wrap="square"/>
                    <a:lstStyle/>
                    <a:p>
                      <a:pPr algn="ctr"/>
                      <a:r>
                        <a:rPr sz="1700" b="1">
                          <a:solidFill>
                            <a:srgbClr val="1A2332"/>
                          </a:solidFill>
                          <a:latin typeface="Urbanist"/>
                        </a:rPr>
                        <a:t>0</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r>
              <a:tr h="658368">
                <a:tc>
                  <a:txBody>
                    <a:bodyPr wrap="square"/>
                    <a:lstStyle/>
                    <a:p>
                      <a:pPr algn="l"/>
                      <a:r>
                        <a:rPr sz="1200" b="1">
                          <a:solidFill>
                            <a:srgbClr val="1A2332"/>
                          </a:solidFill>
                          <a:latin typeface="Urbanist"/>
                        </a:rPr>
                        <a:t>REFUTES</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AF1F8"/>
                    </a:solidFill>
                  </a:tcPr>
                </a:tc>
                <a:tc>
                  <a:txBody>
                    <a:bodyPr wrap="square"/>
                    <a:lstStyle/>
                    <a:p>
                      <a:pPr algn="ctr"/>
                      <a:r>
                        <a:rPr sz="1700" b="1">
                          <a:solidFill>
                            <a:srgbClr val="1A2332"/>
                          </a:solidFill>
                          <a:latin typeface="Urbanist"/>
                        </a:rPr>
                        <a:t>3</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9ECEB"/>
                    </a:solidFill>
                  </a:tcPr>
                </a:tc>
                <a:tc>
                  <a:txBody>
                    <a:bodyPr wrap="square"/>
                    <a:lstStyle/>
                    <a:p>
                      <a:pPr algn="ctr"/>
                      <a:r>
                        <a:rPr sz="1700" b="1">
                          <a:solidFill>
                            <a:srgbClr val="FFFFFF"/>
                          </a:solidFill>
                          <a:latin typeface="Urbanist"/>
                        </a:rPr>
                        <a:t>31</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0E5595"/>
                    </a:solidFill>
                  </a:tcPr>
                </a:tc>
                <a:tc>
                  <a:txBody>
                    <a:bodyPr wrap="square"/>
                    <a:lstStyle/>
                    <a:p>
                      <a:pPr algn="ctr"/>
                      <a:r>
                        <a:rPr sz="1700" b="1">
                          <a:solidFill>
                            <a:srgbClr val="1A2332"/>
                          </a:solidFill>
                          <a:latin typeface="Urbanist"/>
                        </a:rPr>
                        <a:t>2</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F2F1"/>
                    </a:solidFill>
                  </a:tcPr>
                </a:tc>
                <a:tc>
                  <a:txBody>
                    <a:bodyPr wrap="square"/>
                    <a:lstStyle/>
                    <a:p>
                      <a:pPr algn="ctr"/>
                      <a:r>
                        <a:rPr sz="1700" b="1">
                          <a:solidFill>
                            <a:srgbClr val="1A2332"/>
                          </a:solidFill>
                          <a:latin typeface="Urbanist"/>
                        </a:rPr>
                        <a:t>0</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r>
              <a:tr h="658368">
                <a:tc>
                  <a:txBody>
                    <a:bodyPr wrap="square"/>
                    <a:lstStyle/>
                    <a:p>
                      <a:pPr algn="l"/>
                      <a:r>
                        <a:rPr sz="1200" b="1">
                          <a:solidFill>
                            <a:srgbClr val="1A2332"/>
                          </a:solidFill>
                          <a:latin typeface="Urbanist"/>
                        </a:rPr>
                        <a:t>NEI</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AF1F8"/>
                    </a:solidFill>
                  </a:tcPr>
                </a:tc>
                <a:tc>
                  <a:txBody>
                    <a:bodyPr wrap="square"/>
                    <a:lstStyle/>
                    <a:p>
                      <a:pPr algn="ctr"/>
                      <a:r>
                        <a:rPr sz="1700" b="1">
                          <a:solidFill>
                            <a:srgbClr val="1A2332"/>
                          </a:solidFill>
                          <a:latin typeface="Urbanist"/>
                        </a:rPr>
                        <a:t>2</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AF0EF"/>
                    </a:solidFill>
                  </a:tcPr>
                </a:tc>
                <a:tc>
                  <a:txBody>
                    <a:bodyPr wrap="square"/>
                    <a:lstStyle/>
                    <a:p>
                      <a:pPr algn="ctr"/>
                      <a:r>
                        <a:rPr sz="1700" b="1">
                          <a:solidFill>
                            <a:srgbClr val="FFFFFF"/>
                          </a:solidFill>
                          <a:latin typeface="Urbanist"/>
                        </a:rPr>
                        <a:t>24</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C74F42"/>
                    </a:solidFill>
                  </a:tcPr>
                </a:tc>
                <a:tc>
                  <a:txBody>
                    <a:bodyPr wrap="square"/>
                    <a:lstStyle/>
                    <a:p>
                      <a:pPr algn="ctr"/>
                      <a:r>
                        <a:rPr sz="1700" b="1">
                          <a:solidFill>
                            <a:srgbClr val="1A2332"/>
                          </a:solidFill>
                          <a:latin typeface="Urbanist"/>
                        </a:rPr>
                        <a:t>5</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DFEB"/>
                    </a:solidFill>
                  </a:tcPr>
                </a:tc>
                <a:tc>
                  <a:txBody>
                    <a:bodyPr wrap="square"/>
                    <a:lstStyle/>
                    <a:p>
                      <a:pPr algn="ctr"/>
                      <a:r>
                        <a:rPr sz="1700" b="1">
                          <a:solidFill>
                            <a:srgbClr val="1A2332"/>
                          </a:solidFill>
                          <a:latin typeface="Urbanist"/>
                        </a:rPr>
                        <a:t>0</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r>
            </a:tbl>
          </a:graphicData>
        </a:graphic>
      </p:graphicFrame>
      <p:sp>
        <p:nvSpPr>
          <p:cNvPr id="56" name="Matrix title 2"/>
          <p:cNvSpPr txBox="1"/>
          <p:nvPr/>
        </p:nvSpPr>
        <p:spPr>
          <a:xfrm>
            <a:off x="4297679" y="2468880"/>
            <a:ext cx="3566160" cy="365760"/>
          </a:xfrm>
          <a:prstGeom prst="rect">
            <a:avLst/>
          </a:prstGeom>
          <a:noFill/>
        </p:spPr>
        <p:txBody>
          <a:bodyPr wrap="square" anchor="t" lIns="0" tIns="0" rIns="0" bIns="0"/>
          <a:lstStyle/>
          <a:p>
            <a:pPr algn="l"/>
            <a:r>
              <a:rPr sz="1500" b="1" i="0">
                <a:solidFill>
                  <a:srgbClr val="0C5394"/>
                </a:solidFill>
                <a:latin typeface="Urbanist"/>
              </a:rPr>
              <a:t>Pooled + Wikipedia</a:t>
            </a:r>
          </a:p>
        </p:txBody>
      </p:sp>
      <p:graphicFrame>
        <p:nvGraphicFramePr>
          <p:cNvPr id="57" name="Confusion matrix 2"/>
          <p:cNvGraphicFramePr>
            <a:graphicFrameLocks noGrp="1"/>
          </p:cNvGraphicFramePr>
          <p:nvPr/>
        </p:nvGraphicFramePr>
        <p:xfrm>
          <a:off x="4297679" y="2880360"/>
          <a:ext cx="3566160" cy="2432304"/>
        </p:xfrm>
        <a:graphic>
          <a:graphicData uri="http://schemas.openxmlformats.org/drawingml/2006/table">
            <a:tbl>
              <a:tblPr firstRow="0" bandRow="0">
                <a:tableStyleId>{5C22544A-7EE6-4342-B048-85BDC9FD1C3A}</a:tableStyleId>
              </a:tblPr>
              <a:tblGrid>
                <a:gridCol w="1188720"/>
                <a:gridCol w="594360"/>
                <a:gridCol w="594360"/>
                <a:gridCol w="594360"/>
                <a:gridCol w="594360"/>
              </a:tblGrid>
              <a:tr h="457200">
                <a:tc>
                  <a:txBody>
                    <a:bodyPr wrap="square"/>
                    <a:lstStyle/>
                    <a:p>
                      <a:pPr algn="ctr"/>
                      <a:r>
                        <a:rPr sz="1200" b="1">
                          <a:solidFill>
                            <a:srgbClr val="FFFFFF"/>
                          </a:solidFill>
                          <a:latin typeface="Urbanist"/>
                        </a:rPr>
                        <a:t>gold \ pred</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1A2332"/>
                    </a:solidFill>
                  </a:tcPr>
                </a:tc>
                <a:tc>
                  <a:txBody>
                    <a:bodyPr wrap="square"/>
                    <a:lstStyle/>
                    <a:p>
                      <a:pPr algn="ctr"/>
                      <a:r>
                        <a:rPr sz="1400" b="1">
                          <a:solidFill>
                            <a:srgbClr val="FFFFFF"/>
                          </a:solidFill>
                          <a:latin typeface="Urbanist"/>
                        </a:rPr>
                        <a:t>S</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1A2332"/>
                    </a:solidFill>
                  </a:tcPr>
                </a:tc>
                <a:tc>
                  <a:txBody>
                    <a:bodyPr wrap="square"/>
                    <a:lstStyle/>
                    <a:p>
                      <a:pPr algn="ctr"/>
                      <a:r>
                        <a:rPr sz="1400" b="1">
                          <a:solidFill>
                            <a:srgbClr val="FFFFFF"/>
                          </a:solidFill>
                          <a:latin typeface="Urbanist"/>
                        </a:rPr>
                        <a:t>R</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1A2332"/>
                    </a:solidFill>
                  </a:tcPr>
                </a:tc>
                <a:tc>
                  <a:txBody>
                    <a:bodyPr wrap="square"/>
                    <a:lstStyle/>
                    <a:p>
                      <a:pPr algn="ctr"/>
                      <a:r>
                        <a:rPr sz="1400" b="1">
                          <a:solidFill>
                            <a:srgbClr val="FFFFFF"/>
                          </a:solidFill>
                          <a:latin typeface="Urbanist"/>
                        </a:rPr>
                        <a:t>N</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1A2332"/>
                    </a:solidFill>
                  </a:tcPr>
                </a:tc>
                <a:tc>
                  <a:txBody>
                    <a:bodyPr wrap="square"/>
                    <a:lstStyle/>
                    <a:p>
                      <a:pPr algn="ctr"/>
                      <a:r>
                        <a:rPr sz="1400" b="1">
                          <a:solidFill>
                            <a:srgbClr val="FFFFFF"/>
                          </a:solidFill>
                          <a:latin typeface="Urbanist"/>
                        </a:rPr>
                        <a:t>M</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1A2332"/>
                    </a:solidFill>
                  </a:tcPr>
                </a:tc>
              </a:tr>
              <a:tr h="658368">
                <a:tc>
                  <a:txBody>
                    <a:bodyPr wrap="square"/>
                    <a:lstStyle/>
                    <a:p>
                      <a:pPr algn="l"/>
                      <a:r>
                        <a:rPr sz="1200" b="1">
                          <a:solidFill>
                            <a:srgbClr val="1A2332"/>
                          </a:solidFill>
                          <a:latin typeface="Urbanist"/>
                        </a:rPr>
                        <a:t>SUPPORTS</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AF1F8"/>
                    </a:solidFill>
                  </a:tcPr>
                </a:tc>
                <a:tc>
                  <a:txBody>
                    <a:bodyPr wrap="square"/>
                    <a:lstStyle/>
                    <a:p>
                      <a:pPr algn="ctr"/>
                      <a:r>
                        <a:rPr sz="1700" b="1">
                          <a:solidFill>
                            <a:srgbClr val="FFFFFF"/>
                          </a:solidFill>
                          <a:latin typeface="Urbanist"/>
                        </a:rPr>
                        <a:t>24</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346FA6"/>
                    </a:solidFill>
                  </a:tcPr>
                </a:tc>
                <a:tc>
                  <a:txBody>
                    <a:bodyPr wrap="square"/>
                    <a:lstStyle/>
                    <a:p>
                      <a:pPr algn="ctr"/>
                      <a:r>
                        <a:rPr sz="1700" b="1">
                          <a:solidFill>
                            <a:srgbClr val="1A2332"/>
                          </a:solidFill>
                          <a:latin typeface="Urbanist"/>
                        </a:rPr>
                        <a:t>8</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DC8C4"/>
                    </a:solidFill>
                  </a:tcPr>
                </a:tc>
                <a:tc>
                  <a:txBody>
                    <a:bodyPr wrap="square"/>
                    <a:lstStyle/>
                    <a:p>
                      <a:pPr algn="ctr"/>
                      <a:r>
                        <a:rPr sz="1700" b="1">
                          <a:solidFill>
                            <a:srgbClr val="1A2332"/>
                          </a:solidFill>
                          <a:latin typeface="Urbanist"/>
                        </a:rPr>
                        <a:t>1</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DF8F8"/>
                    </a:solidFill>
                  </a:tcPr>
                </a:tc>
                <a:tc>
                  <a:txBody>
                    <a:bodyPr wrap="square"/>
                    <a:lstStyle/>
                    <a:p>
                      <a:pPr algn="ctr"/>
                      <a:r>
                        <a:rPr sz="1700" b="1">
                          <a:solidFill>
                            <a:srgbClr val="1A2332"/>
                          </a:solidFill>
                          <a:latin typeface="Urbanist"/>
                        </a:rPr>
                        <a:t>0</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r>
              <a:tr h="658368">
                <a:tc>
                  <a:txBody>
                    <a:bodyPr wrap="square"/>
                    <a:lstStyle/>
                    <a:p>
                      <a:pPr algn="l"/>
                      <a:r>
                        <a:rPr sz="1200" b="1">
                          <a:solidFill>
                            <a:srgbClr val="1A2332"/>
                          </a:solidFill>
                          <a:latin typeface="Urbanist"/>
                        </a:rPr>
                        <a:t>REFUTES</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AF1F8"/>
                    </a:solidFill>
                  </a:tcPr>
                </a:tc>
                <a:tc>
                  <a:txBody>
                    <a:bodyPr wrap="square"/>
                    <a:lstStyle/>
                    <a:p>
                      <a:pPr algn="ctr"/>
                      <a:r>
                        <a:rPr sz="1700" b="1">
                          <a:solidFill>
                            <a:srgbClr val="1A2332"/>
                          </a:solidFill>
                          <a:latin typeface="Urbanist"/>
                        </a:rPr>
                        <a:t>4</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7E6E4"/>
                    </a:solidFill>
                  </a:tcPr>
                </a:tc>
                <a:tc>
                  <a:txBody>
                    <a:bodyPr wrap="square"/>
                    <a:lstStyle/>
                    <a:p>
                      <a:pPr algn="ctr"/>
                      <a:r>
                        <a:rPr sz="1700" b="1">
                          <a:solidFill>
                            <a:srgbClr val="FFFFFF"/>
                          </a:solidFill>
                          <a:latin typeface="Urbanist"/>
                        </a:rPr>
                        <a:t>31</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0E5595"/>
                    </a:solidFill>
                  </a:tcPr>
                </a:tc>
                <a:tc>
                  <a:txBody>
                    <a:bodyPr wrap="square"/>
                    <a:lstStyle/>
                    <a:p>
                      <a:pPr algn="ctr"/>
                      <a:r>
                        <a:rPr sz="1700" b="1">
                          <a:solidFill>
                            <a:srgbClr val="1A2332"/>
                          </a:solidFill>
                          <a:latin typeface="Urbanist"/>
                        </a:rPr>
                        <a:t>1</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DF9F8"/>
                    </a:solidFill>
                  </a:tcPr>
                </a:tc>
                <a:tc>
                  <a:txBody>
                    <a:bodyPr wrap="square"/>
                    <a:lstStyle/>
                    <a:p>
                      <a:pPr algn="ctr"/>
                      <a:r>
                        <a:rPr sz="1700" b="1">
                          <a:solidFill>
                            <a:srgbClr val="1A2332"/>
                          </a:solidFill>
                          <a:latin typeface="Urbanist"/>
                        </a:rPr>
                        <a:t>0</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r>
              <a:tr h="658368">
                <a:tc>
                  <a:txBody>
                    <a:bodyPr wrap="square"/>
                    <a:lstStyle/>
                    <a:p>
                      <a:pPr algn="l"/>
                      <a:r>
                        <a:rPr sz="1200" b="1">
                          <a:solidFill>
                            <a:srgbClr val="1A2332"/>
                          </a:solidFill>
                          <a:latin typeface="Urbanist"/>
                        </a:rPr>
                        <a:t>NEI</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AF1F8"/>
                    </a:solidFill>
                  </a:tcPr>
                </a:tc>
                <a:tc>
                  <a:txBody>
                    <a:bodyPr wrap="square"/>
                    <a:lstStyle/>
                    <a:p>
                      <a:pPr algn="ctr"/>
                      <a:r>
                        <a:rPr sz="1700" b="1">
                          <a:solidFill>
                            <a:srgbClr val="1A2332"/>
                          </a:solidFill>
                          <a:latin typeface="Urbanist"/>
                        </a:rPr>
                        <a:t>6</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1D3D0"/>
                    </a:solidFill>
                  </a:tcPr>
                </a:tc>
                <a:tc>
                  <a:txBody>
                    <a:bodyPr wrap="square"/>
                    <a:lstStyle/>
                    <a:p>
                      <a:pPr algn="ctr"/>
                      <a:r>
                        <a:rPr sz="1700" b="1">
                          <a:solidFill>
                            <a:srgbClr val="FFFFFF"/>
                          </a:solidFill>
                          <a:latin typeface="Urbanist"/>
                        </a:rPr>
                        <a:t>25</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C5473A"/>
                    </a:solidFill>
                  </a:tcPr>
                </a:tc>
                <a:tc>
                  <a:txBody>
                    <a:bodyPr wrap="square"/>
                    <a:lstStyle/>
                    <a:p>
                      <a:pPr algn="ctr"/>
                      <a:r>
                        <a:rPr sz="1700" b="1">
                          <a:solidFill>
                            <a:srgbClr val="1A2332"/>
                          </a:solidFill>
                          <a:latin typeface="Urbanist"/>
                        </a:rPr>
                        <a:t>0</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c>
                  <a:txBody>
                    <a:bodyPr wrap="square"/>
                    <a:lstStyle/>
                    <a:p>
                      <a:pPr algn="ctr"/>
                      <a:r>
                        <a:rPr sz="1700" b="1">
                          <a:solidFill>
                            <a:srgbClr val="1A2332"/>
                          </a:solidFill>
                          <a:latin typeface="Urbanist"/>
                        </a:rPr>
                        <a:t>0</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r>
            </a:tbl>
          </a:graphicData>
        </a:graphic>
      </p:graphicFrame>
      <p:sp>
        <p:nvSpPr>
          <p:cNvPr id="58" name="Matrix title 3"/>
          <p:cNvSpPr txBox="1"/>
          <p:nvPr/>
        </p:nvSpPr>
        <p:spPr>
          <a:xfrm>
            <a:off x="8046719" y="2468880"/>
            <a:ext cx="3566160" cy="365760"/>
          </a:xfrm>
          <a:prstGeom prst="rect">
            <a:avLst/>
          </a:prstGeom>
          <a:noFill/>
        </p:spPr>
        <p:txBody>
          <a:bodyPr wrap="square" anchor="t" lIns="0" tIns="0" rIns="0" bIns="0"/>
          <a:lstStyle/>
          <a:p>
            <a:pPr algn="l"/>
            <a:r>
              <a:rPr sz="1500" b="1" i="0">
                <a:solidFill>
                  <a:srgbClr val="0C5394"/>
                </a:solidFill>
                <a:latin typeface="Urbanist"/>
              </a:rPr>
              <a:t>Stance + Wikipedia (first prompt)</a:t>
            </a:r>
          </a:p>
        </p:txBody>
      </p:sp>
      <p:graphicFrame>
        <p:nvGraphicFramePr>
          <p:cNvPr id="59" name="Confusion matrix 3"/>
          <p:cNvGraphicFramePr>
            <a:graphicFrameLocks noGrp="1"/>
          </p:cNvGraphicFramePr>
          <p:nvPr/>
        </p:nvGraphicFramePr>
        <p:xfrm>
          <a:off x="8046719" y="2880360"/>
          <a:ext cx="3566160" cy="2432304"/>
        </p:xfrm>
        <a:graphic>
          <a:graphicData uri="http://schemas.openxmlformats.org/drawingml/2006/table">
            <a:tbl>
              <a:tblPr firstRow="0" bandRow="0">
                <a:tableStyleId>{5C22544A-7EE6-4342-B048-85BDC9FD1C3A}</a:tableStyleId>
              </a:tblPr>
              <a:tblGrid>
                <a:gridCol w="1188720"/>
                <a:gridCol w="594360"/>
                <a:gridCol w="594360"/>
                <a:gridCol w="594360"/>
                <a:gridCol w="594360"/>
              </a:tblGrid>
              <a:tr h="457200">
                <a:tc>
                  <a:txBody>
                    <a:bodyPr wrap="square"/>
                    <a:lstStyle/>
                    <a:p>
                      <a:pPr algn="ctr"/>
                      <a:r>
                        <a:rPr sz="1200" b="1">
                          <a:solidFill>
                            <a:srgbClr val="FFFFFF"/>
                          </a:solidFill>
                          <a:latin typeface="Urbanist"/>
                        </a:rPr>
                        <a:t>gold \ pred</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1A2332"/>
                    </a:solidFill>
                  </a:tcPr>
                </a:tc>
                <a:tc>
                  <a:txBody>
                    <a:bodyPr wrap="square"/>
                    <a:lstStyle/>
                    <a:p>
                      <a:pPr algn="ctr"/>
                      <a:r>
                        <a:rPr sz="1400" b="1">
                          <a:solidFill>
                            <a:srgbClr val="FFFFFF"/>
                          </a:solidFill>
                          <a:latin typeface="Urbanist"/>
                        </a:rPr>
                        <a:t>S</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1A2332"/>
                    </a:solidFill>
                  </a:tcPr>
                </a:tc>
                <a:tc>
                  <a:txBody>
                    <a:bodyPr wrap="square"/>
                    <a:lstStyle/>
                    <a:p>
                      <a:pPr algn="ctr"/>
                      <a:r>
                        <a:rPr sz="1400" b="1">
                          <a:solidFill>
                            <a:srgbClr val="FFFFFF"/>
                          </a:solidFill>
                          <a:latin typeface="Urbanist"/>
                        </a:rPr>
                        <a:t>R</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1A2332"/>
                    </a:solidFill>
                  </a:tcPr>
                </a:tc>
                <a:tc>
                  <a:txBody>
                    <a:bodyPr wrap="square"/>
                    <a:lstStyle/>
                    <a:p>
                      <a:pPr algn="ctr"/>
                      <a:r>
                        <a:rPr sz="1400" b="1">
                          <a:solidFill>
                            <a:srgbClr val="FFFFFF"/>
                          </a:solidFill>
                          <a:latin typeface="Urbanist"/>
                        </a:rPr>
                        <a:t>N</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1A2332"/>
                    </a:solidFill>
                  </a:tcPr>
                </a:tc>
                <a:tc>
                  <a:txBody>
                    <a:bodyPr wrap="square"/>
                    <a:lstStyle/>
                    <a:p>
                      <a:pPr algn="ctr"/>
                      <a:r>
                        <a:rPr sz="1400" b="1">
                          <a:solidFill>
                            <a:srgbClr val="FFFFFF"/>
                          </a:solidFill>
                          <a:latin typeface="Urbanist"/>
                        </a:rPr>
                        <a:t>M</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1A2332"/>
                    </a:solidFill>
                  </a:tcPr>
                </a:tc>
              </a:tr>
              <a:tr h="658368">
                <a:tc>
                  <a:txBody>
                    <a:bodyPr wrap="square"/>
                    <a:lstStyle/>
                    <a:p>
                      <a:pPr algn="l"/>
                      <a:r>
                        <a:rPr sz="1200" b="1">
                          <a:solidFill>
                            <a:srgbClr val="1A2332"/>
                          </a:solidFill>
                          <a:latin typeface="Urbanist"/>
                        </a:rPr>
                        <a:t>SUPPORTS</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AF1F8"/>
                    </a:solidFill>
                  </a:tcPr>
                </a:tc>
                <a:tc>
                  <a:txBody>
                    <a:bodyPr wrap="square"/>
                    <a:lstStyle/>
                    <a:p>
                      <a:pPr algn="ctr"/>
                      <a:r>
                        <a:rPr sz="1700" b="1">
                          <a:solidFill>
                            <a:srgbClr val="FFFFFF"/>
                          </a:solidFill>
                          <a:latin typeface="Urbanist"/>
                        </a:rPr>
                        <a:t>22</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457BAD"/>
                    </a:solidFill>
                  </a:tcPr>
                </a:tc>
                <a:tc>
                  <a:txBody>
                    <a:bodyPr wrap="square"/>
                    <a:lstStyle/>
                    <a:p>
                      <a:pPr algn="ctr"/>
                      <a:r>
                        <a:rPr sz="1700" b="1">
                          <a:solidFill>
                            <a:srgbClr val="1A2332"/>
                          </a:solidFill>
                          <a:latin typeface="Urbanist"/>
                        </a:rPr>
                        <a:t>2</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BF1F0"/>
                    </a:solidFill>
                  </a:tcPr>
                </a:tc>
                <a:tc>
                  <a:txBody>
                    <a:bodyPr wrap="square"/>
                    <a:lstStyle/>
                    <a:p>
                      <a:pPr algn="ctr"/>
                      <a:r>
                        <a:rPr sz="1700" b="1">
                          <a:solidFill>
                            <a:srgbClr val="1A2332"/>
                          </a:solidFill>
                          <a:latin typeface="Urbanist"/>
                        </a:rPr>
                        <a:t>8</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DC8C4"/>
                    </a:solidFill>
                  </a:tcPr>
                </a:tc>
                <a:tc>
                  <a:txBody>
                    <a:bodyPr wrap="square"/>
                    <a:lstStyle/>
                    <a:p>
                      <a:pPr algn="ctr"/>
                      <a:r>
                        <a:rPr sz="1700" b="1">
                          <a:solidFill>
                            <a:srgbClr val="1A2332"/>
                          </a:solidFill>
                          <a:latin typeface="Urbanist"/>
                        </a:rPr>
                        <a:t>1</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DF8F8"/>
                    </a:solidFill>
                  </a:tcPr>
                </a:tc>
              </a:tr>
              <a:tr h="658368">
                <a:tc>
                  <a:txBody>
                    <a:bodyPr wrap="square"/>
                    <a:lstStyle/>
                    <a:p>
                      <a:pPr algn="l"/>
                      <a:r>
                        <a:rPr sz="1200" b="1">
                          <a:solidFill>
                            <a:srgbClr val="1A2332"/>
                          </a:solidFill>
                          <a:latin typeface="Urbanist"/>
                        </a:rPr>
                        <a:t>REFUTES</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AF1F8"/>
                    </a:solidFill>
                  </a:tcPr>
                </a:tc>
                <a:tc>
                  <a:txBody>
                    <a:bodyPr wrap="square"/>
                    <a:lstStyle/>
                    <a:p>
                      <a:pPr algn="ctr"/>
                      <a:r>
                        <a:rPr sz="1700" b="1">
                          <a:solidFill>
                            <a:srgbClr val="1A2332"/>
                          </a:solidFill>
                          <a:latin typeface="Urbanist"/>
                        </a:rPr>
                        <a:t>13</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5ADA7"/>
                    </a:solidFill>
                  </a:tcPr>
                </a:tc>
                <a:tc>
                  <a:txBody>
                    <a:bodyPr wrap="square"/>
                    <a:lstStyle/>
                    <a:p>
                      <a:pPr algn="ctr"/>
                      <a:r>
                        <a:rPr sz="1700" b="1">
                          <a:solidFill>
                            <a:srgbClr val="1A2332"/>
                          </a:solidFill>
                          <a:latin typeface="Urbanist"/>
                        </a:rPr>
                        <a:t>12</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A2BDD6"/>
                    </a:solidFill>
                  </a:tcPr>
                </a:tc>
                <a:tc>
                  <a:txBody>
                    <a:bodyPr wrap="square"/>
                    <a:lstStyle/>
                    <a:p>
                      <a:pPr algn="ctr"/>
                      <a:r>
                        <a:rPr sz="1700" b="1">
                          <a:solidFill>
                            <a:srgbClr val="1A2332"/>
                          </a:solidFill>
                          <a:latin typeface="Urbanist"/>
                        </a:rPr>
                        <a:t>10</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BC0BB"/>
                    </a:solidFill>
                  </a:tcPr>
                </a:tc>
                <a:tc>
                  <a:txBody>
                    <a:bodyPr wrap="square"/>
                    <a:lstStyle/>
                    <a:p>
                      <a:pPr algn="ctr"/>
                      <a:r>
                        <a:rPr sz="1700" b="1">
                          <a:solidFill>
                            <a:srgbClr val="1A2332"/>
                          </a:solidFill>
                          <a:latin typeface="Urbanist"/>
                        </a:rPr>
                        <a:t>1</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DF9F8"/>
                    </a:solidFill>
                  </a:tcPr>
                </a:tc>
              </a:tr>
              <a:tr h="658368">
                <a:tc>
                  <a:txBody>
                    <a:bodyPr wrap="square"/>
                    <a:lstStyle/>
                    <a:p>
                      <a:pPr algn="l"/>
                      <a:r>
                        <a:rPr sz="1200" b="1">
                          <a:solidFill>
                            <a:srgbClr val="1A2332"/>
                          </a:solidFill>
                          <a:latin typeface="Urbanist"/>
                        </a:rPr>
                        <a:t>NEI</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AF1F8"/>
                    </a:solidFill>
                  </a:tcPr>
                </a:tc>
                <a:tc>
                  <a:txBody>
                    <a:bodyPr wrap="square"/>
                    <a:lstStyle/>
                    <a:p>
                      <a:pPr algn="ctr"/>
                      <a:r>
                        <a:rPr sz="1700" b="1">
                          <a:solidFill>
                            <a:srgbClr val="1A2332"/>
                          </a:solidFill>
                          <a:latin typeface="Urbanist"/>
                        </a:rPr>
                        <a:t>9</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EABDB8"/>
                    </a:solidFill>
                  </a:tcPr>
                </a:tc>
                <a:tc>
                  <a:txBody>
                    <a:bodyPr wrap="square"/>
                    <a:lstStyle/>
                    <a:p>
                      <a:pPr algn="ctr"/>
                      <a:r>
                        <a:rPr sz="1700" b="1">
                          <a:solidFill>
                            <a:srgbClr val="1A2332"/>
                          </a:solidFill>
                          <a:latin typeface="Urbanist"/>
                        </a:rPr>
                        <a:t>3</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8E9E7"/>
                    </a:solidFill>
                  </a:tcPr>
                </a:tc>
                <a:tc>
                  <a:txBody>
                    <a:bodyPr wrap="square"/>
                    <a:lstStyle/>
                    <a:p>
                      <a:pPr algn="ctr"/>
                      <a:r>
                        <a:rPr sz="1700" b="1">
                          <a:solidFill>
                            <a:srgbClr val="FFFFFF"/>
                          </a:solidFill>
                          <a:latin typeface="Urbanist"/>
                        </a:rPr>
                        <a:t>19</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5486B4"/>
                    </a:solidFill>
                  </a:tcPr>
                </a:tc>
                <a:tc>
                  <a:txBody>
                    <a:bodyPr wrap="square"/>
                    <a:lstStyle/>
                    <a:p>
                      <a:pPr algn="ctr"/>
                      <a:r>
                        <a:rPr sz="1700" b="1">
                          <a:solidFill>
                            <a:srgbClr val="1A2332"/>
                          </a:solidFill>
                          <a:latin typeface="Urbanist"/>
                        </a:rPr>
                        <a:t>0</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FFFFFF"/>
                    </a:solidFill>
                  </a:tcPr>
                </a:tc>
              </a:tr>
            </a:tbl>
          </a:graphicData>
        </a:graphic>
      </p:graphicFrame>
      <p:sp>
        <p:nvSpPr>
          <p:cNvPr id="60" name="Matrix legend"/>
          <p:cNvSpPr txBox="1"/>
          <p:nvPr/>
        </p:nvSpPr>
        <p:spPr>
          <a:xfrm>
            <a:off x="548640" y="5486400"/>
            <a:ext cx="11064240" cy="731520"/>
          </a:xfrm>
          <a:prstGeom prst="rect">
            <a:avLst/>
          </a:prstGeom>
          <a:noFill/>
        </p:spPr>
        <p:txBody>
          <a:bodyPr wrap="square" anchor="t" lIns="0" tIns="0" rIns="0" bIns="0"/>
          <a:lstStyle/>
          <a:p>
            <a:pPr algn="l"/>
            <a:r>
              <a:rPr sz="1200" b="0" i="0">
                <a:solidFill>
                  <a:srgbClr val="5B6B80"/>
                </a:solidFill>
                <a:latin typeface="Urbanist"/>
              </a:rPr>
              <a:t>Blue: correct cells. Red: wrong cells. Shade is the share of the gold row. S, R, N, M = SUPPORTS, REFUTES, NEI, MIXED. Rows sum to 33, 36, 31.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384048"/>
            <a:ext cx="11338560" cy="731520"/>
          </a:xfrm>
        </p:spPr>
        <p:txBody>
          <a:bodyPr wrap="square" anchor="ctr" lIns="0" tIns="0" rIns="0" bIns="0"/>
          <a:lstStyle/>
          <a:p>
            <a:pPr algn="l"/>
            <a:r>
              <a:rPr sz="2800" b="1" i="0">
                <a:solidFill>
                  <a:srgbClr val="D2AE6C"/>
                </a:solidFill>
                <a:latin typeface="Urbanist"/>
              </a:rPr>
              <a:t>RESULTS AND ANALYSIS: ACCURACY AND ABSTENTION</a:t>
            </a:r>
          </a:p>
        </p:txBody>
      </p:sp>
      <p:sp>
        <p:nvSpPr>
          <p:cNvPr id="49" name="Google Shape;49;p6"/>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graphicFrame>
        <p:nvGraphicFramePr>
          <p:cNvPr id="50" name="Accuracy chart"/>
          <p:cNvGraphicFramePr>
            <a:graphicFrameLocks noGrp="1"/>
          </p:cNvGraphicFramePr>
          <p:nvPr/>
        </p:nvGraphicFramePr>
        <p:xfrm>
          <a:off x="548640" y="1280160"/>
          <a:ext cx="5212080" cy="3840480"/>
        </p:xfrm>
        <a:graphic>
          <a:graphicData uri="http://schemas.openxmlformats.org/drawingml/2006/chart">
            <c:chart xmlns:c="http://schemas.openxmlformats.org/drawingml/2006/chart" r:id="rId3"/>
          </a:graphicData>
        </a:graphic>
      </p:graphicFrame>
      <p:graphicFrame>
        <p:nvGraphicFramePr>
          <p:cNvPr id="51" name="Results table"/>
          <p:cNvGraphicFramePr>
            <a:graphicFrameLocks noGrp="1"/>
          </p:cNvGraphicFramePr>
          <p:nvPr/>
        </p:nvGraphicFramePr>
        <p:xfrm>
          <a:off x="5989320" y="1325880"/>
          <a:ext cx="5623560" cy="2514600"/>
        </p:xfrm>
        <a:graphic>
          <a:graphicData uri="http://schemas.openxmlformats.org/drawingml/2006/table">
            <a:tbl>
              <a:tblPr firstRow="0" bandRow="0">
                <a:tableStyleId>{5C22544A-7EE6-4342-B048-85BDC9FD1C3A}</a:tableStyleId>
              </a:tblPr>
              <a:tblGrid>
                <a:gridCol w="1417320"/>
                <a:gridCol w="1371600"/>
                <a:gridCol w="731520"/>
                <a:gridCol w="1371600"/>
                <a:gridCol w="731520"/>
              </a:tblGrid>
              <a:tr h="457200">
                <a:tc>
                  <a:txBody>
                    <a:bodyPr wrap="square"/>
                    <a:lstStyle/>
                    <a:p>
                      <a:pPr algn="l"/>
                      <a:r>
                        <a:rPr sz="1200" b="1">
                          <a:solidFill>
                            <a:srgbClr val="1A2332"/>
                          </a:solidFill>
                          <a:latin typeface="Urbanist"/>
                        </a:rPr>
                        <a:t>Variant</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c>
                  <a:txBody>
                    <a:bodyPr wrap="square"/>
                    <a:lstStyle/>
                    <a:p>
                      <a:pPr algn="l"/>
                      <a:r>
                        <a:rPr sz="1200" b="1">
                          <a:solidFill>
                            <a:srgbClr val="1A2332"/>
                          </a:solidFill>
                          <a:latin typeface="Urbanist"/>
                        </a:rPr>
                        <a:t>Accuracy (95% CI)</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c>
                  <a:txBody>
                    <a:bodyPr wrap="square"/>
                    <a:lstStyle/>
                    <a:p>
                      <a:pPr algn="l"/>
                      <a:r>
                        <a:rPr sz="1200" b="1">
                          <a:solidFill>
                            <a:srgbClr val="1A2332"/>
                          </a:solidFill>
                          <a:latin typeface="Urbanist"/>
                        </a:rPr>
                        <a:t>Macro-F1</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c>
                  <a:txBody>
                    <a:bodyPr wrap="square"/>
                    <a:lstStyle/>
                    <a:p>
                      <a:pPr algn="l"/>
                      <a:r>
                        <a:rPr sz="1200" b="1">
                          <a:solidFill>
                            <a:srgbClr val="1A2332"/>
                          </a:solidFill>
                          <a:latin typeface="Urbanist"/>
                        </a:rPr>
                        <a:t>Decisive (95% CI)</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c>
                  <a:txBody>
                    <a:bodyPr wrap="square"/>
                    <a:lstStyle/>
                    <a:p>
                      <a:pPr algn="l"/>
                      <a:r>
                        <a:rPr sz="1200" b="1">
                          <a:solidFill>
                            <a:srgbClr val="1A2332"/>
                          </a:solidFill>
                          <a:latin typeface="Urbanist"/>
                        </a:rPr>
                        <a:t>NEI recall</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r>
              <a:tr h="685800">
                <a:tc>
                  <a:txBody>
                    <a:bodyPr wrap="square"/>
                    <a:lstStyle/>
                    <a:p>
                      <a:pPr algn="l"/>
                      <a:r>
                        <a:rPr sz="1200" b="1">
                          <a:solidFill>
                            <a:srgbClr val="1A2332"/>
                          </a:solidFill>
                          <a:latin typeface="Urbanist"/>
                        </a:rPr>
                        <a:t>Pooled + OpenAlex</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51.0 (41.3–60.6)</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0.466</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66.7 (54.9–76.6)</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16.1%</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r>
              <a:tr h="685800">
                <a:tc>
                  <a:txBody>
                    <a:bodyPr wrap="square"/>
                    <a:lstStyle/>
                    <a:p>
                      <a:pPr algn="l"/>
                      <a:r>
                        <a:rPr sz="1200" b="1">
                          <a:solidFill>
                            <a:srgbClr val="1A2332"/>
                          </a:solidFill>
                          <a:latin typeface="Urbanist"/>
                        </a:rPr>
                        <a:t>Pooled + Wikipedia</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6EBD0"/>
                    </a:solidFill>
                  </a:tcPr>
                </a:tc>
                <a:tc>
                  <a:txBody>
                    <a:bodyPr wrap="square"/>
                    <a:lstStyle/>
                    <a:p>
                      <a:pPr algn="l"/>
                      <a:r>
                        <a:rPr sz="1200" b="0">
                          <a:solidFill>
                            <a:srgbClr val="1A2332"/>
                          </a:solidFill>
                          <a:latin typeface="Urbanist"/>
                        </a:rPr>
                        <a:t>55.0 (45.2–64.4)</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6EBD0"/>
                    </a:solidFill>
                  </a:tcPr>
                </a:tc>
                <a:tc>
                  <a:txBody>
                    <a:bodyPr wrap="square"/>
                    <a:lstStyle/>
                    <a:p>
                      <a:pPr algn="l"/>
                      <a:r>
                        <a:rPr sz="1200" b="0">
                          <a:solidFill>
                            <a:srgbClr val="1A2332"/>
                          </a:solidFill>
                          <a:latin typeface="Urbanist"/>
                        </a:rPr>
                        <a:t>0.445</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6EBD0"/>
                    </a:solidFill>
                  </a:tcPr>
                </a:tc>
                <a:tc>
                  <a:txBody>
                    <a:bodyPr wrap="square"/>
                    <a:lstStyle/>
                    <a:p>
                      <a:pPr algn="l"/>
                      <a:r>
                        <a:rPr sz="1200" b="0">
                          <a:solidFill>
                            <a:srgbClr val="1A2332"/>
                          </a:solidFill>
                          <a:latin typeface="Urbanist"/>
                        </a:rPr>
                        <a:t>79.7 (68.8–87.5)</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6EBD0"/>
                    </a:solidFill>
                  </a:tcPr>
                </a:tc>
                <a:tc>
                  <a:txBody>
                    <a:bodyPr wrap="square"/>
                    <a:lstStyle/>
                    <a:p>
                      <a:pPr algn="l"/>
                      <a:r>
                        <a:rPr sz="1200" b="0">
                          <a:solidFill>
                            <a:srgbClr val="1A2332"/>
                          </a:solidFill>
                          <a:latin typeface="Urbanist"/>
                        </a:rPr>
                        <a:t>0.0%</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6EBD0"/>
                    </a:solidFill>
                  </a:tcPr>
                </a:tc>
              </a:tr>
              <a:tr h="685800">
                <a:tc>
                  <a:txBody>
                    <a:bodyPr wrap="square"/>
                    <a:lstStyle/>
                    <a:p>
                      <a:pPr algn="l"/>
                      <a:r>
                        <a:rPr sz="1200" b="1">
                          <a:solidFill>
                            <a:srgbClr val="1A2332"/>
                          </a:solidFill>
                          <a:latin typeface="Urbanist"/>
                        </a:rPr>
                        <a:t>Stance + Wikipedia</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53.0 (43.3–62.5)</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0.528</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49.3 (37.8–60.8)</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61.3%</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r>
            </a:tbl>
          </a:graphicData>
        </a:graphic>
      </p:graphicFrame>
      <p:sp>
        <p:nvSpPr>
          <p:cNvPr id="52" name="Table note"/>
          <p:cNvSpPr txBox="1"/>
          <p:nvPr/>
        </p:nvSpPr>
        <p:spPr>
          <a:xfrm>
            <a:off x="5989320" y="3977639"/>
            <a:ext cx="5623560" cy="548640"/>
          </a:xfrm>
          <a:prstGeom prst="rect">
            <a:avLst/>
          </a:prstGeom>
          <a:noFill/>
        </p:spPr>
        <p:txBody>
          <a:bodyPr wrap="square" anchor="t" lIns="0" tIns="0" rIns="0" bIns="0"/>
          <a:lstStyle/>
          <a:p>
            <a:pPr algn="l"/>
            <a:r>
              <a:rPr sz="1100" b="0" i="0">
                <a:solidFill>
                  <a:srgbClr val="5B6B80"/>
                </a:solidFill>
                <a:latin typeface="Urbanist"/>
              </a:rPr>
              <a:t>Percent except macro-F1. Decisive = the 69 SUPPORTS and REFUTES claims.</a:t>
            </a:r>
          </a:p>
        </p:txBody>
      </p:sp>
      <p:sp>
        <p:nvSpPr>
          <p:cNvPr id="53" name="Callout 1"/>
          <p:cNvSpPr/>
          <p:nvPr/>
        </p:nvSpPr>
        <p:spPr>
          <a:xfrm>
            <a:off x="548640" y="5303520"/>
            <a:ext cx="5440680" cy="914400"/>
          </a:xfrm>
          <a:prstGeom prst="roundRect">
            <a:avLst>
              <a:gd name="adj" fmla="val 7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allout number 1"/>
          <p:cNvSpPr txBox="1"/>
          <p:nvPr/>
        </p:nvSpPr>
        <p:spPr>
          <a:xfrm>
            <a:off x="731520" y="5303520"/>
            <a:ext cx="2514600" cy="914400"/>
          </a:xfrm>
          <a:prstGeom prst="rect">
            <a:avLst/>
          </a:prstGeom>
          <a:noFill/>
        </p:spPr>
        <p:txBody>
          <a:bodyPr wrap="square" anchor="ctr" lIns="0" tIns="0" rIns="0" bIns="0"/>
          <a:lstStyle/>
          <a:p>
            <a:pPr algn="l"/>
            <a:r>
              <a:rPr sz="2200" b="1" i="0">
                <a:solidFill>
                  <a:srgbClr val="D2AE6C"/>
                </a:solidFill>
                <a:latin typeface="Urbanist"/>
              </a:rPr>
              <a:t>66.7 → 79.7%</a:t>
            </a:r>
          </a:p>
        </p:txBody>
      </p:sp>
      <p:sp>
        <p:nvSpPr>
          <p:cNvPr id="55" name="Callout label 1"/>
          <p:cNvSpPr txBox="1"/>
          <p:nvPr/>
        </p:nvSpPr>
        <p:spPr>
          <a:xfrm>
            <a:off x="3291840" y="5303520"/>
            <a:ext cx="2560320" cy="914400"/>
          </a:xfrm>
          <a:prstGeom prst="rect">
            <a:avLst/>
          </a:prstGeom>
          <a:noFill/>
        </p:spPr>
        <p:txBody>
          <a:bodyPr wrap="square" anchor="ctr" lIns="0" tIns="0" rIns="0" bIns="0"/>
          <a:lstStyle/>
          <a:p>
            <a:pPr algn="l"/>
            <a:r>
              <a:rPr sz="1300" b="0" i="0">
                <a:solidFill>
                  <a:srgbClr val="FFFFFF"/>
                </a:solidFill>
                <a:latin typeface="Urbanist"/>
              </a:rPr>
              <a:t>decisive accuracy with Wikipedia (suggestive, p = 0.064)</a:t>
            </a:r>
          </a:p>
        </p:txBody>
      </p:sp>
      <p:sp>
        <p:nvSpPr>
          <p:cNvPr id="56" name="Callout 2"/>
          <p:cNvSpPr/>
          <p:nvPr/>
        </p:nvSpPr>
        <p:spPr>
          <a:xfrm>
            <a:off x="6172200" y="5303520"/>
            <a:ext cx="5440680" cy="914400"/>
          </a:xfrm>
          <a:prstGeom prst="roundRect">
            <a:avLst>
              <a:gd name="adj" fmla="val 7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allout number 2"/>
          <p:cNvSpPr txBox="1"/>
          <p:nvPr/>
        </p:nvSpPr>
        <p:spPr>
          <a:xfrm>
            <a:off x="6355080" y="5303520"/>
            <a:ext cx="2514600" cy="914400"/>
          </a:xfrm>
          <a:prstGeom prst="rect">
            <a:avLst/>
          </a:prstGeom>
          <a:noFill/>
        </p:spPr>
        <p:txBody>
          <a:bodyPr wrap="square" anchor="ctr" lIns="0" tIns="0" rIns="0" bIns="0"/>
          <a:lstStyle/>
          <a:p>
            <a:pPr algn="l"/>
            <a:r>
              <a:rPr sz="2200" b="1" i="0">
                <a:solidFill>
                  <a:srgbClr val="D2AE6C"/>
                </a:solidFill>
                <a:latin typeface="Urbanist"/>
              </a:rPr>
              <a:t>0%  vs  61.3%</a:t>
            </a:r>
          </a:p>
        </p:txBody>
      </p:sp>
      <p:sp>
        <p:nvSpPr>
          <p:cNvPr id="58" name="Callout label 2"/>
          <p:cNvSpPr txBox="1"/>
          <p:nvPr/>
        </p:nvSpPr>
        <p:spPr>
          <a:xfrm>
            <a:off x="8915400" y="5303520"/>
            <a:ext cx="2560320" cy="914400"/>
          </a:xfrm>
          <a:prstGeom prst="rect">
            <a:avLst/>
          </a:prstGeom>
          <a:noFill/>
        </p:spPr>
        <p:txBody>
          <a:bodyPr wrap="square" anchor="ctr" lIns="0" tIns="0" rIns="0" bIns="0"/>
          <a:lstStyle/>
          <a:p>
            <a:pPr algn="l"/>
            <a:r>
              <a:rPr sz="1300" b="0" i="0">
                <a:solidFill>
                  <a:srgbClr val="FFFFFF"/>
                </a:solidFill>
                <a:latin typeface="Urbanist"/>
              </a:rPr>
              <a:t>NEI recall: pooled score vs stance variant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384048"/>
            <a:ext cx="11338560" cy="731520"/>
          </a:xfrm>
        </p:spPr>
        <p:txBody>
          <a:bodyPr wrap="square" anchor="ctr" lIns="0" tIns="0" rIns="0" bIns="0"/>
          <a:lstStyle/>
          <a:p>
            <a:pPr algn="l"/>
            <a:r>
              <a:rPr sz="2800" b="1" i="0">
                <a:solidFill>
                  <a:srgbClr val="D2AE6C"/>
                </a:solidFill>
                <a:latin typeface="Urbanist"/>
              </a:rPr>
              <a:t>COMPARATIVE ANALYSIS</a:t>
            </a:r>
          </a:p>
        </p:txBody>
      </p:sp>
      <p:sp>
        <p:nvSpPr>
          <p:cNvPr id="49" name="Google Shape;49;p6"/>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50" name="Paired tests heading"/>
          <p:cNvSpPr txBox="1"/>
          <p:nvPr/>
        </p:nvSpPr>
        <p:spPr>
          <a:xfrm>
            <a:off x="548640" y="1280160"/>
            <a:ext cx="6035040" cy="365760"/>
          </a:xfrm>
          <a:prstGeom prst="rect">
            <a:avLst/>
          </a:prstGeom>
          <a:noFill/>
        </p:spPr>
        <p:txBody>
          <a:bodyPr wrap="square" anchor="t" lIns="0" tIns="0" rIns="0" bIns="0"/>
          <a:lstStyle/>
          <a:p>
            <a:pPr algn="l"/>
            <a:r>
              <a:rPr sz="1500" b="1" i="0">
                <a:solidFill>
                  <a:srgbClr val="0C5394"/>
                </a:solidFill>
                <a:latin typeface="Urbanist"/>
              </a:rPr>
              <a:t>Paired tests on the same claims (exact McNemar)</a:t>
            </a:r>
          </a:p>
        </p:txBody>
      </p:sp>
      <p:graphicFrame>
        <p:nvGraphicFramePr>
          <p:cNvPr id="51" name="Paired tests table"/>
          <p:cNvGraphicFramePr>
            <a:graphicFrameLocks noGrp="1"/>
          </p:cNvGraphicFramePr>
          <p:nvPr/>
        </p:nvGraphicFramePr>
        <p:xfrm>
          <a:off x="548640" y="1691640"/>
          <a:ext cx="6035040" cy="2468880"/>
        </p:xfrm>
        <a:graphic>
          <a:graphicData uri="http://schemas.openxmlformats.org/drawingml/2006/table">
            <a:tbl>
              <a:tblPr firstRow="0" bandRow="0">
                <a:tableStyleId>{5C22544A-7EE6-4342-B048-85BDC9FD1C3A}</a:tableStyleId>
              </a:tblPr>
              <a:tblGrid>
                <a:gridCol w="1051560"/>
                <a:gridCol w="1005840"/>
                <a:gridCol w="1188720"/>
                <a:gridCol w="2057400"/>
                <a:gridCol w="731520"/>
              </a:tblGrid>
              <a:tr h="457200">
                <a:tc>
                  <a:txBody>
                    <a:bodyPr wrap="square"/>
                    <a:lstStyle/>
                    <a:p>
                      <a:pPr algn="l"/>
                      <a:r>
                        <a:rPr sz="1200" b="1">
                          <a:solidFill>
                            <a:srgbClr val="1A2332"/>
                          </a:solidFill>
                          <a:latin typeface="Urbanist"/>
                        </a:rPr>
                        <a:t>A vs B</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c>
                  <a:txBody>
                    <a:bodyPr wrap="square"/>
                    <a:lstStyle/>
                    <a:p>
                      <a:pPr algn="l"/>
                      <a:r>
                        <a:rPr sz="1200" b="1">
                          <a:solidFill>
                            <a:srgbClr val="1A2332"/>
                          </a:solidFill>
                          <a:latin typeface="Urbanist"/>
                        </a:rPr>
                        <a:t>Claims</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c>
                  <a:txBody>
                    <a:bodyPr wrap="square"/>
                    <a:lstStyle/>
                    <a:p>
                      <a:pPr algn="l"/>
                      <a:r>
                        <a:rPr sz="1200" b="1">
                          <a:solidFill>
                            <a:srgbClr val="1A2332"/>
                          </a:solidFill>
                          <a:latin typeface="Urbanist"/>
                        </a:rPr>
                        <a:t>A only / B only</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c>
                  <a:txBody>
                    <a:bodyPr wrap="square"/>
                    <a:lstStyle/>
                    <a:p>
                      <a:pPr algn="l"/>
                      <a:r>
                        <a:rPr sz="1200" b="1">
                          <a:solidFill>
                            <a:srgbClr val="1A2332"/>
                          </a:solidFill>
                          <a:latin typeface="Urbanist"/>
                        </a:rPr>
                        <a:t>Diff, points (95% CI)</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c>
                  <a:txBody>
                    <a:bodyPr wrap="square"/>
                    <a:lstStyle/>
                    <a:p>
                      <a:pPr algn="l"/>
                      <a:r>
                        <a:rPr sz="1200" b="1">
                          <a:solidFill>
                            <a:srgbClr val="1A2332"/>
                          </a:solidFill>
                          <a:latin typeface="Urbanist"/>
                        </a:rPr>
                        <a:t>p</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r>
              <a:tr h="502920">
                <a:tc>
                  <a:txBody>
                    <a:bodyPr wrap="square"/>
                    <a:lstStyle/>
                    <a:p>
                      <a:pPr algn="l"/>
                      <a:r>
                        <a:rPr sz="1200" b="1">
                          <a:solidFill>
                            <a:srgbClr val="1A2332"/>
                          </a:solidFill>
                          <a:latin typeface="Urbanist"/>
                        </a:rPr>
                        <a:t>PW vs PO</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decisive 69</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14 / 5</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+13.0 (+1.4, +24.6)</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0.064</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r>
              <a:tr h="502920">
                <a:tc>
                  <a:txBody>
                    <a:bodyPr wrap="square"/>
                    <a:lstStyle/>
                    <a:p>
                      <a:pPr algn="l"/>
                      <a:r>
                        <a:rPr sz="1200" b="1">
                          <a:solidFill>
                            <a:srgbClr val="1A2332"/>
                          </a:solidFill>
                          <a:latin typeface="Urbanist"/>
                        </a:rPr>
                        <a:t>SW vs PW</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6EBD0"/>
                    </a:solidFill>
                  </a:tcPr>
                </a:tc>
                <a:tc>
                  <a:txBody>
                    <a:bodyPr wrap="square"/>
                    <a:lstStyle/>
                    <a:p>
                      <a:pPr algn="l"/>
                      <a:r>
                        <a:rPr sz="1200" b="0">
                          <a:solidFill>
                            <a:srgbClr val="1A2332"/>
                          </a:solidFill>
                          <a:latin typeface="Urbanist"/>
                        </a:rPr>
                        <a:t>decisive 69</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6EBD0"/>
                    </a:solidFill>
                  </a:tcPr>
                </a:tc>
                <a:tc>
                  <a:txBody>
                    <a:bodyPr wrap="square"/>
                    <a:lstStyle/>
                    <a:p>
                      <a:pPr algn="l"/>
                      <a:r>
                        <a:rPr sz="1200" b="0">
                          <a:solidFill>
                            <a:srgbClr val="1A2332"/>
                          </a:solidFill>
                          <a:latin typeface="Urbanist"/>
                        </a:rPr>
                        <a:t>5 / 26</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6EBD0"/>
                    </a:solidFill>
                  </a:tcPr>
                </a:tc>
                <a:tc>
                  <a:txBody>
                    <a:bodyPr wrap="square"/>
                    <a:lstStyle/>
                    <a:p>
                      <a:pPr algn="l"/>
                      <a:r>
                        <a:rPr sz="1200" b="0">
                          <a:solidFill>
                            <a:srgbClr val="1A2332"/>
                          </a:solidFill>
                          <a:latin typeface="Urbanist"/>
                        </a:rPr>
                        <a:t>−30.4 (−44.9, −15.9)</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6EBD0"/>
                    </a:solidFill>
                  </a:tcPr>
                </a:tc>
                <a:tc>
                  <a:txBody>
                    <a:bodyPr wrap="square"/>
                    <a:lstStyle/>
                    <a:p>
                      <a:pPr algn="l"/>
                      <a:r>
                        <a:rPr sz="1200" b="1">
                          <a:solidFill>
                            <a:srgbClr val="1A2332"/>
                          </a:solidFill>
                          <a:latin typeface="Urbanist"/>
                        </a:rPr>
                        <a:t>0.0002</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6EBD0"/>
                    </a:solidFill>
                  </a:tcPr>
                </a:tc>
              </a:tr>
              <a:tr h="502920">
                <a:tc>
                  <a:txBody>
                    <a:bodyPr wrap="square"/>
                    <a:lstStyle/>
                    <a:p>
                      <a:pPr algn="l"/>
                      <a:r>
                        <a:rPr sz="1200" b="1">
                          <a:solidFill>
                            <a:srgbClr val="1A2332"/>
                          </a:solidFill>
                          <a:latin typeface="Urbanist"/>
                        </a:rPr>
                        <a:t>SW vs PO</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decisive 69</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11 / 23</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−17.4 (−33.3, 0.0)</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0.058</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r>
              <a:tr h="502920">
                <a:tc>
                  <a:txBody>
                    <a:bodyPr wrap="square"/>
                    <a:lstStyle/>
                    <a:p>
                      <a:pPr algn="l"/>
                      <a:r>
                        <a:rPr sz="1200" b="1">
                          <a:solidFill>
                            <a:srgbClr val="1A2332"/>
                          </a:solidFill>
                          <a:latin typeface="Urbanist"/>
                        </a:rPr>
                        <a:t>SW vs PW</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all 100</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24 / 26</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−2.0 (−16.0, +12.0)</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0.888</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r>
            </a:tbl>
          </a:graphicData>
        </a:graphic>
      </p:graphicFrame>
      <p:sp>
        <p:nvSpPr>
          <p:cNvPr id="52" name="Paired tests note"/>
          <p:cNvSpPr txBox="1"/>
          <p:nvPr/>
        </p:nvSpPr>
        <p:spPr>
          <a:xfrm>
            <a:off x="548640" y="4251960"/>
            <a:ext cx="6035040" cy="731520"/>
          </a:xfrm>
          <a:prstGeom prst="rect">
            <a:avLst/>
          </a:prstGeom>
          <a:noFill/>
        </p:spPr>
        <p:txBody>
          <a:bodyPr wrap="square" anchor="t" lIns="0" tIns="0" rIns="0" bIns="0"/>
          <a:lstStyle/>
          <a:p>
            <a:pPr algn="l"/>
            <a:r>
              <a:rPr sz="1100" b="0" i="0">
                <a:solidFill>
                  <a:srgbClr val="5B6B80"/>
                </a:solidFill>
                <a:latin typeface="Urbanist"/>
              </a:rPr>
              <a:t>PO pooled + OpenAlex; PW pooled + Wikipedia; SW stance + Wikipedia. Six tests were run; the Bonferroni threshold is 0.0083, which only the shaded row meets.</a:t>
            </a:r>
          </a:p>
        </p:txBody>
      </p:sp>
      <p:sp>
        <p:nvSpPr>
          <p:cNvPr id="53" name="Comparison takeaway"/>
          <p:cNvSpPr/>
          <p:nvPr/>
        </p:nvSpPr>
        <p:spPr>
          <a:xfrm>
            <a:off x="548640" y="5074920"/>
            <a:ext cx="6035040" cy="1097280"/>
          </a:xfrm>
          <a:prstGeom prst="roundRect">
            <a:avLst>
              <a:gd name="adj" fmla="val 7000"/>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tIns="91440" rIns="274320" bIns="91440"/>
          <a:lstStyle/>
          <a:p>
            <a:pPr algn="l"/>
            <a:r>
              <a:rPr sz="1400" b="1" i="0">
                <a:solidFill>
                  <a:srgbClr val="FFFFFF"/>
                </a:solidFill>
                <a:latin typeface="Urbanist"/>
              </a:rPr>
              <a:t>The aggregation rule changed decisive accuracy significantly only for the first stance prompt, and for the worse.</a:t>
            </a:r>
          </a:p>
        </p:txBody>
      </p:sp>
      <p:sp>
        <p:nvSpPr>
          <p:cNvPr id="54" name="Design comparison heading"/>
          <p:cNvSpPr txBox="1"/>
          <p:nvPr/>
        </p:nvSpPr>
        <p:spPr>
          <a:xfrm>
            <a:off x="6858000" y="1280160"/>
            <a:ext cx="4754880" cy="365760"/>
          </a:xfrm>
          <a:prstGeom prst="rect">
            <a:avLst/>
          </a:prstGeom>
          <a:noFill/>
        </p:spPr>
        <p:txBody>
          <a:bodyPr wrap="square" anchor="t" lIns="0" tIns="0" rIns="0" bIns="0"/>
          <a:lstStyle/>
          <a:p>
            <a:pPr algn="l"/>
            <a:r>
              <a:rPr sz="1500" b="1" i="0">
                <a:solidFill>
                  <a:srgbClr val="0C5394"/>
                </a:solidFill>
                <a:latin typeface="Urbanist"/>
              </a:rPr>
              <a:t>Design comparison with related audits</a:t>
            </a:r>
          </a:p>
        </p:txBody>
      </p:sp>
      <p:graphicFrame>
        <p:nvGraphicFramePr>
          <p:cNvPr id="55" name="Design comparison table"/>
          <p:cNvGraphicFramePr>
            <a:graphicFrameLocks noGrp="1"/>
          </p:cNvGraphicFramePr>
          <p:nvPr/>
        </p:nvGraphicFramePr>
        <p:xfrm>
          <a:off x="6858000" y="1691640"/>
          <a:ext cx="4754880" cy="2157984"/>
        </p:xfrm>
        <a:graphic>
          <a:graphicData uri="http://schemas.openxmlformats.org/drawingml/2006/table">
            <a:tbl>
              <a:tblPr firstRow="0" bandRow="0">
                <a:tableStyleId>{5C22544A-7EE6-4342-B048-85BDC9FD1C3A}</a:tableStyleId>
              </a:tblPr>
              <a:tblGrid>
                <a:gridCol w="1143000"/>
                <a:gridCol w="1371600"/>
                <a:gridCol w="1097280"/>
                <a:gridCol w="1143000"/>
              </a:tblGrid>
              <a:tr h="457200">
                <a:tc>
                  <a:txBody>
                    <a:bodyPr wrap="square"/>
                    <a:lstStyle/>
                    <a:p>
                      <a:pPr algn="l"/>
                      <a:r>
                        <a:rPr sz="1200" b="1">
                          <a:solidFill>
                            <a:srgbClr val="1A2332"/>
                          </a:solidFill>
                          <a:latin typeface="Urbanist"/>
                        </a:rPr>
                        <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c>
                  <a:txBody>
                    <a:bodyPr wrap="square"/>
                    <a:lstStyle/>
                    <a:p>
                      <a:pPr algn="l"/>
                      <a:r>
                        <a:rPr sz="1200" b="1">
                          <a:solidFill>
                            <a:srgbClr val="1A2332"/>
                          </a:solidFill>
                          <a:latin typeface="Urbanist"/>
                        </a:rPr>
                        <a:t>SelfCheckGPT</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c>
                  <a:txBody>
                    <a:bodyPr wrap="square"/>
                    <a:lstStyle/>
                    <a:p>
                      <a:pPr algn="l"/>
                      <a:r>
                        <a:rPr sz="1200" b="1">
                          <a:solidFill>
                            <a:srgbClr val="1A2332"/>
                          </a:solidFill>
                          <a:latin typeface="Urbanist"/>
                        </a:rPr>
                        <a:t>FActScore</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c>
                  <a:txBody>
                    <a:bodyPr wrap="square"/>
                    <a:lstStyle/>
                    <a:p>
                      <a:pPr algn="l"/>
                      <a:r>
                        <a:rPr sz="1200" b="1">
                          <a:solidFill>
                            <a:srgbClr val="1A2332"/>
                          </a:solidFill>
                          <a:latin typeface="Urbanist"/>
                        </a:rPr>
                        <a:t>This work</a:t>
                      </a:r>
                    </a:p>
                  </a:txBody>
                  <a:tcPr anchor="ctr" marL="91440" marT="36576" marR="91440" marB="36576">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D2AE6C"/>
                    </a:solidFill>
                  </a:tcPr>
                </a:tc>
              </a:tr>
              <a:tr h="566928">
                <a:tc>
                  <a:txBody>
                    <a:bodyPr wrap="square"/>
                    <a:lstStyle/>
                    <a:p>
                      <a:pPr algn="l"/>
                      <a:r>
                        <a:rPr sz="1200" b="1">
                          <a:solidFill>
                            <a:srgbClr val="1A2332"/>
                          </a:solidFill>
                          <a:latin typeface="Urbanist"/>
                        </a:rPr>
                        <a:t>External evidence</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No</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Yes</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1">
                          <a:solidFill>
                            <a:srgbClr val="1A2332"/>
                          </a:solidFill>
                          <a:latin typeface="Urbanist"/>
                        </a:rPr>
                        <a:t>Yes</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6EBD0"/>
                    </a:solidFill>
                  </a:tcPr>
                </a:tc>
              </a:tr>
              <a:tr h="566928">
                <a:tc>
                  <a:txBody>
                    <a:bodyPr wrap="square"/>
                    <a:lstStyle/>
                    <a:p>
                      <a:pPr algn="l"/>
                      <a:r>
                        <a:rPr sz="1200" b="1">
                          <a:solidFill>
                            <a:srgbClr val="1A2332"/>
                          </a:solidFill>
                          <a:latin typeface="Urbanist"/>
                        </a:rPr>
                        <a:t>Unit checked</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Sentence</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Atomic fact</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1">
                          <a:solidFill>
                            <a:srgbClr val="1A2332"/>
                          </a:solidFill>
                          <a:latin typeface="Urbanist"/>
                        </a:rPr>
                        <a:t>Claim</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6EBD0"/>
                    </a:solidFill>
                  </a:tcPr>
                </a:tc>
              </a:tr>
              <a:tr h="566928">
                <a:tc>
                  <a:txBody>
                    <a:bodyPr wrap="square"/>
                    <a:lstStyle/>
                    <a:p>
                      <a:pPr algn="l"/>
                      <a:r>
                        <a:rPr sz="1200" b="1">
                          <a:solidFill>
                            <a:srgbClr val="1A2332"/>
                          </a:solidFill>
                          <a:latin typeface="Urbanist"/>
                        </a:rPr>
                        <a:t>Output</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Consistency score</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0">
                          <a:solidFill>
                            <a:srgbClr val="1A2332"/>
                          </a:solidFill>
                          <a:latin typeface="Urbanist"/>
                        </a:rPr>
                        <a:t>Share supported</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FFFFF"/>
                    </a:solidFill>
                  </a:tcPr>
                </a:tc>
                <a:tc>
                  <a:txBody>
                    <a:bodyPr wrap="square"/>
                    <a:lstStyle/>
                    <a:p>
                      <a:pPr algn="l"/>
                      <a:r>
                        <a:rPr sz="1200" b="1">
                          <a:solidFill>
                            <a:srgbClr val="1A2332"/>
                          </a:solidFill>
                          <a:latin typeface="Urbanist"/>
                        </a:rPr>
                        <a:t>Verdict plus quote</a:t>
                      </a:r>
                    </a:p>
                  </a:txBody>
                  <a:tcPr anchor="ctr" marL="64008" marT="27432" marR="64008" marB="27432">
                    <a:lnL w="6350" cap="flat" cmpd="sng" algn="ctr">
                      <a:solidFill>
                        <a:srgbClr val="D5DEE8"/>
                      </a:solidFill>
                      <a:prstDash val="solid"/>
                    </a:lnL>
                    <a:lnR w="6350" cap="flat" cmpd="sng" algn="ctr">
                      <a:solidFill>
                        <a:srgbClr val="D5DEE8"/>
                      </a:solidFill>
                      <a:prstDash val="solid"/>
                    </a:lnR>
                    <a:lnT w="6350" cap="flat" cmpd="sng" algn="ctr">
                      <a:solidFill>
                        <a:srgbClr val="D5DEE8"/>
                      </a:solidFill>
                      <a:prstDash val="solid"/>
                    </a:lnT>
                    <a:lnB w="6350" cap="flat" cmpd="sng" algn="ctr">
                      <a:solidFill>
                        <a:srgbClr val="D5DEE8"/>
                      </a:solidFill>
                      <a:prstDash val="solid"/>
                    </a:lnB>
                    <a:solidFill>
                      <a:srgbClr val="F6EBD0"/>
                    </a:solidFill>
                  </a:tcPr>
                </a:tc>
              </a:tr>
            </a:tbl>
          </a:graphicData>
        </a:graphic>
      </p:graphicFrame>
      <p:sp>
        <p:nvSpPr>
          <p:cNvPr id="56" name="Design comparison note"/>
          <p:cNvSpPr txBox="1"/>
          <p:nvPr/>
        </p:nvSpPr>
        <p:spPr>
          <a:xfrm>
            <a:off x="6858000" y="3977639"/>
            <a:ext cx="4754880" cy="822960"/>
          </a:xfrm>
          <a:prstGeom prst="rect">
            <a:avLst/>
          </a:prstGeom>
          <a:noFill/>
        </p:spPr>
        <p:txBody>
          <a:bodyPr wrap="square" anchor="t" lIns="0" tIns="0" rIns="0" bIns="0"/>
          <a:lstStyle/>
          <a:p>
            <a:pPr algn="l"/>
            <a:r>
              <a:rPr sz="1100" b="0" i="0">
                <a:solidFill>
                  <a:srgbClr val="5B6B80"/>
                </a:solidFill>
                <a:latin typeface="Urbanist"/>
              </a:rPr>
              <a:t>Not compared numerically: the methods use different data and tasks. We claim a difference in design, not in accuracy.</a:t>
            </a:r>
          </a:p>
        </p:txBody>
      </p:sp>
      <p:sp>
        <p:nvSpPr>
          <p:cNvPr id="57" name="Earlier work comparison"/>
          <p:cNvSpPr/>
          <p:nvPr/>
        </p:nvSpPr>
        <p:spPr>
          <a:xfrm>
            <a:off x="6858000" y="4846320"/>
            <a:ext cx="4754880" cy="1325880"/>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91440" rIns="182880" bIns="91440"/>
          <a:lstStyle/>
          <a:p>
            <a:pPr algn="l">
              <a:spcAft>
                <a:spcPts val="400"/>
              </a:spcAft>
            </a:pPr>
            <a:r>
              <a:rPr sz="1400" b="1" i="0">
                <a:solidFill>
                  <a:srgbClr val="0C5394"/>
                </a:solidFill>
                <a:latin typeface="Urbanist"/>
              </a:rPr>
              <a:t>Against our earlier density signal</a:t>
            </a:r>
          </a:p>
          <a:p>
            <a:pPr algn="l"/>
            <a:r>
              <a:rPr sz="1300" b="0" i="0">
                <a:solidFill>
                  <a:srgbClr val="1A2332"/>
                </a:solidFill>
                <a:latin typeface="Urbanist"/>
              </a:rPr>
              <a:t>AUROC 0.546 (FEVER) and 0.275 (AVeriTeC) there; here, verdicts that carry quotes.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384048"/>
            <a:ext cx="11338560" cy="731520"/>
          </a:xfrm>
        </p:spPr>
        <p:txBody>
          <a:bodyPr wrap="square" anchor="ctr" lIns="0" tIns="0" rIns="0" bIns="0"/>
          <a:lstStyle/>
          <a:p>
            <a:pPr algn="l"/>
            <a:r>
              <a:rPr sz="2800" b="1" i="0">
                <a:solidFill>
                  <a:srgbClr val="D2AE6C"/>
                </a:solidFill>
                <a:latin typeface="Urbanist"/>
              </a:rPr>
              <a:t>FINDINGS AND FAILURE DIAGNOSIS</a:t>
            </a:r>
          </a:p>
        </p:txBody>
      </p:sp>
      <p:sp>
        <p:nvSpPr>
          <p:cNvPr id="49" name="Google Shape;49;p6"/>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50" name="Finding card 1"/>
          <p:cNvSpPr/>
          <p:nvPr/>
        </p:nvSpPr>
        <p:spPr>
          <a:xfrm>
            <a:off x="548640" y="1325880"/>
            <a:ext cx="3566160" cy="2697480"/>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tIns="182880" rIns="228600" bIns="91440"/>
          <a:lstStyle/>
          <a:p>
            <a:pPr algn="l">
              <a:spcAft>
                <a:spcPts val="200"/>
              </a:spcAft>
            </a:pPr>
            <a:r>
              <a:rPr sz="3000" b="1" i="0">
                <a:solidFill>
                  <a:srgbClr val="0C5394"/>
                </a:solidFill>
                <a:latin typeface="Urbanist"/>
              </a:rPr>
              <a:t>+13.0 pts</a:t>
            </a:r>
          </a:p>
          <a:p>
            <a:pPr algn="l">
              <a:spcAft>
                <a:spcPts val="400"/>
              </a:spcAft>
            </a:pPr>
            <a:r>
              <a:rPr sz="1600" b="1" i="0">
                <a:solidFill>
                  <a:srgbClr val="0C5394"/>
                </a:solidFill>
                <a:latin typeface="Urbanist"/>
              </a:rPr>
              <a:t>Retrieval source</a:t>
            </a:r>
          </a:p>
          <a:p>
            <a:pPr algn="l"/>
            <a:r>
              <a:rPr sz="1400" b="0" i="0">
                <a:solidFill>
                  <a:srgbClr val="1A2332"/>
                </a:solidFill>
                <a:latin typeface="Urbanist"/>
              </a:rPr>
              <a:t>Wikipedia over OpenAlex on decisive claims. Suggestive (p = 0.064); FEVER is Wikipedia-derived.</a:t>
            </a:r>
          </a:p>
        </p:txBody>
      </p:sp>
      <p:sp>
        <p:nvSpPr>
          <p:cNvPr id="51" name="Finding card 2"/>
          <p:cNvSpPr/>
          <p:nvPr/>
        </p:nvSpPr>
        <p:spPr>
          <a:xfrm>
            <a:off x="4297679" y="1325880"/>
            <a:ext cx="3566160" cy="2697480"/>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tIns="182880" rIns="228600" bIns="91440"/>
          <a:lstStyle/>
          <a:p>
            <a:pPr algn="l">
              <a:spcAft>
                <a:spcPts val="200"/>
              </a:spcAft>
            </a:pPr>
            <a:r>
              <a:rPr sz="3000" b="1" i="0">
                <a:solidFill>
                  <a:srgbClr val="0C5394"/>
                </a:solidFill>
                <a:latin typeface="Urbanist"/>
              </a:rPr>
              <a:t>0% recall</a:t>
            </a:r>
          </a:p>
          <a:p>
            <a:pPr algn="l">
              <a:spcAft>
                <a:spcPts val="400"/>
              </a:spcAft>
            </a:pPr>
            <a:r>
              <a:rPr sz="1600" b="1" i="0">
                <a:solidFill>
                  <a:srgbClr val="0C5394"/>
                </a:solidFill>
                <a:latin typeface="Urbanist"/>
              </a:rPr>
              <a:t>Pooled score cannot abstain</a:t>
            </a:r>
          </a:p>
          <a:p>
            <a:pPr algn="l"/>
            <a:r>
              <a:rPr sz="1400" b="0" i="0">
                <a:solidFill>
                  <a:srgbClr val="1A2332"/>
                </a:solidFill>
                <a:latin typeface="Urbanist"/>
              </a:rPr>
              <a:t>It called 25 of 31 NEI claims refuted. One score cannot split “not mentioned” from “contradicted”.</a:t>
            </a:r>
          </a:p>
        </p:txBody>
      </p:sp>
      <p:sp>
        <p:nvSpPr>
          <p:cNvPr id="52" name="Finding card 3"/>
          <p:cNvSpPr/>
          <p:nvPr/>
        </p:nvSpPr>
        <p:spPr>
          <a:xfrm>
            <a:off x="8046719" y="1325880"/>
            <a:ext cx="3566160" cy="2697480"/>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tIns="182880" rIns="228600" bIns="91440"/>
          <a:lstStyle/>
          <a:p>
            <a:pPr algn="l">
              <a:spcAft>
                <a:spcPts val="200"/>
              </a:spcAft>
            </a:pPr>
            <a:r>
              <a:rPr sz="3000" b="1" i="0">
                <a:solidFill>
                  <a:srgbClr val="0C5394"/>
                </a:solidFill>
                <a:latin typeface="Urbanist"/>
              </a:rPr>
              <a:t>p = 0.0002</a:t>
            </a:r>
          </a:p>
          <a:p>
            <a:pPr algn="l">
              <a:spcAft>
                <a:spcPts val="400"/>
              </a:spcAft>
            </a:pPr>
            <a:r>
              <a:rPr sz="1600" b="1" i="0">
                <a:solidFill>
                  <a:srgbClr val="0C5394"/>
                </a:solidFill>
                <a:latin typeface="Urbanist"/>
              </a:rPr>
              <a:t>First stance prompt</a:t>
            </a:r>
          </a:p>
          <a:p>
            <a:pPr algn="l"/>
            <a:r>
              <a:rPr sz="1400" b="0" i="0">
                <a:solidFill>
                  <a:srgbClr val="1A2332"/>
                </a:solidFill>
                <a:latin typeface="Urbanist"/>
              </a:rPr>
              <a:t>Abstains (61.3% NEI recall) but is much worse on decisive claims than the pooled score.</a:t>
            </a:r>
          </a:p>
        </p:txBody>
      </p:sp>
      <p:sp>
        <p:nvSpPr>
          <p:cNvPr id="53" name="Diagnosis card"/>
          <p:cNvSpPr/>
          <p:nvPr/>
        </p:nvSpPr>
        <p:spPr>
          <a:xfrm>
            <a:off x="548640" y="4251960"/>
            <a:ext cx="11064240" cy="1920240"/>
          </a:xfrm>
          <a:prstGeom prst="roundRect">
            <a:avLst>
              <a:gd name="adj" fmla="val 7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tIns="91440" rIns="274320" bIns="91440"/>
          <a:lstStyle/>
          <a:p>
            <a:pPr algn="l">
              <a:spcAft>
                <a:spcPts val="600"/>
              </a:spcAft>
            </a:pPr>
            <a:r>
              <a:rPr sz="1600" b="1" i="0">
                <a:solidFill>
                  <a:srgbClr val="D2AE6C"/>
                </a:solidFill>
                <a:latin typeface="Urbanist"/>
              </a:rPr>
              <a:t>FAILURE ANALYSIS: 13 of 36 REFUTES claims were called supported</a:t>
            </a:r>
          </a:p>
          <a:p>
            <a:pPr algn="l" marL="200000" indent="-200000">
              <a:spcAft>
                <a:spcPts val="500"/>
              </a:spcAft>
              <a:buChar char="•"/>
            </a:pPr>
            <a:r>
              <a:rPr sz="1400" b="0" i="0">
                <a:solidFill>
                  <a:srgbClr val="FFFFFF"/>
                </a:solidFill>
                <a:latin typeface="Urbanist"/>
              </a:rPr>
              <a:t>Cause 1: the stance call judged the normalised claim, which had dropped the detail that made it false.</a:t>
            </a:r>
          </a:p>
          <a:p>
            <a:pPr algn="l" marL="200000" indent="-200000">
              <a:spcAft>
                <a:spcPts val="500"/>
              </a:spcAft>
              <a:buChar char="•"/>
            </a:pPr>
            <a:r>
              <a:rPr sz="1400" b="0" i="0">
                <a:solidFill>
                  <a:srgbClr val="FFFFFF"/>
                </a:solidFill>
                <a:latin typeface="Urbanist"/>
              </a:rPr>
              <a:t>Cause 2: the prompt accepted near misses (1945 for 1946; a TV series for a radio station).</a:t>
            </a:r>
          </a:p>
          <a:p>
            <a:pPr algn="l" marL="200000" indent="-200000">
              <a:spcAft>
                <a:spcPts val="500"/>
              </a:spcAft>
              <a:buChar char="•"/>
            </a:pPr>
            <a:r>
              <a:rPr sz="1400" b="0" i="0">
                <a:solidFill>
                  <a:srgbClr val="FFFFFF"/>
                </a:solidFill>
                <a:latin typeface="Urbanist"/>
              </a:rPr>
              <a:t>Both fixed with a regression test. The corrected variant is not yet shown to beat pooled, so the default stays pooled.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384048"/>
            <a:ext cx="11338560" cy="731520"/>
          </a:xfrm>
        </p:spPr>
        <p:txBody>
          <a:bodyPr wrap="square" anchor="ctr" lIns="0" tIns="0" rIns="0" bIns="0"/>
          <a:lstStyle/>
          <a:p>
            <a:pPr algn="l"/>
            <a:r>
              <a:rPr sz="2800" b="1" i="0">
                <a:solidFill>
                  <a:srgbClr val="D2AE6C"/>
                </a:solidFill>
                <a:latin typeface="Urbanist"/>
              </a:rPr>
              <a:t>CONCLUSION, LIMITS AND NEXT STEPS</a:t>
            </a:r>
          </a:p>
        </p:txBody>
      </p:sp>
      <p:sp>
        <p:nvSpPr>
          <p:cNvPr id="49" name="Google Shape;49;p6"/>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50" name="Conclusion statement"/>
          <p:cNvSpPr txBox="1"/>
          <p:nvPr/>
        </p:nvSpPr>
        <p:spPr>
          <a:xfrm>
            <a:off x="548640" y="1280160"/>
            <a:ext cx="11064240" cy="822960"/>
          </a:xfrm>
          <a:prstGeom prst="rect">
            <a:avLst/>
          </a:prstGeom>
          <a:noFill/>
        </p:spPr>
        <p:txBody>
          <a:bodyPr wrap="square" anchor="ctr" lIns="0" tIns="0" rIns="0" bIns="0"/>
          <a:lstStyle/>
          <a:p>
            <a:pPr algn="l"/>
            <a:r>
              <a:rPr sz="2200" b="1" i="0">
                <a:solidFill>
                  <a:srgbClr val="0C5394"/>
                </a:solidFill>
                <a:latin typeface="Urbanist"/>
              </a:rPr>
              <a:t>Every verdict traces to a quoted sentence, and absence is kept apart from failure.</a:t>
            </a:r>
          </a:p>
        </p:txBody>
      </p:sp>
      <p:sp>
        <p:nvSpPr>
          <p:cNvPr id="51" name="Limits card"/>
          <p:cNvSpPr/>
          <p:nvPr/>
        </p:nvSpPr>
        <p:spPr>
          <a:xfrm>
            <a:off x="548640" y="2286000"/>
            <a:ext cx="5440680" cy="3566160"/>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imits marker"/>
          <p:cNvSpPr/>
          <p:nvPr/>
        </p:nvSpPr>
        <p:spPr>
          <a:xfrm>
            <a:off x="822959" y="2542032"/>
            <a:ext cx="274320" cy="27432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600" b="1" i="0">
                <a:solidFill>
                  <a:srgbClr val="1A2332"/>
                </a:solidFill>
                <a:latin typeface="Urbanist"/>
              </a:rPr>
              <a:t/>
            </a:r>
          </a:p>
        </p:txBody>
      </p:sp>
      <p:sp>
        <p:nvSpPr>
          <p:cNvPr id="53" name="Limits heading"/>
          <p:cNvSpPr txBox="1"/>
          <p:nvPr/>
        </p:nvSpPr>
        <p:spPr>
          <a:xfrm>
            <a:off x="1234440" y="2468880"/>
            <a:ext cx="4389120" cy="411480"/>
          </a:xfrm>
          <a:prstGeom prst="rect">
            <a:avLst/>
          </a:prstGeom>
          <a:noFill/>
        </p:spPr>
        <p:txBody>
          <a:bodyPr wrap="square" anchor="ctr" lIns="0" tIns="0" rIns="0" bIns="0"/>
          <a:lstStyle/>
          <a:p>
            <a:pPr algn="l"/>
            <a:r>
              <a:rPr sz="1800" b="1" i="0">
                <a:solidFill>
                  <a:srgbClr val="C0392B"/>
                </a:solidFill>
                <a:latin typeface="Urbanist"/>
              </a:rPr>
              <a:t>LIMITS</a:t>
            </a:r>
          </a:p>
        </p:txBody>
      </p:sp>
      <p:sp>
        <p:nvSpPr>
          <p:cNvPr id="54" name="Limits list"/>
          <p:cNvSpPr txBox="1"/>
          <p:nvPr/>
        </p:nvSpPr>
        <p:spPr>
          <a:xfrm>
            <a:off x="822959" y="3108960"/>
            <a:ext cx="4937760" cy="2926080"/>
          </a:xfrm>
          <a:prstGeom prst="rect">
            <a:avLst/>
          </a:prstGeom>
          <a:noFill/>
        </p:spPr>
        <p:txBody>
          <a:bodyPr wrap="square" anchor="t" lIns="0" tIns="0" rIns="0" bIns="0"/>
          <a:lstStyle/>
          <a:p>
            <a:pPr algn="l" marL="200000" indent="-200000">
              <a:spcAft>
                <a:spcPts val="1100"/>
              </a:spcAft>
              <a:buChar char="•"/>
            </a:pPr>
            <a:r>
              <a:rPr sz="1500" b="0" i="0">
                <a:solidFill>
                  <a:srgbClr val="1A2332"/>
                </a:solidFill>
                <a:latin typeface="Urbanist"/>
              </a:rPr>
              <a:t>100 claims: intervals about ±10 points</a:t>
            </a:r>
          </a:p>
          <a:p>
            <a:pPr algn="l" marL="200000" indent="-200000">
              <a:spcAft>
                <a:spcPts val="1100"/>
              </a:spcAft>
              <a:buChar char="•"/>
            </a:pPr>
            <a:r>
              <a:rPr sz="1500" b="0" i="0">
                <a:solidFill>
                  <a:srgbClr val="1A2332"/>
                </a:solidFill>
                <a:latin typeface="Urbanist"/>
              </a:rPr>
              <a:t>FEVER is Wikipedia-derived: compare variants, not absolutes</a:t>
            </a:r>
          </a:p>
          <a:p>
            <a:pPr algn="l" marL="200000" indent="-200000">
              <a:spcAft>
                <a:spcPts val="1100"/>
              </a:spcAft>
              <a:buChar char="•"/>
            </a:pPr>
            <a:r>
              <a:rPr sz="1500" b="0" i="0">
                <a:solidFill>
                  <a:srgbClr val="1A2332"/>
                </a:solidFill>
                <a:latin typeface="Urbanist"/>
              </a:rPr>
              <a:t>Corrected stance prompt not yet evaluated</a:t>
            </a:r>
          </a:p>
          <a:p>
            <a:pPr algn="l" marL="200000" indent="-200000">
              <a:spcAft>
                <a:spcPts val="1100"/>
              </a:spcAft>
              <a:buChar char="•"/>
            </a:pPr>
            <a:r>
              <a:rPr sz="1500" b="0" i="0">
                <a:solidFill>
                  <a:srgbClr val="1A2332"/>
                </a:solidFill>
                <a:latin typeface="Urbanist"/>
              </a:rPr>
              <a:t>Cross-model audit specified, not run (API credit)</a:t>
            </a:r>
          </a:p>
        </p:txBody>
      </p:sp>
      <p:sp>
        <p:nvSpPr>
          <p:cNvPr id="55" name="Next Steps card"/>
          <p:cNvSpPr/>
          <p:nvPr/>
        </p:nvSpPr>
        <p:spPr>
          <a:xfrm>
            <a:off x="6172200" y="2286000"/>
            <a:ext cx="5440680" cy="3566160"/>
          </a:xfrm>
          <a:prstGeom prst="roundRect">
            <a:avLst>
              <a:gd name="adj" fmla="val 7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Next Steps marker"/>
          <p:cNvSpPr/>
          <p:nvPr/>
        </p:nvSpPr>
        <p:spPr>
          <a:xfrm>
            <a:off x="6446520" y="2542032"/>
            <a:ext cx="274320" cy="274320"/>
          </a:xfrm>
          <a:prstGeom prst="ellipse">
            <a:avLst/>
          </a:prstGeom>
          <a:solidFill>
            <a:srgbClr val="0C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600" b="1" i="0">
                <a:solidFill>
                  <a:srgbClr val="1A2332"/>
                </a:solidFill>
                <a:latin typeface="Urbanist"/>
              </a:rPr>
              <a:t/>
            </a:r>
          </a:p>
        </p:txBody>
      </p:sp>
      <p:sp>
        <p:nvSpPr>
          <p:cNvPr id="57" name="Next Steps heading"/>
          <p:cNvSpPr txBox="1"/>
          <p:nvPr/>
        </p:nvSpPr>
        <p:spPr>
          <a:xfrm>
            <a:off x="6858000" y="2468880"/>
            <a:ext cx="4389120" cy="411480"/>
          </a:xfrm>
          <a:prstGeom prst="rect">
            <a:avLst/>
          </a:prstGeom>
          <a:noFill/>
        </p:spPr>
        <p:txBody>
          <a:bodyPr wrap="square" anchor="ctr" lIns="0" tIns="0" rIns="0" bIns="0"/>
          <a:lstStyle/>
          <a:p>
            <a:pPr algn="l"/>
            <a:r>
              <a:rPr sz="1800" b="1" i="0">
                <a:solidFill>
                  <a:srgbClr val="0C5394"/>
                </a:solidFill>
                <a:latin typeface="Urbanist"/>
              </a:rPr>
              <a:t>NEXT STEPS</a:t>
            </a:r>
          </a:p>
        </p:txBody>
      </p:sp>
      <p:sp>
        <p:nvSpPr>
          <p:cNvPr id="58" name="Next Steps list"/>
          <p:cNvSpPr txBox="1"/>
          <p:nvPr/>
        </p:nvSpPr>
        <p:spPr>
          <a:xfrm>
            <a:off x="6446520" y="3108960"/>
            <a:ext cx="4937760" cy="2926080"/>
          </a:xfrm>
          <a:prstGeom prst="rect">
            <a:avLst/>
          </a:prstGeom>
          <a:noFill/>
        </p:spPr>
        <p:txBody>
          <a:bodyPr wrap="square" anchor="t" lIns="0" tIns="0" rIns="0" bIns="0"/>
          <a:lstStyle/>
          <a:p>
            <a:pPr algn="l" marL="200000" indent="-200000">
              <a:spcAft>
                <a:spcPts val="1100"/>
              </a:spcAft>
              <a:buChar char="•"/>
            </a:pPr>
            <a:r>
              <a:rPr sz="1500" b="0" i="0">
                <a:solidFill>
                  <a:srgbClr val="1A2332"/>
                </a:solidFill>
                <a:latin typeface="Urbanist"/>
              </a:rPr>
              <a:t>Evaluate the corrected prompt on a 150-claim fresh sample</a:t>
            </a:r>
          </a:p>
          <a:p>
            <a:pPr algn="l" marL="200000" indent="-200000">
              <a:spcAft>
                <a:spcPts val="1100"/>
              </a:spcAft>
              <a:buChar char="•"/>
            </a:pPr>
            <a:r>
              <a:rPr sz="1500" b="0" i="0">
                <a:solidFill>
                  <a:srgbClr val="1A2332"/>
                </a:solidFill>
                <a:latin typeface="Urbanist"/>
              </a:rPr>
              <a:t>Run the 40-prompt audit on seven commercial models (about US$1.6)</a:t>
            </a:r>
          </a:p>
          <a:p>
            <a:pPr algn="l" marL="200000" indent="-200000">
              <a:spcAft>
                <a:spcPts val="1100"/>
              </a:spcAft>
              <a:buChar char="•"/>
            </a:pPr>
            <a:r>
              <a:rPr sz="1500" b="0" i="0">
                <a:solidFill>
                  <a:srgbClr val="1A2332"/>
                </a:solidFill>
                <a:latin typeface="Urbanist"/>
              </a:rPr>
              <a:t>Compare verdicts with human judgements</a:t>
            </a:r>
          </a:p>
          <a:p>
            <a:pPr algn="l" marL="200000" indent="-200000">
              <a:spcAft>
                <a:spcPts val="1100"/>
              </a:spcAft>
              <a:buChar char="•"/>
            </a:pPr>
            <a:r>
              <a:rPr sz="1500" b="0" i="0">
                <a:solidFill>
                  <a:srgbClr val="1A2332"/>
                </a:solidFill>
                <a:latin typeface="Urbanist"/>
              </a:rPr>
              <a:t>Fit the conformal calibration interface (not fitted today)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384048"/>
            <a:ext cx="11338560" cy="731520"/>
          </a:xfrm>
        </p:spPr>
        <p:txBody>
          <a:bodyPr wrap="square" anchor="ctr" lIns="0" tIns="0" rIns="0" bIns="0"/>
          <a:lstStyle/>
          <a:p>
            <a:pPr algn="l"/>
            <a:r>
              <a:rPr sz="2800" b="1" i="0">
                <a:solidFill>
                  <a:srgbClr val="D2AE6C"/>
                </a:solidFill>
                <a:latin typeface="Urbanist"/>
              </a:rPr>
              <a:t>REFERENCES</a:t>
            </a:r>
          </a:p>
        </p:txBody>
      </p:sp>
      <p:sp>
        <p:nvSpPr>
          <p:cNvPr id="49" name="Google Shape;49;p6"/>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50" name="Reference list"/>
          <p:cNvSpPr txBox="1"/>
          <p:nvPr/>
        </p:nvSpPr>
        <p:spPr>
          <a:xfrm>
            <a:off x="731520" y="1325880"/>
            <a:ext cx="10698480" cy="4846320"/>
          </a:xfrm>
          <a:prstGeom prst="rect">
            <a:avLst/>
          </a:prstGeom>
          <a:noFill/>
        </p:spPr>
        <p:txBody>
          <a:bodyPr wrap="square" anchor="t" lIns="0" tIns="0" rIns="0" bIns="0"/>
          <a:lstStyle/>
          <a:p>
            <a:pPr algn="l">
              <a:spcAft>
                <a:spcPts val="900"/>
              </a:spcAft>
            </a:pPr>
            <a:r>
              <a:rPr sz="1400" b="1" i="0">
                <a:solidFill>
                  <a:srgbClr val="1A2332"/>
                </a:solidFill>
                <a:latin typeface="Urbanist"/>
              </a:rPr>
              <a:t>Guo, Schlichtkrull and Vlachos (2022). </a:t>
            </a:r>
            <a:r>
              <a:rPr sz="1400" b="0" i="0">
                <a:solidFill>
                  <a:srgbClr val="1A2332"/>
                </a:solidFill>
                <a:latin typeface="Urbanist"/>
              </a:rPr>
              <a:t>A Survey on Automated Fact-Checking. TACL 10:178–206.</a:t>
            </a:r>
          </a:p>
          <a:p>
            <a:pPr algn="l">
              <a:spcAft>
                <a:spcPts val="900"/>
              </a:spcAft>
            </a:pPr>
            <a:r>
              <a:rPr sz="1400" b="1" i="0">
                <a:solidFill>
                  <a:srgbClr val="1A2332"/>
                </a:solidFill>
                <a:latin typeface="Urbanist"/>
              </a:rPr>
              <a:t>Thorne et al. (2018). </a:t>
            </a:r>
            <a:r>
              <a:rPr sz="1400" b="0" i="0">
                <a:solidFill>
                  <a:srgbClr val="1A2332"/>
                </a:solidFill>
                <a:latin typeface="Urbanist"/>
              </a:rPr>
              <a:t>FEVER: A Large-scale Dataset for Fact Extraction and VERification. NAACL 2018.</a:t>
            </a:r>
          </a:p>
          <a:p>
            <a:pPr algn="l">
              <a:spcAft>
                <a:spcPts val="900"/>
              </a:spcAft>
            </a:pPr>
            <a:r>
              <a:rPr sz="1400" b="1" i="0">
                <a:solidFill>
                  <a:srgbClr val="1A2332"/>
                </a:solidFill>
                <a:latin typeface="Urbanist"/>
              </a:rPr>
              <a:t>Schlichtkrull, Guo and Vlachos (2023). </a:t>
            </a:r>
            <a:r>
              <a:rPr sz="1400" b="0" i="0">
                <a:solidFill>
                  <a:srgbClr val="1A2332"/>
                </a:solidFill>
                <a:latin typeface="Urbanist"/>
              </a:rPr>
              <a:t>AVeriTeC: A Dataset for Real-world Claim Verification with Evidence from the Web. NeurIPS 36.</a:t>
            </a:r>
          </a:p>
          <a:p>
            <a:pPr algn="l">
              <a:spcAft>
                <a:spcPts val="900"/>
              </a:spcAft>
            </a:pPr>
            <a:r>
              <a:rPr sz="1400" b="1" i="0">
                <a:solidFill>
                  <a:srgbClr val="1A2332"/>
                </a:solidFill>
                <a:latin typeface="Urbanist"/>
              </a:rPr>
              <a:t>Manakul, Liusie and Gales (2023). </a:t>
            </a:r>
            <a:r>
              <a:rPr sz="1400" b="0" i="0">
                <a:solidFill>
                  <a:srgbClr val="1A2332"/>
                </a:solidFill>
                <a:latin typeface="Urbanist"/>
              </a:rPr>
              <a:t>SelfCheckGPT: Zero-Resource Black-Box Hallucination Detection. EMNLP 2023.</a:t>
            </a:r>
          </a:p>
          <a:p>
            <a:pPr algn="l">
              <a:spcAft>
                <a:spcPts val="900"/>
              </a:spcAft>
            </a:pPr>
            <a:r>
              <a:rPr sz="1400" b="1" i="0">
                <a:solidFill>
                  <a:srgbClr val="1A2332"/>
                </a:solidFill>
                <a:latin typeface="Urbanist"/>
              </a:rPr>
              <a:t>Min et al. (2023). </a:t>
            </a:r>
            <a:r>
              <a:rPr sz="1400" b="0" i="0">
                <a:solidFill>
                  <a:srgbClr val="1A2332"/>
                </a:solidFill>
                <a:latin typeface="Urbanist"/>
              </a:rPr>
              <a:t>FActScore: Fine-grained Atomic Evaluation of Factual Precision in Long Form Text Generation. EMNLP 2023.</a:t>
            </a:r>
          </a:p>
          <a:p>
            <a:pPr algn="l">
              <a:spcAft>
                <a:spcPts val="900"/>
              </a:spcAft>
            </a:pPr>
            <a:r>
              <a:rPr sz="1400" b="1" i="0">
                <a:solidFill>
                  <a:srgbClr val="1A2332"/>
                </a:solidFill>
                <a:latin typeface="Urbanist"/>
              </a:rPr>
              <a:t>Ji et al. (2023). </a:t>
            </a:r>
            <a:r>
              <a:rPr sz="1400" b="0" i="0">
                <a:solidFill>
                  <a:srgbClr val="1A2332"/>
                </a:solidFill>
                <a:latin typeface="Urbanist"/>
              </a:rPr>
              <a:t>Survey of Hallucination in Natural Language Generation. ACM Computing Surveys 55(12).</a:t>
            </a:r>
          </a:p>
          <a:p>
            <a:pPr algn="l">
              <a:spcAft>
                <a:spcPts val="900"/>
              </a:spcAft>
            </a:pPr>
            <a:r>
              <a:rPr sz="1400" b="1" i="0">
                <a:solidFill>
                  <a:srgbClr val="1A2332"/>
                </a:solidFill>
                <a:latin typeface="Urbanist"/>
              </a:rPr>
              <a:t>Lin, Hilton and Evans (2022). </a:t>
            </a:r>
            <a:r>
              <a:rPr sz="1400" b="0" i="0">
                <a:solidFill>
                  <a:srgbClr val="1A2332"/>
                </a:solidFill>
                <a:latin typeface="Urbanist"/>
              </a:rPr>
              <a:t>TruthfulQA: Measuring How Models Mimic Human Falsehoods. ACL 2022.</a:t>
            </a:r>
          </a:p>
          <a:p>
            <a:pPr algn="l">
              <a:spcAft>
                <a:spcPts val="900"/>
              </a:spcAft>
            </a:pPr>
            <a:r>
              <a:rPr sz="1400" b="1" i="0">
                <a:solidFill>
                  <a:srgbClr val="1A2332"/>
                </a:solidFill>
                <a:latin typeface="Urbanist"/>
              </a:rPr>
              <a:t>Zheng et al. (2023). </a:t>
            </a:r>
            <a:r>
              <a:rPr sz="1400" b="0" i="0">
                <a:solidFill>
                  <a:srgbClr val="1A2332"/>
                </a:solidFill>
                <a:latin typeface="Urbanist"/>
              </a:rPr>
              <a:t>Judging LLM-as-a-Judge with MT-Bench and Chatbot Arena. NeurIPS 36.</a:t>
            </a:r>
          </a:p>
          <a:p>
            <a:pPr algn="l">
              <a:spcAft>
                <a:spcPts val="900"/>
              </a:spcAft>
            </a:pPr>
            <a:r>
              <a:rPr sz="1400" b="1" i="0">
                <a:solidFill>
                  <a:srgbClr val="1A2332"/>
                </a:solidFill>
                <a:latin typeface="Urbanist"/>
              </a:rPr>
              <a:t>Ledoit and Wolf (2004). </a:t>
            </a:r>
            <a:r>
              <a:rPr sz="1400" b="0" i="0">
                <a:solidFill>
                  <a:srgbClr val="1A2332"/>
                </a:solidFill>
                <a:latin typeface="Urbanist"/>
              </a:rPr>
              <a:t>A Well-Conditioned Estimator for Large-Dimensional Covariance Matrices. J. Multivariate Analysis 88(2).</a:t>
            </a:r>
          </a:p>
          <a:p>
            <a:pPr algn="l">
              <a:spcAft>
                <a:spcPts val="900"/>
              </a:spcAft>
            </a:pPr>
            <a:r>
              <a:rPr sz="1400" b="1" i="0">
                <a:solidFill>
                  <a:srgbClr val="1A2332"/>
                </a:solidFill>
                <a:latin typeface="Urbanist"/>
              </a:rPr>
              <a:t>Wilson (1927). </a:t>
            </a:r>
            <a:r>
              <a:rPr sz="1400" b="0" i="0">
                <a:solidFill>
                  <a:srgbClr val="1A2332"/>
                </a:solidFill>
                <a:latin typeface="Urbanist"/>
              </a:rPr>
              <a:t>Probable Inference, the Law of Succession, and Statistical Inference. JASA 22(158).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ank you"/>
          <p:cNvSpPr txBox="1"/>
          <p:nvPr/>
        </p:nvSpPr>
        <p:spPr>
          <a:xfrm>
            <a:off x="411480" y="2377440"/>
            <a:ext cx="11338560" cy="822960"/>
          </a:xfrm>
          <a:prstGeom prst="rect">
            <a:avLst/>
          </a:prstGeom>
          <a:noFill/>
        </p:spPr>
        <p:txBody>
          <a:bodyPr wrap="square" anchor="t" lIns="0" tIns="0" rIns="0" bIns="0"/>
          <a:lstStyle/>
          <a:p>
            <a:pPr algn="ctr"/>
            <a:r>
              <a:rPr sz="4000" b="1" i="0">
                <a:solidFill>
                  <a:srgbClr val="D2AE6C"/>
                </a:solidFill>
                <a:latin typeface="Urbanist"/>
              </a:rPr>
              <a:t>Thank you for your attention.</a:t>
            </a:r>
          </a:p>
        </p:txBody>
      </p:sp>
      <p:sp>
        <p:nvSpPr>
          <p:cNvPr id="3" name="Questions"/>
          <p:cNvSpPr txBox="1"/>
          <p:nvPr/>
        </p:nvSpPr>
        <p:spPr>
          <a:xfrm>
            <a:off x="411480" y="3383280"/>
            <a:ext cx="11338560" cy="457200"/>
          </a:xfrm>
          <a:prstGeom prst="rect">
            <a:avLst/>
          </a:prstGeom>
          <a:noFill/>
        </p:spPr>
        <p:txBody>
          <a:bodyPr wrap="square" anchor="t" lIns="0" tIns="0" rIns="0" bIns="0"/>
          <a:lstStyle/>
          <a:p>
            <a:pPr algn="ctr"/>
            <a:r>
              <a:rPr sz="2400" b="1" i="0">
                <a:solidFill>
                  <a:srgbClr val="0C5394"/>
                </a:solidFill>
                <a:latin typeface="Urbanist"/>
              </a:rPr>
              <a:t>Questions?</a:t>
            </a:r>
          </a:p>
        </p:txBody>
      </p:sp>
      <p:sp>
        <p:nvSpPr>
          <p:cNvPr id="4" name="Contacts"/>
          <p:cNvSpPr txBox="1"/>
          <p:nvPr/>
        </p:nvSpPr>
        <p:spPr>
          <a:xfrm>
            <a:off x="411480" y="4114800"/>
            <a:ext cx="11338560" cy="731520"/>
          </a:xfrm>
          <a:prstGeom prst="rect">
            <a:avLst/>
          </a:prstGeom>
          <a:noFill/>
        </p:spPr>
        <p:txBody>
          <a:bodyPr wrap="square" anchor="t" lIns="0" tIns="0" rIns="0" bIns="0"/>
          <a:lstStyle/>
          <a:p>
            <a:pPr algn="ctr"/>
            <a:r>
              <a:rPr sz="1400" b="0" i="0">
                <a:solidFill>
                  <a:srgbClr val="5B6B80"/>
                </a:solidFill>
                <a:latin typeface="Urbanist"/>
              </a:rPr>
              <a:t>piushkole@msds.christuniversity.in   |   thrilok.m@msds.christuniversity.in</a:t>
            </a:r>
          </a:p>
        </p:txBody>
      </p:sp>
      <p:sp>
        <p:nvSpPr>
          <p:cNvPr id="71" name="Google Shape;71;p12"/>
          <p:cNvSpPr txBox="1"/>
          <p:nvPr>
            <p:ph idx="12" type="sldNum"/>
          </p:nvPr>
        </p:nvSpPr>
        <p:spPr>
          <a:xfrm>
            <a:off x="11220400" y="6408364"/>
            <a:ext cx="731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Synthetic Silence 2.0: Research Implementation Review 1</dc:title>
  <cp:lastModifiedBy>python-pptx</cp:lastModifiedBy>
  <cp:revision>1</cp:revision>
  <dcterms:modified xsi:type="dcterms:W3CDTF">2026-10-28T03:37:21Z</dcterms:modified>
  <dc:creator>Piush Kole, Thrilok M</dc:creator>
</cp:coreProperties>
</file>